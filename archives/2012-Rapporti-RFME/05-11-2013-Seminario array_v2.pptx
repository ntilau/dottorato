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44" r:id="rId2"/>
    <p:sldId id="346" r:id="rId3"/>
    <p:sldId id="347" r:id="rId4"/>
    <p:sldId id="350" r:id="rId5"/>
    <p:sldId id="358" r:id="rId6"/>
    <p:sldId id="353" r:id="rId7"/>
    <p:sldId id="368" r:id="rId8"/>
    <p:sldId id="367" r:id="rId9"/>
    <p:sldId id="355" r:id="rId10"/>
    <p:sldId id="357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49" r:id="rId20"/>
    <p:sldId id="351" r:id="rId21"/>
    <p:sldId id="369" r:id="rId22"/>
    <p:sldId id="352" r:id="rId23"/>
  </p:sldIdLst>
  <p:sldSz cx="9906000" cy="6858000" type="A4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DDDDDD"/>
    <a:srgbClr val="EAEAEA"/>
    <a:srgbClr val="000000"/>
    <a:srgbClr val="A50021"/>
    <a:srgbClr val="993300"/>
    <a:srgbClr val="000066"/>
    <a:srgbClr val="0033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81401" autoAdjust="0"/>
  </p:normalViewPr>
  <p:slideViewPr>
    <p:cSldViewPr snapToGrid="0">
      <p:cViewPr varScale="1">
        <p:scale>
          <a:sx n="90" d="100"/>
          <a:sy n="90" d="100"/>
        </p:scale>
        <p:origin x="-2184" y="-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-3221" y="-67"/>
      </p:cViewPr>
      <p:guideLst>
        <p:guide orient="horz" pos="3223"/>
        <p:guide pos="223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2.xml"/><Relationship Id="rId2" Type="http://schemas.openxmlformats.org/officeDocument/2006/relationships/slide" Target="slides/slide7.xml"/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C5A43021-D99F-4B99-9AC7-369762103321}" type="datetimeFigureOut">
              <a:rPr lang="it-IT"/>
              <a:pPr/>
              <a:t>05/11/2012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4EA761F7-5ED3-4C44-BAAB-931ACF0DECEC}" type="slidenum">
              <a:rPr lang="it-IT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2092188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it-IT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it-IT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9463" y="768350"/>
            <a:ext cx="554037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 smtClean="0"/>
              <a:t>Fare clic per modificare gli stili del testo dello schema</a:t>
            </a:r>
          </a:p>
          <a:p>
            <a:pPr lvl="1"/>
            <a:r>
              <a:rPr lang="it-IT" noProof="0" smtClean="0"/>
              <a:t>Secondo livello</a:t>
            </a:r>
          </a:p>
          <a:p>
            <a:pPr lvl="2"/>
            <a:r>
              <a:rPr lang="it-IT" noProof="0" smtClean="0"/>
              <a:t>Terzo livello</a:t>
            </a:r>
          </a:p>
          <a:p>
            <a:pPr lvl="3"/>
            <a:r>
              <a:rPr lang="it-IT" noProof="0" smtClean="0"/>
              <a:t>Quarto livello</a:t>
            </a:r>
          </a:p>
          <a:p>
            <a:pPr lvl="4"/>
            <a:r>
              <a:rPr lang="it-IT" noProof="0" smtClean="0"/>
              <a:t>Quinto livello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it-IT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BBF64CF3-8B8D-4118-99AA-42E8932C8048}" type="slidenum">
              <a:rPr lang="it-IT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="" xmlns:p14="http://schemas.microsoft.com/office/powerpoint/2010/main" val="14849923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Good</a:t>
            </a:r>
            <a:r>
              <a:rPr lang="it-IT" dirty="0" smtClean="0"/>
              <a:t> </a:t>
            </a:r>
            <a:r>
              <a:rPr lang="it-IT" dirty="0" err="1" smtClean="0"/>
              <a:t>afternoon</a:t>
            </a:r>
            <a:r>
              <a:rPr lang="it-IT" dirty="0" smtClean="0"/>
              <a:t>, I’m Monica Righini and I’m a </a:t>
            </a:r>
            <a:r>
              <a:rPr lang="it-IT" dirty="0" err="1" smtClean="0"/>
              <a:t>member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dirty="0" smtClean="0"/>
              <a:t> the </a:t>
            </a:r>
            <a:r>
              <a:rPr lang="it-IT" dirty="0" err="1" smtClean="0"/>
              <a:t>reserch</a:t>
            </a:r>
            <a:r>
              <a:rPr lang="it-IT" dirty="0" smtClean="0"/>
              <a:t> </a:t>
            </a:r>
            <a:r>
              <a:rPr lang="it-IT" dirty="0" err="1" smtClean="0"/>
              <a:t>group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dirty="0" smtClean="0"/>
              <a:t> “RF, </a:t>
            </a:r>
            <a:r>
              <a:rPr lang="it-IT" dirty="0" err="1" smtClean="0"/>
              <a:t>Microwave</a:t>
            </a:r>
            <a:r>
              <a:rPr lang="it-IT" baseline="0" dirty="0" smtClean="0"/>
              <a:t> and </a:t>
            </a:r>
            <a:r>
              <a:rPr lang="it-IT" baseline="0" dirty="0" err="1" smtClean="0"/>
              <a:t>Electromagnetics</a:t>
            </a:r>
            <a:r>
              <a:rPr lang="it-IT" dirty="0" smtClean="0"/>
              <a:t>” and I’m </a:t>
            </a:r>
            <a:r>
              <a:rPr lang="it-IT" dirty="0" err="1" smtClean="0"/>
              <a:t>going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show </a:t>
            </a:r>
            <a:r>
              <a:rPr lang="it-IT" dirty="0" err="1" smtClean="0"/>
              <a:t>you</a:t>
            </a:r>
            <a:r>
              <a:rPr lang="it-IT" dirty="0" smtClean="0"/>
              <a:t>  the </a:t>
            </a:r>
            <a:r>
              <a:rPr lang="it-IT" dirty="0" err="1" smtClean="0"/>
              <a:t>activities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dirty="0" smtClean="0"/>
              <a:t> the </a:t>
            </a:r>
            <a:r>
              <a:rPr lang="it-IT" dirty="0" err="1" smtClean="0"/>
              <a:t>lab</a:t>
            </a:r>
            <a:r>
              <a:rPr lang="it-IT" dirty="0" smtClean="0"/>
              <a:t> in the array </a:t>
            </a:r>
            <a:r>
              <a:rPr lang="it-IT" dirty="0" err="1" smtClean="0"/>
              <a:t>field</a:t>
            </a:r>
            <a:r>
              <a:rPr lang="it-IT" dirty="0" smtClean="0"/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Segnaposto note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it-IT" dirty="0" smtClean="0"/>
              <a:t>I’m </a:t>
            </a:r>
            <a:r>
              <a:rPr lang="it-IT" dirty="0" err="1" smtClean="0"/>
              <a:t>going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start </a:t>
            </a:r>
            <a:r>
              <a:rPr lang="it-IT" dirty="0" err="1" smtClean="0"/>
              <a:t>with</a:t>
            </a:r>
            <a:r>
              <a:rPr lang="it-IT" dirty="0" smtClean="0"/>
              <a:t> the COSMO </a:t>
            </a:r>
            <a:r>
              <a:rPr lang="it-IT" dirty="0" err="1" smtClean="0"/>
              <a:t>Sky-Med</a:t>
            </a:r>
            <a:r>
              <a:rPr lang="it-IT" baseline="0" dirty="0" smtClean="0"/>
              <a:t> project and </a:t>
            </a:r>
            <a:r>
              <a:rPr lang="it-IT" baseline="0" dirty="0" err="1" smtClean="0"/>
              <a:t>than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my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colleauges</a:t>
            </a:r>
            <a:r>
              <a:rPr lang="it-IT" baseline="0" dirty="0" smtClean="0"/>
              <a:t> show </a:t>
            </a:r>
            <a:r>
              <a:rPr lang="it-IT" baseline="0" dirty="0" err="1" smtClean="0"/>
              <a:t>you</a:t>
            </a:r>
            <a:r>
              <a:rPr lang="it-IT" baseline="0" dirty="0" smtClean="0"/>
              <a:t> the array design &amp; </a:t>
            </a:r>
            <a:r>
              <a:rPr lang="it-IT" baseline="0" dirty="0" err="1" smtClean="0"/>
              <a:t>optimization</a:t>
            </a:r>
            <a:r>
              <a:rPr lang="it-IT" baseline="0" dirty="0" smtClean="0"/>
              <a:t> and the fast </a:t>
            </a:r>
            <a:r>
              <a:rPr lang="it-IT" baseline="0" dirty="0" err="1" smtClean="0"/>
              <a:t>phased</a:t>
            </a:r>
            <a:r>
              <a:rPr lang="it-IT" baseline="0" dirty="0" smtClean="0"/>
              <a:t> array </a:t>
            </a:r>
            <a:r>
              <a:rPr lang="it-IT" baseline="0" dirty="0" err="1" smtClean="0"/>
              <a:t>analysis</a:t>
            </a:r>
            <a:r>
              <a:rPr lang="it-IT" baseline="0" dirty="0" smtClean="0"/>
              <a:t>. </a:t>
            </a:r>
            <a:endParaRPr lang="it-IT" dirty="0" smtClean="0"/>
          </a:p>
        </p:txBody>
      </p:sp>
      <p:sp>
        <p:nvSpPr>
          <p:cNvPr id="71684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4AF87-830F-4EC6-AF93-61A169B0E32E}" type="slidenum">
              <a:rPr lang="it-IT" smtClean="0"/>
              <a:pPr/>
              <a:t>2</a:t>
            </a:fld>
            <a:endParaRPr lang="it-IT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The Cosmo Sky </a:t>
            </a:r>
            <a:r>
              <a:rPr lang="it-IT" dirty="0" err="1" smtClean="0"/>
              <a:t>Med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the first </a:t>
            </a:r>
            <a:r>
              <a:rPr lang="it-IT" dirty="0" err="1" smtClean="0"/>
              <a:t>Earth</a:t>
            </a:r>
            <a:r>
              <a:rPr lang="it-IT" baseline="0" dirty="0" smtClean="0"/>
              <a:t> system </a:t>
            </a:r>
            <a:r>
              <a:rPr lang="it-IT" baseline="0" dirty="0" err="1" smtClean="0"/>
              <a:t>observation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designed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both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civil</a:t>
            </a:r>
            <a:r>
              <a:rPr lang="it-IT" baseline="0" dirty="0" smtClean="0"/>
              <a:t> and </a:t>
            </a:r>
            <a:r>
              <a:rPr lang="it-IT" baseline="0" dirty="0" err="1" smtClean="0"/>
              <a:t>military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use</a:t>
            </a:r>
            <a:r>
              <a:rPr lang="it-IT" baseline="0" dirty="0" smtClean="0"/>
              <a:t>. </a:t>
            </a:r>
            <a:r>
              <a:rPr lang="it-IT" baseline="0" dirty="0" err="1" smtClean="0"/>
              <a:t>This</a:t>
            </a:r>
            <a:r>
              <a:rPr lang="it-IT" baseline="0" dirty="0" smtClean="0"/>
              <a:t> system </a:t>
            </a:r>
            <a:r>
              <a:rPr lang="it-IT" baseline="0" dirty="0" err="1" smtClean="0"/>
              <a:t>has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been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devolped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by</a:t>
            </a:r>
            <a:r>
              <a:rPr lang="it-IT" baseline="0" dirty="0" smtClean="0"/>
              <a:t> ASI in </a:t>
            </a:r>
            <a:r>
              <a:rPr lang="it-IT" baseline="0" dirty="0" err="1" smtClean="0"/>
              <a:t>collabortion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with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Italian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Defense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Ministery</a:t>
            </a:r>
            <a:r>
              <a:rPr lang="it-IT" baseline="0" dirty="0" smtClean="0"/>
              <a:t>.</a:t>
            </a:r>
          </a:p>
          <a:p>
            <a:pPr eaLnBrk="1" hangingPunct="1">
              <a:defRPr/>
            </a:pPr>
            <a:r>
              <a:rPr lang="it-IT" dirty="0" err="1" smtClean="0"/>
              <a:t>This</a:t>
            </a:r>
            <a:r>
              <a:rPr lang="it-IT" dirty="0" smtClean="0"/>
              <a:t> system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composed</a:t>
            </a:r>
            <a:r>
              <a:rPr lang="it-IT" dirty="0" smtClean="0"/>
              <a:t> </a:t>
            </a:r>
            <a:r>
              <a:rPr lang="it-IT" dirty="0" err="1" smtClean="0"/>
              <a:t>by</a:t>
            </a:r>
            <a:r>
              <a:rPr lang="it-IT" dirty="0" smtClean="0"/>
              <a:t> </a:t>
            </a:r>
            <a:r>
              <a:rPr lang="it-IT" dirty="0" err="1" smtClean="0"/>
              <a:t>four</a:t>
            </a:r>
            <a:r>
              <a:rPr lang="it-IT" dirty="0" smtClean="0"/>
              <a:t> </a:t>
            </a:r>
            <a:r>
              <a:rPr lang="it-IT" dirty="0" err="1" smtClean="0"/>
              <a:t>satellites</a:t>
            </a:r>
            <a:r>
              <a:rPr lang="it-IT" dirty="0" smtClean="0"/>
              <a:t> </a:t>
            </a:r>
            <a:r>
              <a:rPr lang="it-IT" dirty="0" err="1" smtClean="0"/>
              <a:t>each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them</a:t>
            </a:r>
            <a:r>
              <a:rPr lang="it-IT" baseline="0" dirty="0" smtClean="0"/>
              <a:t> </a:t>
            </a:r>
            <a:r>
              <a:rPr lang="it-IT" baseline="0" dirty="0" err="1" smtClean="0"/>
              <a:t>have</a:t>
            </a:r>
            <a:r>
              <a:rPr lang="it-IT" baseline="0" dirty="0" smtClean="0"/>
              <a:t> a </a:t>
            </a:r>
            <a:r>
              <a:rPr lang="it-IT" baseline="0" dirty="0" err="1" smtClean="0"/>
              <a:t>Syntethic</a:t>
            </a:r>
            <a:r>
              <a:rPr lang="it-IT" baseline="0" dirty="0" smtClean="0"/>
              <a:t> aperture radar </a:t>
            </a:r>
            <a:r>
              <a:rPr lang="it-IT" baseline="0" dirty="0" err="1" smtClean="0"/>
              <a:t>operating</a:t>
            </a:r>
            <a:r>
              <a:rPr lang="it-IT" baseline="0" dirty="0" smtClean="0"/>
              <a:t> in </a:t>
            </a:r>
            <a:r>
              <a:rPr lang="it-IT" baseline="0" dirty="0" err="1" smtClean="0"/>
              <a:t>X-band</a:t>
            </a:r>
            <a:r>
              <a:rPr lang="it-IT" baseline="0" dirty="0" smtClean="0"/>
              <a:t>.</a:t>
            </a:r>
            <a:r>
              <a:rPr lang="it-IT" dirty="0" smtClean="0"/>
              <a:t> </a:t>
            </a:r>
          </a:p>
          <a:p>
            <a:pPr eaLnBrk="1" hangingPunct="1">
              <a:defRPr/>
            </a:pPr>
            <a:r>
              <a:rPr lang="it-IT" dirty="0" err="1" smtClean="0"/>
              <a:t>Currently</a:t>
            </a:r>
            <a:r>
              <a:rPr lang="it-IT" dirty="0" smtClean="0"/>
              <a:t> the first system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already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operating</a:t>
            </a:r>
            <a:r>
              <a:rPr lang="it-IT" baseline="0" dirty="0" smtClean="0"/>
              <a:t>, in </a:t>
            </a:r>
            <a:r>
              <a:rPr lang="it-IT" baseline="0" dirty="0" err="1" smtClean="0"/>
              <a:t>order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to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improve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bandwidth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system and the </a:t>
            </a:r>
            <a:r>
              <a:rPr lang="it-IT" baseline="0" dirty="0" err="1" smtClean="0"/>
              <a:t>efficiency</a:t>
            </a:r>
            <a:r>
              <a:rPr lang="it-IT" dirty="0" smtClean="0"/>
              <a:t> ASI </a:t>
            </a:r>
            <a:r>
              <a:rPr lang="it-IT" dirty="0" err="1" smtClean="0"/>
              <a:t>has</a:t>
            </a:r>
            <a:r>
              <a:rPr lang="it-IT" dirty="0" smtClean="0"/>
              <a:t> </a:t>
            </a:r>
            <a:r>
              <a:rPr lang="it-IT" dirty="0" err="1" smtClean="0"/>
              <a:t>already</a:t>
            </a:r>
            <a:r>
              <a:rPr lang="it-IT" dirty="0" smtClean="0"/>
              <a:t> </a:t>
            </a:r>
            <a:r>
              <a:rPr lang="it-IT" dirty="0" err="1" smtClean="0"/>
              <a:t>started</a:t>
            </a:r>
            <a:r>
              <a:rPr lang="it-IT" dirty="0" smtClean="0"/>
              <a:t> the </a:t>
            </a:r>
            <a:r>
              <a:rPr lang="it-IT" dirty="0" err="1" smtClean="0"/>
              <a:t>development</a:t>
            </a:r>
            <a:r>
              <a:rPr lang="it-IT" baseline="0" dirty="0" smtClean="0"/>
              <a:t> 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second</a:t>
            </a:r>
            <a:r>
              <a:rPr lang="it-IT" baseline="0" dirty="0" smtClean="0"/>
              <a:t> generation system </a:t>
            </a:r>
            <a:r>
              <a:rPr lang="it-IT" baseline="0" dirty="0" err="1" smtClean="0"/>
              <a:t>by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commissioning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radiating</a:t>
            </a:r>
            <a:r>
              <a:rPr lang="it-IT" baseline="0" dirty="0" smtClean="0"/>
              <a:t> system project </a:t>
            </a:r>
            <a:r>
              <a:rPr lang="it-IT" baseline="0" dirty="0" err="1" smtClean="0"/>
              <a:t>to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Thales</a:t>
            </a:r>
            <a:r>
              <a:rPr lang="it-IT" baseline="0" dirty="0" smtClean="0"/>
              <a:t> Alenia </a:t>
            </a:r>
            <a:r>
              <a:rPr lang="it-IT" baseline="0" dirty="0" err="1" smtClean="0"/>
              <a:t>Space</a:t>
            </a:r>
            <a:r>
              <a:rPr lang="it-IT" baseline="0" dirty="0" smtClean="0"/>
              <a:t> company.</a:t>
            </a:r>
            <a:r>
              <a:rPr lang="it-IT" dirty="0" smtClean="0"/>
              <a:t>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3</a:t>
            </a:fld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The </a:t>
            </a:r>
            <a:r>
              <a:rPr lang="it-IT" dirty="0" err="1" smtClean="0"/>
              <a:t>architecture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dirty="0" smtClean="0"/>
              <a:t> </a:t>
            </a:r>
            <a:r>
              <a:rPr lang="it-IT" dirty="0" err="1" smtClean="0"/>
              <a:t>radiating</a:t>
            </a:r>
            <a:r>
              <a:rPr lang="it-IT" dirty="0" smtClean="0"/>
              <a:t> system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quite</a:t>
            </a:r>
            <a:r>
              <a:rPr lang="it-IT" dirty="0" smtClean="0"/>
              <a:t> </a:t>
            </a:r>
            <a:r>
              <a:rPr lang="it-IT" dirty="0" err="1" smtClean="0"/>
              <a:t>similar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the first generation system and </a:t>
            </a:r>
            <a:r>
              <a:rPr lang="it-IT" dirty="0" err="1" smtClean="0"/>
              <a:t>it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composed</a:t>
            </a:r>
            <a:r>
              <a:rPr lang="it-IT" dirty="0" smtClean="0"/>
              <a:t> </a:t>
            </a:r>
            <a:r>
              <a:rPr lang="it-IT" dirty="0" err="1" smtClean="0"/>
              <a:t>by</a:t>
            </a:r>
            <a:r>
              <a:rPr lang="it-IT" dirty="0" smtClean="0"/>
              <a:t> </a:t>
            </a:r>
            <a:r>
              <a:rPr lang="it-IT" dirty="0" err="1" smtClean="0"/>
              <a:t>several</a:t>
            </a:r>
            <a:r>
              <a:rPr lang="it-IT" dirty="0" smtClean="0"/>
              <a:t> </a:t>
            </a:r>
            <a:r>
              <a:rPr lang="it-IT" dirty="0" err="1" smtClean="0"/>
              <a:t>radiating</a:t>
            </a:r>
            <a:r>
              <a:rPr lang="it-IT" dirty="0" smtClean="0"/>
              <a:t> </a:t>
            </a:r>
            <a:r>
              <a:rPr lang="it-IT" dirty="0" err="1" smtClean="0"/>
              <a:t>boards</a:t>
            </a:r>
            <a:r>
              <a:rPr lang="it-IT" dirty="0" smtClean="0"/>
              <a:t>, </a:t>
            </a:r>
            <a:r>
              <a:rPr lang="it-IT" dirty="0" err="1" smtClean="0"/>
              <a:t>which</a:t>
            </a:r>
            <a:r>
              <a:rPr lang="it-IT" dirty="0" smtClean="0"/>
              <a:t> work at the </a:t>
            </a:r>
            <a:r>
              <a:rPr lang="it-IT" dirty="0" err="1" smtClean="0"/>
              <a:t>central</a:t>
            </a:r>
            <a:r>
              <a:rPr lang="it-IT" dirty="0" smtClean="0"/>
              <a:t> </a:t>
            </a:r>
            <a:r>
              <a:rPr lang="it-IT" dirty="0" err="1" smtClean="0"/>
              <a:t>frequency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dirty="0" smtClean="0"/>
              <a:t> 9.6 </a:t>
            </a:r>
            <a:r>
              <a:rPr lang="it-IT" dirty="0" err="1" smtClean="0"/>
              <a:t>GHz</a:t>
            </a:r>
            <a:r>
              <a:rPr lang="it-IT" dirty="0" smtClean="0"/>
              <a:t> </a:t>
            </a:r>
            <a:r>
              <a:rPr lang="it-IT" dirty="0" err="1" smtClean="0"/>
              <a:t>over</a:t>
            </a:r>
            <a:r>
              <a:rPr lang="it-IT" dirty="0" smtClean="0"/>
              <a:t> a </a:t>
            </a:r>
            <a:r>
              <a:rPr lang="it-IT" dirty="0" err="1" smtClean="0"/>
              <a:t>bandwidth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dirty="0" smtClean="0"/>
              <a:t> 16%. </a:t>
            </a:r>
            <a:r>
              <a:rPr lang="it-IT" dirty="0" err="1" smtClean="0"/>
              <a:t>Each</a:t>
            </a:r>
            <a:r>
              <a:rPr lang="it-IT" dirty="0" smtClean="0"/>
              <a:t> </a:t>
            </a:r>
            <a:r>
              <a:rPr lang="it-IT" dirty="0" err="1" smtClean="0"/>
              <a:t>radiating</a:t>
            </a:r>
            <a:r>
              <a:rPr lang="it-IT" dirty="0" smtClean="0"/>
              <a:t> </a:t>
            </a:r>
            <a:r>
              <a:rPr lang="it-IT" dirty="0" err="1" smtClean="0"/>
              <a:t>board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composed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by</a:t>
            </a:r>
            <a:r>
              <a:rPr lang="it-IT" baseline="0" dirty="0" smtClean="0"/>
              <a:t> 8 </a:t>
            </a:r>
            <a:r>
              <a:rPr lang="it-IT" baseline="0" dirty="0" err="1" smtClean="0"/>
              <a:t>sub-array</a:t>
            </a:r>
            <a:r>
              <a:rPr lang="it-IT" baseline="0" dirty="0" smtClean="0"/>
              <a:t> and </a:t>
            </a:r>
            <a:r>
              <a:rPr lang="it-IT" baseline="0" dirty="0" err="1" smtClean="0"/>
              <a:t>each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sub-array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composed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six</a:t>
            </a:r>
            <a:r>
              <a:rPr lang="it-IT" baseline="0" dirty="0" smtClean="0"/>
              <a:t> </a:t>
            </a:r>
            <a:r>
              <a:rPr lang="it-IT" baseline="0" dirty="0" err="1" smtClean="0"/>
              <a:t>dual-polarized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elements</a:t>
            </a:r>
            <a:r>
              <a:rPr lang="it-IT" baseline="0" dirty="0" smtClean="0"/>
              <a:t>. As </a:t>
            </a:r>
            <a:r>
              <a:rPr lang="it-IT" baseline="0" dirty="0" err="1" smtClean="0"/>
              <a:t>you</a:t>
            </a:r>
            <a:r>
              <a:rPr lang="it-IT" baseline="0" dirty="0" smtClean="0"/>
              <a:t> can </a:t>
            </a:r>
            <a:r>
              <a:rPr lang="it-IT" baseline="0" dirty="0" err="1" smtClean="0"/>
              <a:t>see</a:t>
            </a:r>
            <a:r>
              <a:rPr lang="it-IT" baseline="0" dirty="0" smtClean="0"/>
              <a:t> in figure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right </a:t>
            </a:r>
            <a:r>
              <a:rPr lang="it-IT" baseline="0" dirty="0" err="1" smtClean="0"/>
              <a:t>each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sub-array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needs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two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Beam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forming</a:t>
            </a:r>
            <a:r>
              <a:rPr lang="it-IT" baseline="0" dirty="0" smtClean="0"/>
              <a:t> network </a:t>
            </a:r>
            <a:r>
              <a:rPr lang="it-IT" baseline="0" dirty="0" err="1" smtClean="0"/>
              <a:t>one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each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polarization</a:t>
            </a:r>
            <a:r>
              <a:rPr lang="it-IT" baseline="0" dirty="0" smtClean="0"/>
              <a:t>. </a:t>
            </a:r>
            <a:r>
              <a:rPr lang="it-IT" baseline="0" dirty="0" err="1" smtClean="0"/>
              <a:t>These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Beam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forming</a:t>
            </a:r>
            <a:r>
              <a:rPr lang="it-IT" baseline="0" dirty="0" smtClean="0"/>
              <a:t> network are the first </a:t>
            </a:r>
            <a:r>
              <a:rPr lang="it-IT" baseline="0" dirty="0" err="1" smtClean="0"/>
              <a:t>level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feeding</a:t>
            </a:r>
            <a:r>
              <a:rPr lang="it-IT" baseline="0" dirty="0" smtClean="0"/>
              <a:t>, the </a:t>
            </a:r>
            <a:r>
              <a:rPr lang="it-IT" baseline="0" dirty="0" err="1" smtClean="0"/>
              <a:t>second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level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feeding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feeds</a:t>
            </a:r>
            <a:r>
              <a:rPr lang="it-IT" baseline="0" dirty="0" smtClean="0"/>
              <a:t> the 8 </a:t>
            </a:r>
            <a:r>
              <a:rPr lang="it-IT" baseline="0" dirty="0" err="1" smtClean="0"/>
              <a:t>sub-array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with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variation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</a:t>
            </a:r>
            <a:r>
              <a:rPr lang="it-IT" baseline="0" dirty="0" err="1" smtClean="0"/>
              <a:t>phase</a:t>
            </a:r>
            <a:r>
              <a:rPr lang="it-IT" baseline="0" dirty="0" smtClean="0"/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4</a:t>
            </a:fld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Here</a:t>
            </a:r>
            <a:r>
              <a:rPr lang="it-IT" dirty="0" smtClean="0"/>
              <a:t> </a:t>
            </a:r>
            <a:r>
              <a:rPr lang="it-IT" dirty="0" err="1" smtClean="0"/>
              <a:t>you</a:t>
            </a:r>
            <a:r>
              <a:rPr lang="it-IT" dirty="0" smtClean="0"/>
              <a:t> can </a:t>
            </a:r>
            <a:r>
              <a:rPr lang="it-IT" dirty="0" err="1" smtClean="0"/>
              <a:t>see</a:t>
            </a:r>
            <a:r>
              <a:rPr lang="it-IT" dirty="0" smtClean="0"/>
              <a:t> the </a:t>
            </a:r>
            <a:r>
              <a:rPr lang="it-IT" dirty="0" err="1" smtClean="0"/>
              <a:t>stratification</a:t>
            </a:r>
            <a:r>
              <a:rPr lang="it-IT" dirty="0" smtClean="0"/>
              <a:t> </a:t>
            </a:r>
            <a:r>
              <a:rPr lang="it-IT" dirty="0" err="1" smtClean="0"/>
              <a:t>of</a:t>
            </a:r>
            <a:r>
              <a:rPr lang="it-IT" dirty="0" smtClean="0"/>
              <a:t> </a:t>
            </a:r>
            <a:r>
              <a:rPr lang="it-IT" dirty="0" err="1" smtClean="0"/>
              <a:t>one</a:t>
            </a:r>
            <a:r>
              <a:rPr lang="it-IT" dirty="0" smtClean="0"/>
              <a:t> </a:t>
            </a:r>
            <a:r>
              <a:rPr lang="it-IT" dirty="0" err="1" smtClean="0"/>
              <a:t>radiating</a:t>
            </a:r>
            <a:r>
              <a:rPr lang="it-IT" dirty="0" smtClean="0"/>
              <a:t> </a:t>
            </a:r>
            <a:r>
              <a:rPr lang="it-IT" dirty="0" err="1" smtClean="0"/>
              <a:t>element</a:t>
            </a:r>
            <a:r>
              <a:rPr lang="it-IT" dirty="0" smtClean="0"/>
              <a:t> </a:t>
            </a:r>
            <a:r>
              <a:rPr lang="it-IT" dirty="0" err="1" smtClean="0"/>
              <a:t>with</a:t>
            </a:r>
            <a:r>
              <a:rPr lang="it-IT" dirty="0" smtClean="0"/>
              <a:t> </a:t>
            </a:r>
            <a:r>
              <a:rPr lang="it-IT" dirty="0" err="1" smtClean="0"/>
              <a:t>its</a:t>
            </a:r>
            <a:r>
              <a:rPr lang="it-IT" dirty="0" smtClean="0"/>
              <a:t> </a:t>
            </a:r>
            <a:r>
              <a:rPr lang="it-IT" dirty="0" err="1" smtClean="0"/>
              <a:t>feeding</a:t>
            </a:r>
            <a:r>
              <a:rPr lang="it-IT" dirty="0" smtClean="0"/>
              <a:t> network </a:t>
            </a:r>
            <a:r>
              <a:rPr lang="it-IT" dirty="0" err="1" smtClean="0"/>
              <a:t>of</a:t>
            </a:r>
            <a:r>
              <a:rPr lang="it-IT" dirty="0" smtClean="0"/>
              <a:t> first </a:t>
            </a:r>
            <a:r>
              <a:rPr lang="it-IT" dirty="0" err="1" smtClean="0"/>
              <a:t>level</a:t>
            </a:r>
            <a:r>
              <a:rPr lang="it-IT" dirty="0" smtClean="0"/>
              <a:t>. As </a:t>
            </a:r>
            <a:r>
              <a:rPr lang="it-IT" dirty="0" err="1" smtClean="0"/>
              <a:t>you</a:t>
            </a:r>
            <a:r>
              <a:rPr lang="it-IT" dirty="0" smtClean="0"/>
              <a:t> can </a:t>
            </a:r>
            <a:r>
              <a:rPr lang="it-IT" dirty="0" err="1" smtClean="0"/>
              <a:t>see</a:t>
            </a:r>
            <a:r>
              <a:rPr lang="it-IT" dirty="0" smtClean="0"/>
              <a:t> the </a:t>
            </a:r>
            <a:r>
              <a:rPr lang="it-IT" dirty="0" err="1" smtClean="0"/>
              <a:t>whole</a:t>
            </a:r>
            <a:r>
              <a:rPr lang="it-IT" dirty="0" smtClean="0"/>
              <a:t> </a:t>
            </a:r>
            <a:r>
              <a:rPr lang="it-IT" dirty="0" err="1" smtClean="0"/>
              <a:t>structure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composed</a:t>
            </a:r>
            <a:r>
              <a:rPr lang="it-IT" dirty="0" smtClean="0"/>
              <a:t> </a:t>
            </a:r>
            <a:r>
              <a:rPr lang="it-IT" dirty="0" err="1" smtClean="0"/>
              <a:t>by</a:t>
            </a:r>
            <a:r>
              <a:rPr lang="it-IT" dirty="0" smtClean="0"/>
              <a:t> 16 </a:t>
            </a:r>
            <a:r>
              <a:rPr lang="it-IT" dirty="0" err="1" smtClean="0"/>
              <a:t>layers</a:t>
            </a:r>
            <a:r>
              <a:rPr lang="it-IT" dirty="0" smtClean="0"/>
              <a:t>. </a:t>
            </a:r>
            <a:r>
              <a:rPr lang="it-IT" dirty="0" err="1" smtClean="0"/>
              <a:t>Now</a:t>
            </a:r>
            <a:r>
              <a:rPr lang="it-IT" dirty="0" smtClean="0"/>
              <a:t> I show </a:t>
            </a:r>
            <a:r>
              <a:rPr lang="it-IT" dirty="0" err="1" smtClean="0"/>
              <a:t>you</a:t>
            </a:r>
            <a:r>
              <a:rPr lang="it-IT" dirty="0" smtClean="0"/>
              <a:t> in </a:t>
            </a:r>
            <a:r>
              <a:rPr lang="it-IT" dirty="0" err="1" smtClean="0"/>
              <a:t>detail</a:t>
            </a:r>
            <a:r>
              <a:rPr lang="it-IT" dirty="0" smtClean="0"/>
              <a:t> </a:t>
            </a:r>
            <a:r>
              <a:rPr lang="it-IT" dirty="0" err="1" smtClean="0"/>
              <a:t>both</a:t>
            </a:r>
            <a:r>
              <a:rPr lang="it-IT" dirty="0" smtClean="0"/>
              <a:t> </a:t>
            </a:r>
            <a:r>
              <a:rPr lang="it-IT" dirty="0" err="1" smtClean="0"/>
              <a:t>radiating</a:t>
            </a:r>
            <a:r>
              <a:rPr lang="it-IT" dirty="0" smtClean="0"/>
              <a:t> </a:t>
            </a:r>
            <a:r>
              <a:rPr lang="it-IT" dirty="0" err="1" smtClean="0"/>
              <a:t>element</a:t>
            </a:r>
            <a:r>
              <a:rPr lang="it-IT" baseline="0" dirty="0" smtClean="0"/>
              <a:t> and </a:t>
            </a:r>
            <a:r>
              <a:rPr lang="it-IT" baseline="0" dirty="0" err="1" smtClean="0"/>
              <a:t>beam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forming</a:t>
            </a:r>
            <a:r>
              <a:rPr lang="it-IT" baseline="0" dirty="0" smtClean="0"/>
              <a:t> network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first </a:t>
            </a:r>
            <a:r>
              <a:rPr lang="it-IT" baseline="0" dirty="0" err="1" smtClean="0"/>
              <a:t>level</a:t>
            </a:r>
            <a:r>
              <a:rPr lang="it-IT" baseline="0" dirty="0" smtClean="0"/>
              <a:t>.</a:t>
            </a:r>
            <a:r>
              <a:rPr lang="it-IT" dirty="0" smtClean="0"/>
              <a:t> 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5</a:t>
            </a:fld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The </a:t>
            </a:r>
            <a:r>
              <a:rPr lang="it-IT" sz="1200" kern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radiating</a:t>
            </a: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element</a:t>
            </a: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 </a:t>
            </a:r>
            <a:r>
              <a:rPr lang="it-IT" sz="1200" kern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dual-polarization</a:t>
            </a: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multilayer</a:t>
            </a: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patch antenna </a:t>
            </a:r>
            <a:r>
              <a:rPr lang="it-IT" sz="1200" kern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composed</a:t>
            </a: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by</a:t>
            </a: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5 </a:t>
            </a:r>
            <a:r>
              <a:rPr lang="it-IT" sz="1200" kern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layers</a:t>
            </a: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The first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three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layers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represent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radiating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part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element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The 4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patchs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third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layer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are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by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4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slots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situated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in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forth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layer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The 4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patchs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are in a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cavity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which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formed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by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several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via-holes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These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via-holes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go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through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whole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structure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and isolate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each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single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element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At the first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layer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there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anular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slot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which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exit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point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radiation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6</a:t>
            </a:fld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4th and 5th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layers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contain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feeding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network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single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element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endParaRPr lang="it-IT" sz="1200" kern="0" dirty="0" smtClean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feeding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network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composed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by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4 offset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strip-lines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in a cross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configuration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(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two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for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each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polarization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that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end on 4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stubs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avoid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electrical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contact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between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two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lines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 on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each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was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added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 bridge in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coplanar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waveguide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For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horizontal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polarization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bridge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on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ground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plane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at the 4th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layer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while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for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vertical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polarization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bridge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on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ground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plane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at the 5th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layer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choice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has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two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positive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aspects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: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allows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maximise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isolation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between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two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lines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and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minimise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number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layers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improve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isolation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4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cubes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has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been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installed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that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protect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each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single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line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feeding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network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connected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beam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forming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network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first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level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by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two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via-hole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check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performance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radiating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element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has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been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decided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feed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with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two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coaxial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connectors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at 50 Ohm.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Let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me show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you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results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simulation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endParaRPr lang="it-IT" sz="1200" kern="0" dirty="0" smtClean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7</a:t>
            </a:fld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Here</a:t>
            </a:r>
            <a:r>
              <a:rPr lang="it-IT" dirty="0" smtClean="0"/>
              <a:t> </a:t>
            </a:r>
            <a:r>
              <a:rPr lang="it-IT" dirty="0" err="1" smtClean="0"/>
              <a:t>you</a:t>
            </a:r>
            <a:r>
              <a:rPr lang="it-IT" dirty="0" smtClean="0"/>
              <a:t> can </a:t>
            </a:r>
            <a:r>
              <a:rPr lang="it-IT" dirty="0" err="1" smtClean="0"/>
              <a:t>see</a:t>
            </a:r>
            <a:r>
              <a:rPr lang="it-IT" dirty="0" smtClean="0"/>
              <a:t> the </a:t>
            </a:r>
            <a:r>
              <a:rPr lang="it-IT" dirty="0" err="1" smtClean="0"/>
              <a:t>return</a:t>
            </a:r>
            <a:r>
              <a:rPr lang="it-IT" dirty="0" smtClean="0"/>
              <a:t> loss and the </a:t>
            </a:r>
            <a:r>
              <a:rPr lang="it-IT" dirty="0" err="1" smtClean="0"/>
              <a:t>isolation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between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two</a:t>
            </a:r>
            <a:r>
              <a:rPr lang="it-IT" baseline="0" dirty="0" smtClean="0"/>
              <a:t> </a:t>
            </a:r>
            <a:r>
              <a:rPr lang="it-IT" baseline="0" dirty="0" err="1" smtClean="0"/>
              <a:t>ports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over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whole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bandwidth</a:t>
            </a:r>
            <a:r>
              <a:rPr lang="it-IT" baseline="0" dirty="0" smtClean="0"/>
              <a:t>. As </a:t>
            </a:r>
            <a:r>
              <a:rPr lang="it-IT" baseline="0" dirty="0" err="1" smtClean="0"/>
              <a:t>you</a:t>
            </a:r>
            <a:r>
              <a:rPr lang="it-IT" baseline="0" dirty="0" smtClean="0"/>
              <a:t> can </a:t>
            </a:r>
            <a:r>
              <a:rPr lang="it-IT" baseline="0" dirty="0" err="1" smtClean="0"/>
              <a:t>see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return</a:t>
            </a:r>
            <a:r>
              <a:rPr lang="it-IT" baseline="0" dirty="0" smtClean="0"/>
              <a:t> loss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better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than</a:t>
            </a:r>
            <a:r>
              <a:rPr lang="it-IT" baseline="0" dirty="0" smtClean="0"/>
              <a:t> 14 </a:t>
            </a:r>
            <a:r>
              <a:rPr lang="it-IT" baseline="0" dirty="0" err="1" smtClean="0"/>
              <a:t>dB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over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whole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bandwidth</a:t>
            </a:r>
            <a:r>
              <a:rPr lang="it-IT" baseline="0" dirty="0" smtClean="0"/>
              <a:t> and the </a:t>
            </a:r>
            <a:r>
              <a:rPr lang="it-IT" baseline="0" dirty="0" err="1" smtClean="0"/>
              <a:t>isolation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better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than</a:t>
            </a:r>
            <a:r>
              <a:rPr lang="it-IT" baseline="0" dirty="0" smtClean="0"/>
              <a:t> 30 </a:t>
            </a:r>
            <a:r>
              <a:rPr lang="it-IT" baseline="0" dirty="0" err="1" smtClean="0"/>
              <a:t>dB</a:t>
            </a:r>
            <a:r>
              <a:rPr lang="it-IT" baseline="0" dirty="0" smtClean="0"/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8</a:t>
            </a:fld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Here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there</a:t>
            </a:r>
            <a:r>
              <a:rPr lang="it-IT" baseline="0" dirty="0" smtClean="0"/>
              <a:t> are a </a:t>
            </a:r>
            <a:r>
              <a:rPr lang="it-IT" baseline="0" dirty="0" err="1" smtClean="0"/>
              <a:t>co-polar</a:t>
            </a:r>
            <a:r>
              <a:rPr lang="it-IT" baseline="0" dirty="0" smtClean="0"/>
              <a:t> and </a:t>
            </a:r>
            <a:r>
              <a:rPr lang="it-IT" baseline="0" dirty="0" err="1" smtClean="0"/>
              <a:t>cross-polar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components</a:t>
            </a:r>
            <a:r>
              <a:rPr lang="it-IT" baseline="0" dirty="0" smtClean="0"/>
              <a:t> at the </a:t>
            </a:r>
            <a:r>
              <a:rPr lang="it-IT" baseline="0" dirty="0" err="1" smtClean="0"/>
              <a:t>central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frequency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9.6 </a:t>
            </a:r>
            <a:r>
              <a:rPr lang="it-IT" baseline="0" dirty="0" err="1" smtClean="0"/>
              <a:t>GHz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both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ports</a:t>
            </a:r>
            <a:r>
              <a:rPr lang="it-IT" baseline="0" dirty="0" smtClean="0"/>
              <a:t> and </a:t>
            </a:r>
            <a:r>
              <a:rPr lang="it-IT" baseline="0" dirty="0" err="1" smtClean="0"/>
              <a:t>for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three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angles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phi 0, 45 and 90 </a:t>
            </a:r>
            <a:r>
              <a:rPr lang="it-IT" baseline="0" dirty="0" err="1" smtClean="0"/>
              <a:t>degree</a:t>
            </a:r>
            <a:r>
              <a:rPr lang="it-IT" baseline="0" dirty="0" smtClean="0"/>
              <a:t>. As </a:t>
            </a:r>
            <a:r>
              <a:rPr lang="it-IT" baseline="0" dirty="0" err="1" smtClean="0"/>
              <a:t>you</a:t>
            </a:r>
            <a:r>
              <a:rPr lang="it-IT" baseline="0" dirty="0" smtClean="0"/>
              <a:t> can </a:t>
            </a:r>
            <a:r>
              <a:rPr lang="it-IT" baseline="0" dirty="0" err="1" smtClean="0"/>
              <a:t>see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maximum</a:t>
            </a:r>
            <a:r>
              <a:rPr lang="it-IT" baseline="0" dirty="0" smtClean="0"/>
              <a:t> </a:t>
            </a:r>
            <a:r>
              <a:rPr lang="it-IT" baseline="0" dirty="0" err="1" smtClean="0"/>
              <a:t>directivity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about</a:t>
            </a:r>
            <a:r>
              <a:rPr lang="it-IT" baseline="0" dirty="0" smtClean="0"/>
              <a:t> 7.8 </a:t>
            </a:r>
            <a:r>
              <a:rPr lang="it-IT" baseline="0" dirty="0" err="1" smtClean="0"/>
              <a:t>dBi</a:t>
            </a:r>
            <a:r>
              <a:rPr lang="it-IT" baseline="0" dirty="0" smtClean="0"/>
              <a:t> and the </a:t>
            </a:r>
            <a:r>
              <a:rPr lang="it-IT" baseline="0" dirty="0" err="1" smtClean="0"/>
              <a:t>cross-polar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component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better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than</a:t>
            </a:r>
            <a:r>
              <a:rPr lang="it-IT" baseline="0" dirty="0" smtClean="0"/>
              <a:t> -23 </a:t>
            </a:r>
            <a:r>
              <a:rPr lang="it-IT" baseline="0" dirty="0" err="1" smtClean="0"/>
              <a:t>dB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over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an</a:t>
            </a:r>
            <a:r>
              <a:rPr lang="it-IT" baseline="0" dirty="0" smtClean="0"/>
              <a:t> angle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30 </a:t>
            </a:r>
            <a:r>
              <a:rPr lang="it-IT" baseline="0" dirty="0" err="1" smtClean="0"/>
              <a:t>degree</a:t>
            </a:r>
            <a:r>
              <a:rPr lang="it-IT" baseline="0" dirty="0" smtClean="0"/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9</a:t>
            </a:fld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As </a:t>
            </a:r>
            <a:r>
              <a:rPr lang="it-IT" dirty="0" err="1" smtClean="0"/>
              <a:t>already</a:t>
            </a:r>
            <a:r>
              <a:rPr lang="it-IT" dirty="0" smtClean="0"/>
              <a:t> </a:t>
            </a:r>
            <a:r>
              <a:rPr lang="it-IT" dirty="0" err="1" smtClean="0"/>
              <a:t>said</a:t>
            </a:r>
            <a:r>
              <a:rPr lang="it-IT" dirty="0" smtClean="0"/>
              <a:t> 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radiating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board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formed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by</a:t>
            </a:r>
            <a:r>
              <a:rPr lang="it-IT" baseline="0" dirty="0" smtClean="0"/>
              <a:t> 8 </a:t>
            </a:r>
            <a:r>
              <a:rPr lang="it-IT" baseline="0" dirty="0" err="1" smtClean="0"/>
              <a:t>sub-array</a:t>
            </a:r>
            <a:r>
              <a:rPr lang="it-IT" baseline="0" dirty="0" smtClean="0"/>
              <a:t>, </a:t>
            </a:r>
            <a:r>
              <a:rPr lang="it-IT" baseline="0" dirty="0" err="1" smtClean="0"/>
              <a:t>each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them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composed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by</a:t>
            </a:r>
            <a:r>
              <a:rPr lang="it-IT" baseline="0" dirty="0" smtClean="0"/>
              <a:t> 6 </a:t>
            </a:r>
            <a:r>
              <a:rPr lang="it-IT" baseline="0" dirty="0" err="1" smtClean="0"/>
              <a:t>radiating</a:t>
            </a:r>
            <a:r>
              <a:rPr lang="it-IT" baseline="0" dirty="0" smtClean="0"/>
              <a:t> </a:t>
            </a:r>
            <a:r>
              <a:rPr lang="it-IT" baseline="0" dirty="0" err="1" smtClean="0"/>
              <a:t>elements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like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that</a:t>
            </a:r>
            <a:r>
              <a:rPr lang="it-IT" baseline="0" dirty="0" smtClean="0"/>
              <a:t> </a:t>
            </a:r>
            <a:r>
              <a:rPr lang="it-IT" baseline="0" dirty="0" err="1" smtClean="0"/>
              <a:t>described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above</a:t>
            </a:r>
            <a:r>
              <a:rPr lang="it-IT" baseline="0" dirty="0" smtClean="0"/>
              <a:t>. </a:t>
            </a:r>
            <a:r>
              <a:rPr lang="it-IT" baseline="0" dirty="0" err="1" smtClean="0"/>
              <a:t>Each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sub-array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fed</a:t>
            </a:r>
            <a:r>
              <a:rPr lang="it-IT" baseline="0" dirty="0" smtClean="0"/>
              <a:t> (</a:t>
            </a:r>
            <a:r>
              <a:rPr lang="it-IT" baseline="0" dirty="0" err="1" smtClean="0"/>
              <a:t>feeded</a:t>
            </a:r>
            <a:r>
              <a:rPr lang="it-IT" baseline="0" dirty="0" smtClean="0"/>
              <a:t>) </a:t>
            </a:r>
            <a:r>
              <a:rPr lang="it-IT" baseline="0" dirty="0" err="1" smtClean="0"/>
              <a:t>by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two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beam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forming</a:t>
            </a:r>
            <a:r>
              <a:rPr lang="it-IT" baseline="0" dirty="0" smtClean="0"/>
              <a:t> network (</a:t>
            </a:r>
            <a:r>
              <a:rPr lang="it-IT" baseline="0" dirty="0" err="1" smtClean="0"/>
              <a:t>one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each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polarization</a:t>
            </a:r>
            <a:r>
              <a:rPr lang="it-IT" baseline="0" dirty="0" smtClean="0"/>
              <a:t>) </a:t>
            </a:r>
            <a:r>
              <a:rPr lang="it-IT" baseline="0" dirty="0" err="1" smtClean="0"/>
              <a:t>placed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one</a:t>
            </a:r>
            <a:r>
              <a:rPr lang="it-IT" baseline="0" dirty="0" smtClean="0"/>
              <a:t> on the </a:t>
            </a:r>
            <a:r>
              <a:rPr lang="it-IT" baseline="0" dirty="0" err="1" smtClean="0"/>
              <a:t>other</a:t>
            </a:r>
            <a:r>
              <a:rPr lang="it-IT" baseline="0" dirty="0" smtClean="0"/>
              <a:t> and </a:t>
            </a:r>
            <a:r>
              <a:rPr lang="it-IT" baseline="0" dirty="0" err="1" smtClean="0"/>
              <a:t>traslated</a:t>
            </a:r>
            <a:r>
              <a:rPr lang="it-IT" baseline="0" dirty="0" smtClean="0"/>
              <a:t>. </a:t>
            </a:r>
            <a:r>
              <a:rPr lang="it-IT" baseline="0" dirty="0" err="1" smtClean="0"/>
              <a:t>To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connect</a:t>
            </a:r>
            <a:r>
              <a:rPr lang="it-IT" baseline="0" dirty="0" smtClean="0"/>
              <a:t> the output </a:t>
            </a:r>
            <a:r>
              <a:rPr lang="it-IT" baseline="0" dirty="0" err="1" smtClean="0"/>
              <a:t>ports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to</a:t>
            </a:r>
            <a:r>
              <a:rPr lang="it-IT" baseline="0" dirty="0" smtClean="0"/>
              <a:t> the input </a:t>
            </a:r>
            <a:r>
              <a:rPr lang="it-IT" baseline="0" dirty="0" err="1" smtClean="0"/>
              <a:t>ports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</a:t>
            </a:r>
            <a:r>
              <a:rPr lang="it-IT" baseline="0" dirty="0" err="1" smtClean="0"/>
              <a:t>radiating</a:t>
            </a:r>
            <a:r>
              <a:rPr lang="it-IT" baseline="0" dirty="0" smtClean="0"/>
              <a:t> </a:t>
            </a:r>
            <a:r>
              <a:rPr lang="it-IT" baseline="0" dirty="0" err="1" smtClean="0"/>
              <a:t>elements</a:t>
            </a:r>
            <a:r>
              <a:rPr lang="it-IT" baseline="0" dirty="0" smtClean="0"/>
              <a:t> 12 </a:t>
            </a:r>
            <a:r>
              <a:rPr lang="it-IT" baseline="0" dirty="0" err="1" smtClean="0"/>
              <a:t>via-holes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have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been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used</a:t>
            </a:r>
            <a:r>
              <a:rPr lang="it-IT" baseline="0" dirty="0" smtClean="0"/>
              <a:t> (6 </a:t>
            </a:r>
            <a:r>
              <a:rPr lang="it-IT" baseline="0" dirty="0" err="1" smtClean="0"/>
              <a:t>via-holes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vertical</a:t>
            </a:r>
            <a:r>
              <a:rPr lang="it-IT" baseline="0" dirty="0" smtClean="0"/>
              <a:t> BFN cross the </a:t>
            </a:r>
            <a:r>
              <a:rPr lang="it-IT" baseline="0" dirty="0" err="1" smtClean="0"/>
              <a:t>horizontal</a:t>
            </a:r>
            <a:r>
              <a:rPr lang="it-IT" baseline="0" dirty="0" smtClean="0"/>
              <a:t> BFN and the </a:t>
            </a:r>
            <a:r>
              <a:rPr lang="it-IT" baseline="0" dirty="0" err="1" smtClean="0"/>
              <a:t>remaining</a:t>
            </a:r>
            <a:r>
              <a:rPr lang="it-IT" baseline="0" dirty="0" smtClean="0"/>
              <a:t> 6 </a:t>
            </a:r>
            <a:r>
              <a:rPr lang="it-IT" baseline="0" dirty="0" err="1" smtClean="0"/>
              <a:t>via-holes</a:t>
            </a:r>
            <a:r>
              <a:rPr lang="it-IT" baseline="0" dirty="0" smtClean="0"/>
              <a:t> are </a:t>
            </a:r>
            <a:r>
              <a:rPr lang="it-IT" baseline="0" dirty="0" err="1" smtClean="0"/>
              <a:t>integrated</a:t>
            </a:r>
            <a:r>
              <a:rPr lang="it-IT" baseline="0" dirty="0" smtClean="0"/>
              <a:t> in the </a:t>
            </a:r>
            <a:r>
              <a:rPr lang="it-IT" baseline="0" dirty="0" err="1" smtClean="0"/>
              <a:t>horizontal</a:t>
            </a:r>
            <a:r>
              <a:rPr lang="it-IT" baseline="0" dirty="0" smtClean="0"/>
              <a:t> BFN).</a:t>
            </a:r>
          </a:p>
          <a:p>
            <a:r>
              <a:rPr lang="it-IT" baseline="0" dirty="0" smtClean="0"/>
              <a:t>In </a:t>
            </a:r>
            <a:r>
              <a:rPr lang="it-IT" baseline="0" dirty="0" err="1" smtClean="0"/>
              <a:t>figures</a:t>
            </a:r>
            <a:r>
              <a:rPr lang="it-IT" baseline="0" dirty="0" smtClean="0"/>
              <a:t> at the right </a:t>
            </a:r>
            <a:r>
              <a:rPr lang="it-IT" baseline="0" dirty="0" err="1" smtClean="0"/>
              <a:t>you</a:t>
            </a:r>
            <a:r>
              <a:rPr lang="it-IT" baseline="0" dirty="0" smtClean="0"/>
              <a:t> can </a:t>
            </a:r>
            <a:r>
              <a:rPr lang="it-IT" baseline="0" dirty="0" err="1" smtClean="0"/>
              <a:t>see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schematichs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</a:t>
            </a:r>
            <a:r>
              <a:rPr lang="it-IT" baseline="0" dirty="0" err="1" smtClean="0"/>
              <a:t>lines</a:t>
            </a:r>
            <a:r>
              <a:rPr lang="it-IT" baseline="0" dirty="0" smtClean="0"/>
              <a:t>. As </a:t>
            </a:r>
            <a:r>
              <a:rPr lang="it-IT" baseline="0" dirty="0" err="1" smtClean="0"/>
              <a:t>you</a:t>
            </a:r>
            <a:r>
              <a:rPr lang="it-IT" baseline="0" dirty="0" smtClean="0"/>
              <a:t> can </a:t>
            </a:r>
            <a:r>
              <a:rPr lang="it-IT" baseline="0" dirty="0" err="1" smtClean="0"/>
              <a:t>see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these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lines</a:t>
            </a:r>
            <a:r>
              <a:rPr lang="it-IT" baseline="0" dirty="0" smtClean="0"/>
              <a:t> are </a:t>
            </a:r>
            <a:r>
              <a:rPr lang="it-IT" baseline="0" dirty="0" err="1" smtClean="0"/>
              <a:t>very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similar</a:t>
            </a:r>
            <a:r>
              <a:rPr lang="it-IT" baseline="0" dirty="0" smtClean="0"/>
              <a:t>, the </a:t>
            </a:r>
            <a:r>
              <a:rPr lang="it-IT" baseline="0" dirty="0" err="1" smtClean="0"/>
              <a:t>differences</a:t>
            </a:r>
            <a:r>
              <a:rPr lang="it-IT" baseline="0" dirty="0" smtClean="0"/>
              <a:t> are due </a:t>
            </a:r>
            <a:r>
              <a:rPr lang="it-IT" baseline="0" dirty="0" err="1" smtClean="0"/>
              <a:t>to</a:t>
            </a:r>
            <a:r>
              <a:rPr lang="it-IT" baseline="0" dirty="0" smtClean="0"/>
              <a:t> </a:t>
            </a:r>
            <a:r>
              <a:rPr lang="it-IT" baseline="0" dirty="0" err="1" smtClean="0"/>
              <a:t>via-holes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that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connect</a:t>
            </a:r>
            <a:r>
              <a:rPr lang="it-IT" baseline="0" dirty="0" smtClean="0"/>
              <a:t> the first </a:t>
            </a:r>
            <a:r>
              <a:rPr lang="it-IT" baseline="0" dirty="0" err="1" smtClean="0"/>
              <a:t>level</a:t>
            </a:r>
            <a:r>
              <a:rPr lang="it-IT" baseline="0" dirty="0" smtClean="0"/>
              <a:t> BFN </a:t>
            </a:r>
            <a:r>
              <a:rPr lang="it-IT" baseline="0" dirty="0" err="1" smtClean="0"/>
              <a:t>to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second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level</a:t>
            </a:r>
            <a:r>
              <a:rPr lang="it-IT" baseline="0" dirty="0" smtClean="0"/>
              <a:t> BFN and the first </a:t>
            </a:r>
            <a:r>
              <a:rPr lang="it-IT" baseline="0" dirty="0" err="1" smtClean="0"/>
              <a:t>level</a:t>
            </a:r>
            <a:r>
              <a:rPr lang="it-IT" baseline="0" dirty="0" smtClean="0"/>
              <a:t> BFN </a:t>
            </a:r>
            <a:r>
              <a:rPr lang="it-IT" baseline="0" dirty="0" err="1" smtClean="0"/>
              <a:t>to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radiating</a:t>
            </a:r>
            <a:r>
              <a:rPr lang="it-IT" baseline="0" dirty="0" smtClean="0"/>
              <a:t> </a:t>
            </a:r>
            <a:r>
              <a:rPr lang="it-IT" baseline="0" dirty="0" err="1" smtClean="0"/>
              <a:t>element</a:t>
            </a:r>
            <a:r>
              <a:rPr lang="it-IT" baseline="0" dirty="0" smtClean="0"/>
              <a:t>. </a:t>
            </a:r>
            <a:r>
              <a:rPr lang="it-IT" baseline="0" dirty="0" err="1" smtClean="0"/>
              <a:t>These</a:t>
            </a:r>
            <a:r>
              <a:rPr lang="it-IT" baseline="0" dirty="0" smtClean="0"/>
              <a:t> are minimal </a:t>
            </a:r>
            <a:r>
              <a:rPr lang="it-IT" baseline="0" dirty="0" err="1" smtClean="0"/>
              <a:t>differences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that</a:t>
            </a:r>
            <a:r>
              <a:rPr lang="it-IT" baseline="0" dirty="0" smtClean="0"/>
              <a:t> </a:t>
            </a:r>
            <a:r>
              <a:rPr lang="it-IT" baseline="0" dirty="0" err="1" smtClean="0"/>
              <a:t>have</a:t>
            </a:r>
            <a:r>
              <a:rPr lang="it-IT" baseline="0" dirty="0" smtClean="0"/>
              <a:t> no </a:t>
            </a:r>
            <a:r>
              <a:rPr lang="it-IT" baseline="0" dirty="0" err="1" smtClean="0"/>
              <a:t>influence</a:t>
            </a:r>
            <a:r>
              <a:rPr lang="it-IT" baseline="0" dirty="0" smtClean="0"/>
              <a:t> on the BFN performance and </a:t>
            </a:r>
            <a:r>
              <a:rPr lang="it-IT" baseline="0" dirty="0" err="1" smtClean="0"/>
              <a:t>for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reason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one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simulation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has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been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sufficient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validity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of</a:t>
            </a:r>
            <a:r>
              <a:rPr lang="it-IT" baseline="0" dirty="0" smtClean="0"/>
              <a:t> </a:t>
            </a:r>
            <a:r>
              <a:rPr lang="it-IT" baseline="0" dirty="0" err="1" smtClean="0"/>
              <a:t>results</a:t>
            </a:r>
            <a:r>
              <a:rPr lang="it-IT" baseline="0" dirty="0" smtClean="0"/>
              <a:t>.  </a:t>
            </a:r>
          </a:p>
          <a:p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check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performance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radiating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element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has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been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decided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feed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with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two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coaxial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connectors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at 50 Ohm.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Let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me show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you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the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results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this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it-IT" sz="1200" kern="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simulation</a:t>
            </a:r>
            <a:r>
              <a:rPr lang="it-IT" sz="1200" kern="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10</a:t>
            </a:fld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dirty="0" err="1" smtClean="0"/>
              <a:t>Here</a:t>
            </a:r>
            <a:r>
              <a:rPr lang="it-IT" dirty="0" smtClean="0"/>
              <a:t> </a:t>
            </a:r>
            <a:r>
              <a:rPr lang="it-IT" dirty="0" err="1" smtClean="0"/>
              <a:t>you</a:t>
            </a:r>
            <a:r>
              <a:rPr lang="it-IT" dirty="0" smtClean="0"/>
              <a:t> can </a:t>
            </a:r>
            <a:r>
              <a:rPr lang="it-IT" dirty="0" err="1" smtClean="0"/>
              <a:t>see</a:t>
            </a:r>
            <a:r>
              <a:rPr lang="it-IT" dirty="0" smtClean="0"/>
              <a:t> the </a:t>
            </a:r>
            <a:r>
              <a:rPr lang="it-IT" dirty="0" err="1" smtClean="0"/>
              <a:t>return</a:t>
            </a:r>
            <a:r>
              <a:rPr lang="it-IT" dirty="0" smtClean="0"/>
              <a:t> loss and the </a:t>
            </a:r>
            <a:r>
              <a:rPr lang="it-IT" dirty="0" err="1" smtClean="0"/>
              <a:t>transmission</a:t>
            </a:r>
            <a:r>
              <a:rPr lang="it-IT" dirty="0" smtClean="0"/>
              <a:t> </a:t>
            </a:r>
            <a:r>
              <a:rPr lang="it-IT" dirty="0" err="1" smtClean="0"/>
              <a:t>parameters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over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whole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bandwidth</a:t>
            </a:r>
            <a:r>
              <a:rPr lang="it-IT" baseline="0" dirty="0" smtClean="0"/>
              <a:t>. As </a:t>
            </a:r>
            <a:r>
              <a:rPr lang="it-IT" baseline="0" dirty="0" err="1" smtClean="0"/>
              <a:t>you</a:t>
            </a:r>
            <a:r>
              <a:rPr lang="it-IT" baseline="0" dirty="0" smtClean="0"/>
              <a:t> can </a:t>
            </a:r>
            <a:r>
              <a:rPr lang="it-IT" baseline="0" dirty="0" err="1" smtClean="0"/>
              <a:t>see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return</a:t>
            </a:r>
            <a:r>
              <a:rPr lang="it-IT" baseline="0" dirty="0" smtClean="0"/>
              <a:t> loss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better</a:t>
            </a:r>
            <a:r>
              <a:rPr lang="it-IT" baseline="0" dirty="0" smtClean="0"/>
              <a:t> </a:t>
            </a:r>
            <a:r>
              <a:rPr lang="it-IT" baseline="0" dirty="0" err="1" smtClean="0"/>
              <a:t>than</a:t>
            </a:r>
            <a:r>
              <a:rPr lang="it-IT" baseline="0" dirty="0" smtClean="0"/>
              <a:t> 20 </a:t>
            </a:r>
            <a:r>
              <a:rPr lang="it-IT" baseline="0" dirty="0" err="1" smtClean="0"/>
              <a:t>dB</a:t>
            </a:r>
            <a:r>
              <a:rPr lang="it-IT" baseline="0" dirty="0" smtClean="0"/>
              <a:t> </a:t>
            </a:r>
            <a:r>
              <a:rPr lang="it-IT" baseline="0" dirty="0" err="1" smtClean="0"/>
              <a:t>over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whole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bandwidth</a:t>
            </a:r>
            <a:r>
              <a:rPr lang="it-IT" baseline="0" dirty="0" smtClean="0"/>
              <a:t> and the </a:t>
            </a:r>
            <a:r>
              <a:rPr lang="it-IT" baseline="0" dirty="0" err="1" smtClean="0"/>
              <a:t>maximum</a:t>
            </a:r>
            <a:r>
              <a:rPr lang="it-IT" baseline="0" dirty="0" smtClean="0"/>
              <a:t> </a:t>
            </a:r>
            <a:r>
              <a:rPr lang="it-IT" baseline="0" dirty="0" err="1" smtClean="0"/>
              <a:t>deviation</a:t>
            </a:r>
            <a:r>
              <a:rPr lang="it-IT" baseline="0" dirty="0" smtClean="0"/>
              <a:t> in </a:t>
            </a:r>
            <a:r>
              <a:rPr lang="it-IT" baseline="0" dirty="0" err="1" smtClean="0"/>
              <a:t>bandwidth</a:t>
            </a:r>
            <a:r>
              <a:rPr lang="it-IT" baseline="0" dirty="0" smtClean="0"/>
              <a:t> </a:t>
            </a:r>
            <a:r>
              <a:rPr lang="it-IT" baseline="0" dirty="0" err="1" smtClean="0"/>
              <a:t>for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transmission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parameters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about</a:t>
            </a:r>
            <a:r>
              <a:rPr lang="it-IT" baseline="0" dirty="0" smtClean="0"/>
              <a:t> 0.7 </a:t>
            </a:r>
            <a:r>
              <a:rPr lang="it-IT" baseline="0" dirty="0" err="1" smtClean="0"/>
              <a:t>dB</a:t>
            </a:r>
            <a:r>
              <a:rPr lang="it-IT" baseline="0" dirty="0" smtClean="0"/>
              <a:t>.</a:t>
            </a:r>
            <a:endParaRPr lang="it-IT" dirty="0" smtClean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11</a:t>
            </a:fld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As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you</a:t>
            </a:r>
            <a:r>
              <a:rPr lang="it-IT" dirty="0" smtClean="0"/>
              <a:t> can </a:t>
            </a:r>
            <a:r>
              <a:rPr lang="it-IT" dirty="0" err="1" smtClean="0"/>
              <a:t>see</a:t>
            </a:r>
            <a:r>
              <a:rPr lang="it-IT" dirty="0" smtClean="0"/>
              <a:t> the </a:t>
            </a:r>
            <a:r>
              <a:rPr lang="it-IT" dirty="0" err="1" smtClean="0"/>
              <a:t>six</a:t>
            </a:r>
            <a:r>
              <a:rPr lang="it-IT" dirty="0" smtClean="0"/>
              <a:t> </a:t>
            </a:r>
            <a:r>
              <a:rPr lang="it-IT" dirty="0" err="1" smtClean="0"/>
              <a:t>ports</a:t>
            </a:r>
            <a:r>
              <a:rPr lang="it-IT" dirty="0" smtClean="0"/>
              <a:t> are </a:t>
            </a:r>
            <a:r>
              <a:rPr lang="it-IT" dirty="0" err="1" smtClean="0"/>
              <a:t>perfectly</a:t>
            </a:r>
            <a:r>
              <a:rPr lang="it-IT" dirty="0" smtClean="0"/>
              <a:t> in </a:t>
            </a:r>
            <a:r>
              <a:rPr lang="it-IT" dirty="0" err="1" smtClean="0"/>
              <a:t>phase</a:t>
            </a:r>
            <a:r>
              <a:rPr lang="it-IT" dirty="0" smtClean="0"/>
              <a:t>. </a:t>
            </a:r>
            <a:r>
              <a:rPr lang="it-IT" dirty="0" err="1" smtClean="0"/>
              <a:t>Currently</a:t>
            </a:r>
            <a:r>
              <a:rPr lang="it-IT" dirty="0" smtClean="0"/>
              <a:t> the </a:t>
            </a:r>
            <a:r>
              <a:rPr lang="it-IT" dirty="0" err="1" smtClean="0"/>
              <a:t>radiating</a:t>
            </a:r>
            <a:r>
              <a:rPr lang="it-IT" dirty="0" smtClean="0"/>
              <a:t> </a:t>
            </a:r>
            <a:r>
              <a:rPr lang="it-IT" dirty="0" err="1" smtClean="0"/>
              <a:t>element</a:t>
            </a:r>
            <a:r>
              <a:rPr lang="it-IT" dirty="0" smtClean="0"/>
              <a:t> and the first </a:t>
            </a:r>
            <a:r>
              <a:rPr lang="it-IT" dirty="0" err="1" smtClean="0"/>
              <a:t>level</a:t>
            </a:r>
            <a:r>
              <a:rPr lang="it-IT" dirty="0" smtClean="0"/>
              <a:t> BFN are under </a:t>
            </a:r>
            <a:r>
              <a:rPr lang="it-IT" dirty="0" err="1" smtClean="0"/>
              <a:t>construction</a:t>
            </a:r>
            <a:r>
              <a:rPr lang="it-IT" baseline="0" dirty="0" smtClean="0"/>
              <a:t> and the </a:t>
            </a:r>
            <a:r>
              <a:rPr lang="it-IT" baseline="0" dirty="0" err="1" smtClean="0"/>
              <a:t>results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showed</a:t>
            </a:r>
            <a:r>
              <a:rPr lang="it-IT" baseline="0" dirty="0" smtClean="0"/>
              <a:t> in </a:t>
            </a:r>
            <a:r>
              <a:rPr lang="it-IT" baseline="0" dirty="0" err="1" smtClean="0"/>
              <a:t>this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simulation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will</a:t>
            </a:r>
            <a:r>
              <a:rPr lang="it-IT" baseline="0" dirty="0" smtClean="0"/>
              <a:t> </a:t>
            </a:r>
            <a:r>
              <a:rPr lang="it-IT" baseline="0" dirty="0" err="1" smtClean="0"/>
              <a:t>be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compared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with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effective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measures</a:t>
            </a:r>
            <a:r>
              <a:rPr lang="it-IT" baseline="0" dirty="0" smtClean="0"/>
              <a:t>/</a:t>
            </a:r>
            <a:r>
              <a:rPr lang="it-IT" baseline="0" dirty="0" err="1" smtClean="0"/>
              <a:t>measurements</a:t>
            </a:r>
            <a:r>
              <a:rPr lang="it-IT" baseline="0" dirty="0" smtClean="0"/>
              <a:t>.</a:t>
            </a:r>
            <a:endParaRPr lang="it-IT" dirty="0" smtClean="0"/>
          </a:p>
          <a:p>
            <a:r>
              <a:rPr lang="it-IT" dirty="0" smtClean="0"/>
              <a:t>I </a:t>
            </a:r>
            <a:r>
              <a:rPr lang="it-IT" dirty="0" err="1" smtClean="0"/>
              <a:t>thank</a:t>
            </a:r>
            <a:r>
              <a:rPr lang="it-IT" dirty="0" smtClean="0"/>
              <a:t> </a:t>
            </a:r>
            <a:r>
              <a:rPr lang="it-IT" dirty="0" err="1" smtClean="0"/>
              <a:t>you</a:t>
            </a:r>
            <a:r>
              <a:rPr lang="it-IT" dirty="0" smtClean="0"/>
              <a:t> </a:t>
            </a:r>
            <a:r>
              <a:rPr lang="it-IT" dirty="0" err="1" smtClean="0"/>
              <a:t>for</a:t>
            </a:r>
            <a:r>
              <a:rPr lang="it-IT" dirty="0" smtClean="0"/>
              <a:t> the </a:t>
            </a:r>
            <a:r>
              <a:rPr lang="it-IT" dirty="0" err="1" smtClean="0"/>
              <a:t>attention</a:t>
            </a:r>
            <a:r>
              <a:rPr lang="it-IT" dirty="0" smtClean="0"/>
              <a:t> and </a:t>
            </a:r>
            <a:r>
              <a:rPr lang="it-IT" dirty="0" err="1" smtClean="0"/>
              <a:t>now</a:t>
            </a:r>
            <a:r>
              <a:rPr lang="it-IT" dirty="0" smtClean="0"/>
              <a:t> I introduce </a:t>
            </a:r>
            <a:r>
              <a:rPr lang="it-IT" dirty="0" err="1" smtClean="0"/>
              <a:t>you</a:t>
            </a:r>
            <a:r>
              <a:rPr lang="it-IT" dirty="0" smtClean="0"/>
              <a:t> </a:t>
            </a:r>
            <a:r>
              <a:rPr lang="it-IT" dirty="0" err="1" smtClean="0"/>
              <a:t>Mr</a:t>
            </a:r>
            <a:r>
              <a:rPr lang="it-IT" dirty="0" smtClean="0"/>
              <a:t> </a:t>
            </a:r>
            <a:r>
              <a:rPr lang="it-IT" dirty="0" err="1" smtClean="0"/>
              <a:t>Setfano</a:t>
            </a:r>
            <a:r>
              <a:rPr lang="it-IT" dirty="0" smtClean="0"/>
              <a:t> </a:t>
            </a:r>
            <a:r>
              <a:rPr lang="it-IT" dirty="0" err="1" smtClean="0"/>
              <a:t>Selleri</a:t>
            </a:r>
            <a:r>
              <a:rPr lang="it-IT" baseline="0" dirty="0" smtClean="0"/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64CF3-8B8D-4118-99AA-42E8932C8048}" type="slidenum">
              <a:rPr lang="it-IT" smtClean="0"/>
              <a:pPr/>
              <a:t>12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3"/>
          <p:cNvSpPr>
            <a:spLocks noChangeArrowheads="1"/>
          </p:cNvSpPr>
          <p:nvPr userDrawn="1"/>
        </p:nvSpPr>
        <p:spPr bwMode="auto">
          <a:xfrm>
            <a:off x="9024938" y="6500813"/>
            <a:ext cx="817562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07334E5-3E48-4B91-B630-53698E094A86}" type="slidenum">
              <a:rPr lang="it-IT" sz="1600" i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‹N›</a:t>
            </a:fld>
            <a:r>
              <a:rPr lang="it-IT" sz="1600" i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/21</a:t>
            </a:r>
            <a:endParaRPr lang="it-IT" sz="1600" i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" name="Immagine 11" descr="logo-unifi.gif"/>
          <p:cNvPicPr>
            <a:picLocks noChangeAspect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" y="6262687"/>
            <a:ext cx="574675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Segnaposto testo 2"/>
          <p:cNvSpPr txBox="1">
            <a:spLocks/>
          </p:cNvSpPr>
          <p:nvPr userDrawn="1"/>
        </p:nvSpPr>
        <p:spPr>
          <a:xfrm>
            <a:off x="5108575" y="6549946"/>
            <a:ext cx="4547054" cy="2154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it-IT" sz="1400" b="1" i="0" kern="0" dirty="0" err="1" smtClean="0">
                <a:solidFill>
                  <a:srgbClr val="A50021"/>
                </a:solidFill>
                <a:effectLst/>
                <a:latin typeface="Times New Roman" pitchFamily="18" charset="0"/>
                <a:cs typeface="Times New Roman" pitchFamily="18" charset="0"/>
              </a:rPr>
              <a:t>Activities</a:t>
            </a:r>
            <a:r>
              <a:rPr lang="it-IT" sz="1400" b="1" i="0" kern="0" baseline="0" dirty="0" smtClean="0">
                <a:solidFill>
                  <a:srgbClr val="A5002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sz="1400" b="1" i="0" kern="0" baseline="0" dirty="0" err="1" smtClean="0">
                <a:solidFill>
                  <a:srgbClr val="A50021"/>
                </a:solidFill>
                <a:effectLst/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it-IT" sz="1400" b="1" i="0" kern="0" baseline="0" dirty="0" smtClean="0">
                <a:solidFill>
                  <a:srgbClr val="A50021"/>
                </a:solidFill>
                <a:effectLst/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it-IT" sz="1400" b="1" i="0" kern="0" baseline="0" dirty="0" err="1" smtClean="0">
                <a:solidFill>
                  <a:srgbClr val="A50021"/>
                </a:solidFill>
                <a:effectLst/>
                <a:latin typeface="Times New Roman" pitchFamily="18" charset="0"/>
                <a:cs typeface="Times New Roman" pitchFamily="18" charset="0"/>
              </a:rPr>
              <a:t>Lab</a:t>
            </a:r>
            <a:r>
              <a:rPr lang="it-IT" sz="1400" b="1" i="0" kern="0" baseline="0" dirty="0" smtClean="0">
                <a:solidFill>
                  <a:srgbClr val="A50021"/>
                </a:solidFill>
                <a:effectLst/>
                <a:latin typeface="Times New Roman" pitchFamily="18" charset="0"/>
                <a:cs typeface="Times New Roman" pitchFamily="18" charset="0"/>
              </a:rPr>
              <a:t> in the Array </a:t>
            </a:r>
            <a:r>
              <a:rPr lang="it-IT" sz="1400" b="1" i="0" kern="0" baseline="0" dirty="0" err="1" smtClean="0">
                <a:solidFill>
                  <a:srgbClr val="A50021"/>
                </a:solidFill>
                <a:effectLst/>
                <a:latin typeface="Times New Roman" pitchFamily="18" charset="0"/>
                <a:cs typeface="Times New Roman" pitchFamily="18" charset="0"/>
              </a:rPr>
              <a:t>Field</a:t>
            </a:r>
            <a:r>
              <a:rPr lang="it-IT" sz="1400" b="1" i="0" kern="0" baseline="0" dirty="0" smtClean="0">
                <a:solidFill>
                  <a:srgbClr val="A5002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lang="it-IT" sz="1400" b="1" i="0" kern="0" dirty="0">
              <a:solidFill>
                <a:srgbClr val="A5002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Segnaposto testo 2"/>
          <p:cNvSpPr txBox="1">
            <a:spLocks/>
          </p:cNvSpPr>
          <p:nvPr userDrawn="1"/>
        </p:nvSpPr>
        <p:spPr>
          <a:xfrm>
            <a:off x="284807" y="6550025"/>
            <a:ext cx="3948113" cy="215444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342900" indent="-342900" algn="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it-IT" sz="1400" b="1" i="0" kern="0" dirty="0" smtClean="0">
                <a:solidFill>
                  <a:schemeClr val="tx1"/>
                </a:solidFill>
                <a:effectLst/>
                <a:latin typeface="+mn-lt"/>
                <a:cs typeface="Calibri" pitchFamily="34" charset="0"/>
              </a:rPr>
              <a:t>Università degli Studi di Firenze</a:t>
            </a:r>
          </a:p>
        </p:txBody>
      </p:sp>
      <p:cxnSp>
        <p:nvCxnSpPr>
          <p:cNvPr id="27" name="Connettore 1 26"/>
          <p:cNvCxnSpPr/>
          <p:nvPr userDrawn="1"/>
        </p:nvCxnSpPr>
        <p:spPr>
          <a:xfrm>
            <a:off x="200472" y="1226912"/>
            <a:ext cx="9505056" cy="0"/>
          </a:xfrm>
          <a:prstGeom prst="line">
            <a:avLst/>
          </a:prstGeom>
          <a:ln w="28575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1 27"/>
          <p:cNvCxnSpPr/>
          <p:nvPr userDrawn="1"/>
        </p:nvCxnSpPr>
        <p:spPr>
          <a:xfrm>
            <a:off x="670372" y="6478736"/>
            <a:ext cx="9000000" cy="0"/>
          </a:xfrm>
          <a:prstGeom prst="line">
            <a:avLst/>
          </a:prstGeom>
          <a:ln w="28575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jpe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ntibarikure\Desktop\MovScan.wmv" TargetMode="Externa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2"/>
          <p:cNvSpPr txBox="1">
            <a:spLocks/>
          </p:cNvSpPr>
          <p:nvPr/>
        </p:nvSpPr>
        <p:spPr>
          <a:xfrm>
            <a:off x="0" y="4572000"/>
            <a:ext cx="9906000" cy="94179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it-IT" sz="1800" b="0" dirty="0" smtClean="0">
                <a:solidFill>
                  <a:srgbClr val="A50021"/>
                </a:solidFill>
                <a:latin typeface="+mn-lt"/>
              </a:rPr>
              <a:t>Gruppo di ricerca in “RF, </a:t>
            </a:r>
            <a:r>
              <a:rPr lang="it-IT" sz="1800" b="0" dirty="0" err="1" smtClean="0">
                <a:solidFill>
                  <a:srgbClr val="A50021"/>
                </a:solidFill>
                <a:latin typeface="+mn-lt"/>
              </a:rPr>
              <a:t>Microwave</a:t>
            </a:r>
            <a:r>
              <a:rPr lang="it-IT" sz="1800" b="0" dirty="0" smtClean="0">
                <a:solidFill>
                  <a:srgbClr val="A50021"/>
                </a:solidFill>
                <a:latin typeface="+mn-lt"/>
              </a:rPr>
              <a:t> and </a:t>
            </a:r>
            <a:r>
              <a:rPr lang="it-IT" sz="1800" b="0" dirty="0" err="1" smtClean="0">
                <a:solidFill>
                  <a:srgbClr val="A50021"/>
                </a:solidFill>
                <a:latin typeface="+mn-lt"/>
              </a:rPr>
              <a:t>Electromagnetics</a:t>
            </a:r>
            <a:r>
              <a:rPr lang="it-IT" sz="1800" b="0" dirty="0" smtClean="0">
                <a:solidFill>
                  <a:srgbClr val="A50021"/>
                </a:solidFill>
                <a:latin typeface="+mn-lt"/>
              </a:rPr>
              <a:t>”</a:t>
            </a:r>
          </a:p>
          <a:p>
            <a:pPr marL="342900" indent="-342900" algn="ctr">
              <a:spcBef>
                <a:spcPct val="20000"/>
              </a:spcBef>
            </a:pPr>
            <a:r>
              <a:rPr lang="it-IT" sz="1800" b="0" dirty="0" smtClean="0">
                <a:solidFill>
                  <a:srgbClr val="A50021"/>
                </a:solidFill>
                <a:latin typeface="+mn-lt"/>
              </a:rPr>
              <a:t>Dipartimento di Elettronica e Telecomunicazioni</a:t>
            </a:r>
          </a:p>
          <a:p>
            <a:pPr marL="342900" indent="-342900" algn="ctr">
              <a:spcBef>
                <a:spcPct val="20000"/>
              </a:spcBef>
            </a:pPr>
            <a:r>
              <a:rPr lang="it-IT" sz="1800" b="0" dirty="0" smtClean="0">
                <a:solidFill>
                  <a:srgbClr val="A50021"/>
                </a:solidFill>
                <a:latin typeface="+mn-lt"/>
              </a:rPr>
              <a:t>URL://www.cem.unifi.it </a:t>
            </a:r>
            <a:endParaRPr lang="it-IT" sz="1800" b="0" dirty="0">
              <a:solidFill>
                <a:srgbClr val="A50021"/>
              </a:solidFill>
              <a:latin typeface="+mn-lt"/>
            </a:endParaRPr>
          </a:p>
        </p:txBody>
      </p:sp>
      <p:sp>
        <p:nvSpPr>
          <p:cNvPr id="7" name="Segnaposto testo 2"/>
          <p:cNvSpPr txBox="1">
            <a:spLocks/>
          </p:cNvSpPr>
          <p:nvPr/>
        </p:nvSpPr>
        <p:spPr>
          <a:xfrm>
            <a:off x="0" y="2862075"/>
            <a:ext cx="9906000" cy="113877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342900" indent="-342900" algn="ctr">
              <a:spcBef>
                <a:spcPts val="1200"/>
              </a:spcBef>
              <a:defRPr/>
            </a:pPr>
            <a:r>
              <a:rPr lang="it-IT" sz="3200" b="1" kern="0" dirty="0" err="1" smtClean="0"/>
              <a:t>Activities</a:t>
            </a:r>
            <a:r>
              <a:rPr lang="it-IT" sz="3200" b="1" kern="0" dirty="0" smtClean="0"/>
              <a:t> </a:t>
            </a:r>
            <a:r>
              <a:rPr lang="it-IT" sz="3200" b="1" kern="0" dirty="0" err="1" smtClean="0"/>
              <a:t>of</a:t>
            </a:r>
            <a:r>
              <a:rPr lang="it-IT" sz="3200" b="1" kern="0" dirty="0" smtClean="0"/>
              <a:t> the </a:t>
            </a:r>
            <a:r>
              <a:rPr lang="it-IT" sz="3200" b="1" kern="0" dirty="0" err="1" smtClean="0"/>
              <a:t>Lab</a:t>
            </a:r>
            <a:r>
              <a:rPr lang="it-IT" sz="3200" b="1" kern="0" dirty="0" smtClean="0"/>
              <a:t> </a:t>
            </a:r>
          </a:p>
          <a:p>
            <a:pPr marL="342900" indent="-342900" algn="ctr">
              <a:spcBef>
                <a:spcPts val="1200"/>
              </a:spcBef>
              <a:defRPr/>
            </a:pPr>
            <a:r>
              <a:rPr lang="it-IT" sz="3200" b="1" kern="0" dirty="0" smtClean="0"/>
              <a:t>in the Array </a:t>
            </a:r>
            <a:r>
              <a:rPr lang="it-IT" sz="3200" b="1" kern="0" dirty="0" err="1" smtClean="0"/>
              <a:t>Field</a:t>
            </a:r>
            <a:endParaRPr lang="it-IT" sz="3200" b="1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/>
          <p:cNvSpPr txBox="1"/>
          <p:nvPr/>
        </p:nvSpPr>
        <p:spPr>
          <a:xfrm>
            <a:off x="508959" y="1564437"/>
            <a:ext cx="475315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it-IT" sz="2000" dirty="0" smtClean="0">
                <a:solidFill>
                  <a:srgbClr val="C00000"/>
                </a:solidFill>
              </a:rPr>
              <a:t> C</a:t>
            </a:r>
            <a:r>
              <a:rPr lang="it-IT" sz="2000" cap="small" dirty="0" smtClean="0">
                <a:solidFill>
                  <a:srgbClr val="C00000"/>
                </a:solidFill>
              </a:rPr>
              <a:t>osmo</a:t>
            </a:r>
            <a:r>
              <a:rPr lang="it-IT" sz="2000" dirty="0" smtClean="0">
                <a:solidFill>
                  <a:srgbClr val="C00000"/>
                </a:solidFill>
              </a:rPr>
              <a:t> </a:t>
            </a:r>
            <a:r>
              <a:rPr lang="it-IT" sz="2000" dirty="0" err="1" smtClean="0">
                <a:solidFill>
                  <a:srgbClr val="C00000"/>
                </a:solidFill>
              </a:rPr>
              <a:t>S</a:t>
            </a:r>
            <a:r>
              <a:rPr lang="it-IT" sz="2000" cap="small" dirty="0" err="1" smtClean="0">
                <a:solidFill>
                  <a:srgbClr val="C00000"/>
                </a:solidFill>
              </a:rPr>
              <a:t>ky</a:t>
            </a:r>
            <a:r>
              <a:rPr lang="it-IT" sz="2000" dirty="0" err="1" smtClean="0">
                <a:solidFill>
                  <a:srgbClr val="C00000"/>
                </a:solidFill>
              </a:rPr>
              <a:t>-M</a:t>
            </a:r>
            <a:r>
              <a:rPr lang="it-IT" sz="2000" cap="small" dirty="0" err="1" smtClean="0">
                <a:solidFill>
                  <a:srgbClr val="C00000"/>
                </a:solidFill>
              </a:rPr>
              <a:t>ed</a:t>
            </a:r>
            <a:endParaRPr lang="it-IT" sz="2000" cap="small" dirty="0" smtClean="0">
              <a:solidFill>
                <a:srgbClr val="C00000"/>
              </a:solidFill>
            </a:endParaRPr>
          </a:p>
          <a:p>
            <a:endParaRPr lang="it-IT" sz="2000" cap="small" dirty="0" smtClean="0">
              <a:solidFill>
                <a:srgbClr val="C00000"/>
              </a:solidFill>
            </a:endParaRPr>
          </a:p>
          <a:p>
            <a:endParaRPr lang="it-IT" sz="2000" cap="small" dirty="0" smtClean="0">
              <a:solidFill>
                <a:srgbClr val="C00000"/>
              </a:solidFill>
            </a:endParaRPr>
          </a:p>
          <a:p>
            <a:endParaRPr lang="it-IT" sz="2000" cap="small" dirty="0" smtClean="0">
              <a:solidFill>
                <a:srgbClr val="C00000"/>
              </a:solidFill>
            </a:endParaRPr>
          </a:p>
          <a:p>
            <a:endParaRPr lang="it-IT" sz="2000" cap="small" dirty="0" smtClean="0">
              <a:solidFill>
                <a:srgbClr val="C00000"/>
              </a:solidFill>
            </a:endParaRPr>
          </a:p>
          <a:p>
            <a:endParaRPr lang="it-IT" sz="2000" cap="small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it-IT" sz="2000" cap="small" dirty="0" smtClean="0">
                <a:solidFill>
                  <a:srgbClr val="C00000"/>
                </a:solidFill>
              </a:rPr>
              <a:t> Array Design &amp; </a:t>
            </a:r>
            <a:r>
              <a:rPr lang="it-IT" sz="2000" cap="small" dirty="0" err="1" smtClean="0">
                <a:solidFill>
                  <a:srgbClr val="C00000"/>
                </a:solidFill>
              </a:rPr>
              <a:t>Optimization</a:t>
            </a:r>
            <a:endParaRPr lang="it-IT" sz="2000" cap="small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ü"/>
            </a:pPr>
            <a:endParaRPr lang="it-IT" sz="2000" cap="small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ü"/>
            </a:pPr>
            <a:endParaRPr lang="it-IT" sz="2000" cap="small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ü"/>
            </a:pPr>
            <a:endParaRPr lang="it-IT" sz="2000" cap="small" dirty="0" smtClean="0">
              <a:solidFill>
                <a:srgbClr val="C00000"/>
              </a:solidFill>
            </a:endParaRPr>
          </a:p>
          <a:p>
            <a:endParaRPr lang="it-IT" sz="2000" cap="small" dirty="0" smtClean="0">
              <a:solidFill>
                <a:srgbClr val="C00000"/>
              </a:solidFill>
            </a:endParaRPr>
          </a:p>
          <a:p>
            <a:endParaRPr lang="it-IT" sz="2000" cap="small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it-IT" sz="2000" cap="small" dirty="0" smtClean="0">
                <a:solidFill>
                  <a:srgbClr val="C00000"/>
                </a:solidFill>
              </a:rPr>
              <a:t>Fast </a:t>
            </a:r>
            <a:r>
              <a:rPr lang="it-IT" sz="2000" cap="small" dirty="0" err="1" smtClean="0">
                <a:solidFill>
                  <a:srgbClr val="C00000"/>
                </a:solidFill>
              </a:rPr>
              <a:t>Phased</a:t>
            </a:r>
            <a:r>
              <a:rPr lang="it-IT" sz="2000" cap="small" dirty="0" smtClean="0">
                <a:solidFill>
                  <a:srgbClr val="C00000"/>
                </a:solidFill>
              </a:rPr>
              <a:t> Array </a:t>
            </a:r>
            <a:r>
              <a:rPr lang="it-IT" sz="2000" cap="small" dirty="0" err="1" smtClean="0">
                <a:solidFill>
                  <a:srgbClr val="C00000"/>
                </a:solidFill>
              </a:rPr>
              <a:t>Analysis</a:t>
            </a:r>
            <a:endParaRPr lang="it-IT" sz="2000" cap="small" dirty="0" smtClean="0">
              <a:solidFill>
                <a:srgbClr val="C00000"/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854015" y="2038889"/>
            <a:ext cx="31838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 err="1" smtClean="0"/>
              <a:t>Radiating</a:t>
            </a:r>
            <a:r>
              <a:rPr lang="it-IT" sz="1600" dirty="0" smtClean="0"/>
              <a:t> </a:t>
            </a:r>
            <a:r>
              <a:rPr lang="it-IT" sz="1600" dirty="0" err="1" smtClean="0"/>
              <a:t>Element</a:t>
            </a:r>
            <a:r>
              <a:rPr lang="it-IT" sz="1600" dirty="0" smtClean="0"/>
              <a:t>;</a:t>
            </a:r>
          </a:p>
          <a:p>
            <a:pPr marL="342900" indent="-342900">
              <a:buFont typeface="+mj-lt"/>
              <a:buAutoNum type="arabicPeriod"/>
            </a:pPr>
            <a:endParaRPr lang="it-IT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it-IT" sz="1600" dirty="0" err="1" smtClean="0"/>
              <a:t>Beam</a:t>
            </a:r>
            <a:r>
              <a:rPr lang="it-IT" sz="1600" dirty="0" smtClean="0"/>
              <a:t> </a:t>
            </a:r>
            <a:r>
              <a:rPr lang="it-IT" sz="1600" dirty="0" err="1" smtClean="0"/>
              <a:t>Forming</a:t>
            </a:r>
            <a:r>
              <a:rPr lang="it-IT" sz="1600" dirty="0" smtClean="0"/>
              <a:t> Network (BFN);</a:t>
            </a:r>
            <a:endParaRPr lang="it-IT" sz="1600" dirty="0"/>
          </a:p>
        </p:txBody>
      </p:sp>
      <p:sp>
        <p:nvSpPr>
          <p:cNvPr id="10" name="CasellaDiTesto 9"/>
          <p:cNvSpPr txBox="1"/>
          <p:nvPr/>
        </p:nvSpPr>
        <p:spPr>
          <a:xfrm>
            <a:off x="4888800" y="360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Index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838200" y="180000"/>
            <a:ext cx="40513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</a:t>
            </a:r>
            <a:r>
              <a:rPr lang="it-IT" sz="1000" cap="small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it-IT" sz="1000" cap="small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Phased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834965" y="3867689"/>
            <a:ext cx="40109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 err="1" smtClean="0"/>
              <a:t>Analytic</a:t>
            </a:r>
            <a:r>
              <a:rPr lang="it-IT" sz="1600" dirty="0" smtClean="0"/>
              <a:t> &amp; </a:t>
            </a:r>
            <a:r>
              <a:rPr lang="it-IT" sz="1600" dirty="0" err="1" smtClean="0"/>
              <a:t>Heuristic</a:t>
            </a:r>
            <a:r>
              <a:rPr lang="it-IT" sz="1600" dirty="0" smtClean="0"/>
              <a:t> Array Design;</a:t>
            </a:r>
          </a:p>
          <a:p>
            <a:pPr marL="342900" indent="-342900">
              <a:buFont typeface="+mj-lt"/>
              <a:buAutoNum type="arabicPeriod"/>
            </a:pPr>
            <a:endParaRPr lang="it-IT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it-IT" sz="1600" dirty="0" err="1" smtClean="0"/>
              <a:t>Optimization</a:t>
            </a:r>
            <a:r>
              <a:rPr lang="it-IT" sz="1600" dirty="0" smtClean="0"/>
              <a:t> </a:t>
            </a:r>
            <a:r>
              <a:rPr lang="it-IT" sz="1600" dirty="0" err="1" smtClean="0"/>
              <a:t>of</a:t>
            </a:r>
            <a:r>
              <a:rPr lang="it-IT" sz="1600" dirty="0" smtClean="0"/>
              <a:t> Planar and Linear </a:t>
            </a:r>
            <a:r>
              <a:rPr lang="it-IT" sz="1600" dirty="0" err="1" smtClean="0"/>
              <a:t>Arrays</a:t>
            </a:r>
            <a:r>
              <a:rPr lang="it-IT" sz="1600" dirty="0" smtClean="0"/>
              <a:t>;</a:t>
            </a:r>
            <a:endParaRPr lang="it-IT" sz="1600" cap="smal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Introduction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4" name="Picture 4" descr="http://2.bp.blogspot.com/_jWOJwoqphTU/S36RLIF5rcI/AAAAAAAAAC8/mgqAArRyMrk/s320/Cosmo-SkyM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51558" y="2511096"/>
            <a:ext cx="4408487" cy="307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4287" y="1383192"/>
            <a:ext cx="9489056" cy="1214437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C</a:t>
            </a:r>
            <a:r>
              <a:rPr lang="it-IT" sz="1600" kern="0" cap="small" dirty="0" err="1" smtClean="0">
                <a:latin typeface="+mn-lt"/>
                <a:ea typeface="+mj-ea"/>
                <a:cs typeface="Times New Roman" pitchFamily="18" charset="0"/>
              </a:rPr>
              <a:t>osmo-SkyMed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is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the first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Earth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system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observation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designed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for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both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civil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and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military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use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.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This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system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has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been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developed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by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ASI (Agenzia Spaziale Italiana) in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collaboration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with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Ministero Italiano della Difesa (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Italian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Defense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Ministery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Introduction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07033" y="1400445"/>
            <a:ext cx="9497683" cy="661268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The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radiating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board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works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at the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central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frequency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of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9.6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GHz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over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a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bandwidth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of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16% and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it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’s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composed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by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48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radiating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elements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subdivided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in 8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sub-array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.</a:t>
            </a:r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3358" y="2269825"/>
            <a:ext cx="292417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ttangolo 7"/>
          <p:cNvSpPr/>
          <p:nvPr/>
        </p:nvSpPr>
        <p:spPr>
          <a:xfrm>
            <a:off x="1595885" y="3674853"/>
            <a:ext cx="2993367" cy="5524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dirty="0">
              <a:solidFill>
                <a:srgbClr val="C00000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35928" y="3730116"/>
            <a:ext cx="873694" cy="428625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400" kern="0" dirty="0" err="1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sub-array</a:t>
            </a:r>
            <a:endParaRPr lang="it-IT" sz="1400" kern="0" dirty="0">
              <a:solidFill>
                <a:srgbClr val="C00000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215660" y="2387093"/>
            <a:ext cx="1500187" cy="428625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400" kern="0" dirty="0" err="1" smtClean="0">
                <a:solidFill>
                  <a:srgbClr val="C00000"/>
                </a:solidFill>
                <a:latin typeface="+mj-lt"/>
                <a:ea typeface="+mj-ea"/>
                <a:cs typeface="Times New Roman" pitchFamily="18" charset="0"/>
              </a:rPr>
              <a:t>radiating</a:t>
            </a:r>
            <a:r>
              <a:rPr lang="it-IT" sz="1400" kern="0" dirty="0" smtClean="0">
                <a:solidFill>
                  <a:srgbClr val="C00000"/>
                </a:solidFill>
                <a:latin typeface="+mj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solidFill>
                  <a:srgbClr val="C00000"/>
                </a:solidFill>
                <a:latin typeface="+mj-lt"/>
                <a:ea typeface="+mj-ea"/>
                <a:cs typeface="Times New Roman" pitchFamily="18" charset="0"/>
              </a:rPr>
              <a:t>element</a:t>
            </a:r>
            <a:endParaRPr lang="it-IT" sz="1400" kern="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C:\Users\Monica\Documents\Laboratorio\Progetti\Articoli\BFN\FIG\Sub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91475" y="3336925"/>
            <a:ext cx="4309937" cy="1562877"/>
          </a:xfrm>
          <a:prstGeom prst="rect">
            <a:avLst/>
          </a:prstGeom>
          <a:noFill/>
        </p:spPr>
      </p:pic>
      <p:sp>
        <p:nvSpPr>
          <p:cNvPr id="10" name="Ovale 9"/>
          <p:cNvSpPr/>
          <p:nvPr/>
        </p:nvSpPr>
        <p:spPr>
          <a:xfrm>
            <a:off x="1598851" y="2255267"/>
            <a:ext cx="642937" cy="642938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dirty="0">
              <a:solidFill>
                <a:srgbClr val="C00000"/>
              </a:solidFill>
            </a:endParaRPr>
          </a:p>
        </p:txBody>
      </p:sp>
      <p:sp>
        <p:nvSpPr>
          <p:cNvPr id="12" name="Freccia a destra 11"/>
          <p:cNvSpPr/>
          <p:nvPr/>
        </p:nvSpPr>
        <p:spPr>
          <a:xfrm>
            <a:off x="4934308" y="3881887"/>
            <a:ext cx="457200" cy="24154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/>
          <p:cNvSpPr txBox="1"/>
          <p:nvPr/>
        </p:nvSpPr>
        <p:spPr>
          <a:xfrm>
            <a:off x="6038490" y="3881887"/>
            <a:ext cx="29848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700" dirty="0" smtClean="0"/>
              <a:t>HP</a:t>
            </a:r>
            <a:endParaRPr lang="it-IT" sz="700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5788324" y="3648973"/>
            <a:ext cx="29848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700" dirty="0" smtClean="0"/>
              <a:t>VP</a:t>
            </a:r>
            <a:endParaRPr lang="it-IT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Introduction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804" y="1754217"/>
            <a:ext cx="4359135" cy="42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44583" y="1576556"/>
            <a:ext cx="2710198" cy="2001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2609" y="4027507"/>
            <a:ext cx="4892936" cy="132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Radiating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Element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2" name="Immagin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64371" y="4011449"/>
            <a:ext cx="2914122" cy="2084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Immagin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53863" y="1716823"/>
            <a:ext cx="2917651" cy="208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Immagine 11" descr="Grafica1.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9070" y="1974239"/>
            <a:ext cx="4130675" cy="369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Parentesi graffa chiusa 10"/>
          <p:cNvSpPr/>
          <p:nvPr/>
        </p:nvSpPr>
        <p:spPr>
          <a:xfrm>
            <a:off x="4873924" y="1958195"/>
            <a:ext cx="45719" cy="1595887"/>
          </a:xfrm>
          <a:prstGeom prst="righ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/>
          <p:cNvSpPr/>
          <p:nvPr/>
        </p:nvSpPr>
        <p:spPr>
          <a:xfrm>
            <a:off x="5305245" y="2665563"/>
            <a:ext cx="396815" cy="25016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33855" y="129092"/>
            <a:ext cx="1369564" cy="1011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</a:t>
            </a:r>
            <a:r>
              <a:rPr lang="it-IT" sz="1000" i="0" kern="1200" cap="small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000" i="0" kern="1200" cap="small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Radiating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Element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4" name="Immagine 9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55744" y="1469385"/>
            <a:ext cx="3260812" cy="233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Immagine 10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0249" y="3923150"/>
            <a:ext cx="3262144" cy="2328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Immagine 11" descr="Grafica1.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8685" y="1974239"/>
            <a:ext cx="4130675" cy="369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reccia in giù 8"/>
          <p:cNvSpPr/>
          <p:nvPr/>
        </p:nvSpPr>
        <p:spPr>
          <a:xfrm rot="10800000">
            <a:off x="8607668" y="2814858"/>
            <a:ext cx="36000" cy="1440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in giù 9"/>
          <p:cNvSpPr/>
          <p:nvPr/>
        </p:nvSpPr>
        <p:spPr>
          <a:xfrm rot="5400000">
            <a:off x="8397011" y="2267772"/>
            <a:ext cx="36000" cy="144000"/>
          </a:xfrm>
          <a:prstGeom prst="downArrow">
            <a:avLst/>
          </a:prstGeom>
          <a:solidFill>
            <a:schemeClr val="tx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8445260" y="296748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" b="1" dirty="0" smtClean="0">
                <a:solidFill>
                  <a:srgbClr val="C00000"/>
                </a:solidFill>
              </a:rPr>
              <a:t>HP</a:t>
            </a:r>
            <a:endParaRPr lang="it-IT" sz="800" b="1" dirty="0">
              <a:solidFill>
                <a:srgbClr val="C00000"/>
              </a:solidFill>
            </a:endParaRPr>
          </a:p>
        </p:txBody>
      </p:sp>
      <p:sp>
        <p:nvSpPr>
          <p:cNvPr id="17" name="CasellaDiTesto 16"/>
          <p:cNvSpPr txBox="1"/>
          <p:nvPr/>
        </p:nvSpPr>
        <p:spPr>
          <a:xfrm>
            <a:off x="8462513" y="2251493"/>
            <a:ext cx="320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" b="1" dirty="0" smtClean="0">
                <a:solidFill>
                  <a:srgbClr val="C00000"/>
                </a:solidFill>
              </a:rPr>
              <a:t>VP</a:t>
            </a:r>
            <a:endParaRPr lang="it-IT" sz="800" b="1" dirty="0">
              <a:solidFill>
                <a:srgbClr val="C00000"/>
              </a:solidFill>
            </a:endParaRPr>
          </a:p>
        </p:txBody>
      </p:sp>
      <p:sp>
        <p:nvSpPr>
          <p:cNvPr id="18" name="Parentesi graffa chiusa 17"/>
          <p:cNvSpPr/>
          <p:nvPr/>
        </p:nvSpPr>
        <p:spPr>
          <a:xfrm>
            <a:off x="4675517" y="3640347"/>
            <a:ext cx="45719" cy="741872"/>
          </a:xfrm>
          <a:prstGeom prst="rightBrac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a destra 18"/>
          <p:cNvSpPr/>
          <p:nvPr/>
        </p:nvSpPr>
        <p:spPr>
          <a:xfrm>
            <a:off x="5106838" y="3899140"/>
            <a:ext cx="396815" cy="25016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1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68883" y="129398"/>
            <a:ext cx="1229192" cy="932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Radiating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Element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4" name="Picture 3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800" y="2175384"/>
            <a:ext cx="3990975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5600" y="2174400"/>
            <a:ext cx="3997977" cy="292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Connettore 1 6"/>
          <p:cNvCxnSpPr/>
          <p:nvPr/>
        </p:nvCxnSpPr>
        <p:spPr>
          <a:xfrm>
            <a:off x="1121434" y="3204000"/>
            <a:ext cx="3347049" cy="1588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802921" y="1581600"/>
            <a:ext cx="2053086" cy="436981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Return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loss H/V </a:t>
            </a: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ports</a:t>
            </a:r>
            <a:endParaRPr lang="it-IT" sz="1600" kern="0" dirty="0" smtClean="0">
              <a:solidFill>
                <a:srgbClr val="C00000"/>
              </a:solidFill>
              <a:latin typeface="+mn-lt"/>
              <a:ea typeface="+mj-ea"/>
              <a:cs typeface="Times New Roman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130506" y="1656362"/>
            <a:ext cx="2053086" cy="436981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Isolation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H/V </a:t>
            </a: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ports</a:t>
            </a:r>
            <a:endParaRPr lang="it-IT" sz="1600" kern="0" dirty="0" smtClean="0">
              <a:solidFill>
                <a:srgbClr val="C00000"/>
              </a:solidFill>
              <a:latin typeface="+mn-lt"/>
              <a:ea typeface="+mj-ea"/>
              <a:cs typeface="Times New Roman" pitchFamily="18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38800" y="5342717"/>
            <a:ext cx="3992400" cy="661268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The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return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loss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is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better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than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14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dB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over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the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whole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bandwidth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for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both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ports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.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5205600" y="5342400"/>
            <a:ext cx="3992400" cy="661268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The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isolation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is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better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than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30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dB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over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the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whole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bandwidth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for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both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ports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.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87644" y="150607"/>
            <a:ext cx="1369564" cy="1011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Radiating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Element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541" y="1908055"/>
            <a:ext cx="4476514" cy="363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9794" y="1927824"/>
            <a:ext cx="5052433" cy="3567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201600" y="1440000"/>
            <a:ext cx="5054400" cy="436981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Co-polar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components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H/V </a:t>
            </a: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ports</a:t>
            </a:r>
            <a:endParaRPr lang="it-IT" sz="1600" kern="0" dirty="0" smtClean="0">
              <a:solidFill>
                <a:srgbClr val="C00000"/>
              </a:solidFill>
              <a:latin typeface="+mn-lt"/>
              <a:ea typeface="+mj-ea"/>
              <a:cs typeface="Times New Roman" pitchFamily="18" charset="0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5065200" y="1440000"/>
            <a:ext cx="4478400" cy="436981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Cross-polar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components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H/V </a:t>
            </a: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ports</a:t>
            </a:r>
            <a:endParaRPr lang="it-IT" sz="1600" kern="0" dirty="0" smtClean="0">
              <a:solidFill>
                <a:srgbClr val="C00000"/>
              </a:solidFill>
              <a:latin typeface="+mn-lt"/>
              <a:ea typeface="+mj-ea"/>
              <a:cs typeface="Times New Roman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381600" y="5508000"/>
            <a:ext cx="4694400" cy="661268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The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radiating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element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have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a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maximum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at 0°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with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a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dirctivity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about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7.8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dBi</a:t>
            </a:r>
            <a:endParaRPr lang="it-IT" sz="1400" kern="0" dirty="0" smtClean="0">
              <a:latin typeface="+mn-lt"/>
              <a:ea typeface="+mj-ea"/>
              <a:cs typeface="Times New Roman" pitchFamily="18" charset="0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>
          <a:xfrm>
            <a:off x="5472000" y="5508000"/>
            <a:ext cx="4118400" cy="661268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Over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an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angle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of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30° the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cross-polar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component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is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better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than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-23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dB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.</a:t>
            </a:r>
          </a:p>
        </p:txBody>
      </p:sp>
      <p:cxnSp>
        <p:nvCxnSpPr>
          <p:cNvPr id="26" name="Connettore 1 25"/>
          <p:cNvCxnSpPr/>
          <p:nvPr/>
        </p:nvCxnSpPr>
        <p:spPr>
          <a:xfrm>
            <a:off x="5745192" y="2484000"/>
            <a:ext cx="3562710" cy="158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87644" y="150607"/>
            <a:ext cx="1369564" cy="1011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BFN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77" y="4536520"/>
            <a:ext cx="5106657" cy="815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1994" y="2520487"/>
            <a:ext cx="3866520" cy="294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76727" y="2140096"/>
            <a:ext cx="5316747" cy="85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276333" y="2979553"/>
            <a:ext cx="5317200" cy="436981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horizontal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BFN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499406" y="5326513"/>
            <a:ext cx="5108400" cy="436981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vertical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BFN</a:t>
            </a:r>
          </a:p>
        </p:txBody>
      </p:sp>
      <p:sp>
        <p:nvSpPr>
          <p:cNvPr id="16" name="Parentesi graffa chiusa 15"/>
          <p:cNvSpPr/>
          <p:nvPr/>
        </p:nvSpPr>
        <p:spPr>
          <a:xfrm>
            <a:off x="3980329" y="2667896"/>
            <a:ext cx="45719" cy="1011219"/>
          </a:xfrm>
          <a:prstGeom prst="righ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Parentesi graffa chiusa 16"/>
          <p:cNvSpPr/>
          <p:nvPr/>
        </p:nvSpPr>
        <p:spPr>
          <a:xfrm>
            <a:off x="3982122" y="3734696"/>
            <a:ext cx="45719" cy="1011219"/>
          </a:xfrm>
          <a:prstGeom prst="rightBrace">
            <a:avLst/>
          </a:prstGeom>
          <a:noFill/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/>
          <p:cNvSpPr/>
          <p:nvPr/>
        </p:nvSpPr>
        <p:spPr>
          <a:xfrm rot="-2700000">
            <a:off x="4170924" y="2844889"/>
            <a:ext cx="396815" cy="25016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a destra 18"/>
          <p:cNvSpPr/>
          <p:nvPr/>
        </p:nvSpPr>
        <p:spPr>
          <a:xfrm rot="2700000">
            <a:off x="4172400" y="4329447"/>
            <a:ext cx="396815" cy="25016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40648" y="316119"/>
            <a:ext cx="2117465" cy="57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BFN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3615" y="2177252"/>
            <a:ext cx="4320000" cy="3016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70771" y="2177252"/>
            <a:ext cx="4320000" cy="3016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07615" y="1565252"/>
            <a:ext cx="4320000" cy="436981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Return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loss H/V </a:t>
            </a: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ports</a:t>
            </a:r>
            <a:endParaRPr lang="it-IT" sz="1600" kern="0" dirty="0" smtClean="0">
              <a:solidFill>
                <a:srgbClr val="C00000"/>
              </a:solidFill>
              <a:latin typeface="+mn-lt"/>
              <a:ea typeface="+mj-ea"/>
              <a:cs typeface="Times New Roman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5170415" y="1565252"/>
            <a:ext cx="4320000" cy="436981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Transmission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H/V </a:t>
            </a: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ports</a:t>
            </a:r>
            <a:endParaRPr lang="it-IT" sz="1600" kern="0" dirty="0" smtClean="0">
              <a:solidFill>
                <a:srgbClr val="C00000"/>
              </a:solidFill>
              <a:latin typeface="+mn-lt"/>
              <a:ea typeface="+mj-ea"/>
              <a:cs typeface="Times New Roman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504000" y="5508000"/>
            <a:ext cx="4320000" cy="661268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The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return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loss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is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better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than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20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dB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over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the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whole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bandwidth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.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5169600" y="5508000"/>
            <a:ext cx="4320000" cy="661268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The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maximum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deviation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in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bandwidth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is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about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0.7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dB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. 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40648" y="316119"/>
            <a:ext cx="2117465" cy="57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800" b="1" i="0" cap="small" baseline="0" dirty="0" smtClean="0">
                <a:solidFill>
                  <a:srgbClr val="C00000"/>
                </a:solidFill>
              </a:rPr>
              <a:t>Cosmo </a:t>
            </a:r>
            <a:r>
              <a:rPr lang="it-IT" sz="1800" b="1" i="0" cap="small" baseline="0" dirty="0" err="1" smtClean="0">
                <a:solidFill>
                  <a:srgbClr val="C00000"/>
                </a:solidFill>
              </a:rPr>
              <a:t>Sky-Med</a:t>
            </a:r>
            <a:endParaRPr lang="it-IT" sz="1800" b="1" i="0" cap="small" baseline="0" dirty="0" smtClean="0">
              <a:solidFill>
                <a:srgbClr val="C00000"/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&amp;</a:t>
            </a:r>
            <a:r>
              <a:rPr lang="it-IT" sz="1000" i="0" kern="1200" cap="small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000" i="0" kern="1200" cap="small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BFN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6000" y="2199917"/>
            <a:ext cx="4320000" cy="3016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684989" y="1530748"/>
            <a:ext cx="4320000" cy="436981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Phase</a:t>
            </a:r>
            <a:r>
              <a:rPr lang="it-IT" sz="1600" kern="0" dirty="0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 H/V </a:t>
            </a:r>
            <a:r>
              <a:rPr lang="it-IT" sz="1600" kern="0" dirty="0" err="1" smtClean="0">
                <a:solidFill>
                  <a:srgbClr val="C00000"/>
                </a:solidFill>
                <a:latin typeface="+mn-lt"/>
                <a:ea typeface="+mj-ea"/>
                <a:cs typeface="Times New Roman" pitchFamily="18" charset="0"/>
              </a:rPr>
              <a:t>ports</a:t>
            </a:r>
            <a:endParaRPr lang="it-IT" sz="1600" kern="0" dirty="0" smtClean="0">
              <a:solidFill>
                <a:srgbClr val="C00000"/>
              </a:solidFill>
              <a:latin typeface="+mn-lt"/>
              <a:ea typeface="+mj-ea"/>
              <a:cs typeface="Times New Roman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736000" y="5508000"/>
            <a:ext cx="4320000" cy="661268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All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ports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 are in </a:t>
            </a:r>
            <a:r>
              <a:rPr lang="it-IT" sz="1400" kern="0" dirty="0" err="1" smtClean="0">
                <a:latin typeface="+mn-lt"/>
                <a:ea typeface="+mj-ea"/>
                <a:cs typeface="Times New Roman" pitchFamily="18" charset="0"/>
              </a:rPr>
              <a:t>phase</a:t>
            </a:r>
            <a:r>
              <a:rPr lang="it-IT" sz="1400" kern="0" dirty="0" smtClean="0">
                <a:latin typeface="+mn-lt"/>
                <a:ea typeface="+mj-ea"/>
                <a:cs typeface="Times New Roman" pitchFamily="18" charset="0"/>
              </a:rPr>
              <a:t>.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40648" y="316119"/>
            <a:ext cx="2117465" cy="57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800" b="1" cap="small" dirty="0" err="1" smtClean="0">
                <a:solidFill>
                  <a:srgbClr val="C00000"/>
                </a:solidFill>
              </a:rPr>
              <a:t>Array</a:t>
            </a:r>
            <a:r>
              <a:rPr lang="it-IT" sz="1800" b="1" cap="small" dirty="0" smtClean="0">
                <a:solidFill>
                  <a:srgbClr val="C00000"/>
                </a:solidFill>
              </a:rPr>
              <a:t> Design &amp;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Optimization</a:t>
            </a:r>
            <a:endParaRPr lang="it-IT" sz="1800" b="1" cap="small" dirty="0" smtClean="0">
              <a:solidFill>
                <a:srgbClr val="C00000"/>
              </a:solidFill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Phased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Analytic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&amp;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Heuristic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Array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Design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4287" y="1383192"/>
            <a:ext cx="3135601" cy="1214437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Design of a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large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planar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array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to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comply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to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specific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SAR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masks</a:t>
            </a:r>
            <a:endParaRPr lang="it-IT" sz="1600" kern="0" dirty="0" smtClean="0">
              <a:latin typeface="+mn-lt"/>
              <a:ea typeface="+mj-ea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68233" y="1420399"/>
            <a:ext cx="6055684" cy="71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8641" y="2498541"/>
            <a:ext cx="438150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380711"/>
            <a:ext cx="45243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96439" y="2187649"/>
            <a:ext cx="4800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800" b="1" cap="small" dirty="0" err="1" smtClean="0">
                <a:solidFill>
                  <a:srgbClr val="C00000"/>
                </a:solidFill>
              </a:rPr>
              <a:t>Array</a:t>
            </a:r>
            <a:r>
              <a:rPr lang="it-IT" sz="1800" b="1" cap="small" dirty="0" smtClean="0">
                <a:solidFill>
                  <a:srgbClr val="C00000"/>
                </a:solidFill>
              </a:rPr>
              <a:t> Design &amp;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Optimization</a:t>
            </a:r>
            <a:endParaRPr lang="it-IT" sz="1800" b="1" cap="small" dirty="0" smtClean="0">
              <a:solidFill>
                <a:srgbClr val="C00000"/>
              </a:solidFill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Phased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r>
              <a:rPr lang="it-IT" sz="1800" cap="small" dirty="0" err="1" smtClean="0"/>
              <a:t>Analytic</a:t>
            </a:r>
            <a:r>
              <a:rPr lang="it-IT" sz="1800" cap="small" dirty="0" smtClean="0"/>
              <a:t> &amp; </a:t>
            </a:r>
            <a:r>
              <a:rPr lang="it-IT" sz="1800" cap="small" dirty="0" err="1" smtClean="0"/>
              <a:t>Heuristic</a:t>
            </a:r>
            <a:r>
              <a:rPr lang="it-IT" sz="1800" cap="small" dirty="0" smtClean="0"/>
              <a:t> </a:t>
            </a:r>
            <a:r>
              <a:rPr lang="it-IT" sz="1800" cap="small" dirty="0" err="1" smtClean="0"/>
              <a:t>Array</a:t>
            </a:r>
            <a:r>
              <a:rPr lang="it-IT" sz="1800" cap="small" dirty="0" smtClean="0"/>
              <a:t> Design</a:t>
            </a:r>
          </a:p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2140" y="1516092"/>
            <a:ext cx="6055684" cy="71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423" y="2317897"/>
            <a:ext cx="3358559" cy="3852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1475" y="1750053"/>
            <a:ext cx="3411118" cy="4661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800" b="1" cap="small" dirty="0" err="1" smtClean="0">
                <a:solidFill>
                  <a:srgbClr val="C00000"/>
                </a:solidFill>
              </a:rPr>
              <a:t>Array</a:t>
            </a:r>
            <a:r>
              <a:rPr lang="it-IT" sz="1800" b="1" cap="small" dirty="0" smtClean="0">
                <a:solidFill>
                  <a:srgbClr val="C00000"/>
                </a:solidFill>
              </a:rPr>
              <a:t> Design &amp;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Optimization</a:t>
            </a:r>
            <a:endParaRPr lang="it-IT" sz="1800" b="1" cap="small" dirty="0" smtClean="0">
              <a:solidFill>
                <a:srgbClr val="C00000"/>
              </a:solidFill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Phased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818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of Planar and Linear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Arrays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4287" y="1383192"/>
            <a:ext cx="3135601" cy="1214437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Development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of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new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Multi-Objective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techniques</a:t>
            </a:r>
            <a:endParaRPr lang="it-IT" sz="1600" kern="0" dirty="0" smtClean="0">
              <a:latin typeface="+mn-lt"/>
              <a:ea typeface="+mj-ea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74287" y="1445142"/>
            <a:ext cx="5431687" cy="1769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33776" y="3273278"/>
            <a:ext cx="5222801" cy="198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8659" y="2041452"/>
            <a:ext cx="2877972" cy="423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10761" y="3774558"/>
            <a:ext cx="5966689" cy="2456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800" b="1" cap="small" dirty="0" err="1" smtClean="0">
                <a:solidFill>
                  <a:srgbClr val="C00000"/>
                </a:solidFill>
              </a:rPr>
              <a:t>Array</a:t>
            </a:r>
            <a:r>
              <a:rPr lang="it-IT" sz="1800" b="1" cap="small" dirty="0" smtClean="0">
                <a:solidFill>
                  <a:srgbClr val="C00000"/>
                </a:solidFill>
              </a:rPr>
              <a:t> Design &amp;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Optimization</a:t>
            </a:r>
            <a:endParaRPr lang="it-IT" sz="1800" b="1" cap="small" dirty="0" smtClean="0">
              <a:solidFill>
                <a:srgbClr val="C00000"/>
              </a:solidFill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Phased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4888800" y="108000"/>
            <a:ext cx="4818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of Planar and Linear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Arrays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114" y="1317553"/>
            <a:ext cx="3689505" cy="1201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418" y="3306726"/>
            <a:ext cx="3492685" cy="249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7761" y="3221666"/>
            <a:ext cx="5717161" cy="266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95823" y="1365002"/>
            <a:ext cx="5859203" cy="154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800" b="1" cap="small" dirty="0" err="1" smtClean="0">
                <a:solidFill>
                  <a:srgbClr val="C00000"/>
                </a:solidFill>
              </a:rPr>
              <a:t>Array</a:t>
            </a:r>
            <a:r>
              <a:rPr lang="it-IT" sz="1800" b="1" cap="small" dirty="0" smtClean="0">
                <a:solidFill>
                  <a:srgbClr val="C00000"/>
                </a:solidFill>
              </a:rPr>
              <a:t> Design &amp;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Optimization</a:t>
            </a:r>
            <a:endParaRPr lang="it-IT" sz="1800" b="1" cap="small" dirty="0" smtClean="0">
              <a:solidFill>
                <a:srgbClr val="C00000"/>
              </a:solidFill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Phased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818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of Planar and Linear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Arrays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4287" y="1383192"/>
            <a:ext cx="3135601" cy="1214437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Multibeam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thinned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arrays</a:t>
            </a:r>
            <a:endParaRPr lang="it-IT" sz="1600" kern="0" dirty="0" smtClean="0">
              <a:latin typeface="+mn-lt"/>
              <a:ea typeface="+mj-ea"/>
              <a:cs typeface="Times New Roman" pitchFamily="18" charset="0"/>
            </a:endParaRPr>
          </a:p>
          <a:p>
            <a:pPr algn="just">
              <a:defRPr/>
            </a:pPr>
            <a:endParaRPr lang="it-IT" sz="1600" kern="0" dirty="0" smtClean="0">
              <a:latin typeface="+mn-lt"/>
              <a:ea typeface="+mj-ea"/>
              <a:cs typeface="Times New Roman" pitchFamily="18" charset="0"/>
            </a:endParaRPr>
          </a:p>
          <a:p>
            <a:pPr algn="just">
              <a:defRPr/>
            </a:pP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(APS 2007)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16817" y="1365398"/>
            <a:ext cx="5344633" cy="2020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61366" y="3504863"/>
            <a:ext cx="5010593" cy="2792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8294" y="3862167"/>
            <a:ext cx="3067050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82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800" b="1" cap="small" dirty="0" err="1" smtClean="0">
                <a:solidFill>
                  <a:srgbClr val="C00000"/>
                </a:solidFill>
              </a:rPr>
              <a:t>Array</a:t>
            </a:r>
            <a:r>
              <a:rPr lang="it-IT" sz="1800" b="1" cap="small" dirty="0" smtClean="0">
                <a:solidFill>
                  <a:srgbClr val="C00000"/>
                </a:solidFill>
              </a:rPr>
              <a:t> Design &amp;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Optimization</a:t>
            </a:r>
            <a:endParaRPr lang="it-IT" sz="1800" b="1" cap="small" dirty="0" smtClean="0">
              <a:solidFill>
                <a:srgbClr val="C00000"/>
              </a:solidFill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Phased</a:t>
            </a:r>
            <a:r>
              <a:rPr lang="it-IT" sz="1000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array </a:t>
            </a:r>
            <a:r>
              <a:rPr lang="it-IT" sz="1000" i="0" kern="120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analysis</a:t>
            </a:r>
            <a:endParaRPr lang="it-IT" sz="10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818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of Planar and Linear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Arrays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4287" y="1383192"/>
            <a:ext cx="3135601" cy="1214437"/>
          </a:xfrm>
          <a:prstGeom prst="rect">
            <a:avLst/>
          </a:prstGeom>
        </p:spPr>
        <p:txBody>
          <a:bodyPr/>
          <a:lstStyle/>
          <a:p>
            <a:pPr algn="just">
              <a:defRPr/>
            </a:pP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Element</a:t>
            </a: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 </a:t>
            </a:r>
            <a:r>
              <a:rPr lang="it-IT" sz="1600" kern="0" dirty="0" err="1" smtClean="0">
                <a:latin typeface="+mn-lt"/>
                <a:ea typeface="+mj-ea"/>
                <a:cs typeface="Times New Roman" pitchFamily="18" charset="0"/>
              </a:rPr>
              <a:t>coupling</a:t>
            </a:r>
            <a:endParaRPr lang="it-IT" sz="1600" kern="0" dirty="0" smtClean="0">
              <a:latin typeface="+mn-lt"/>
              <a:ea typeface="+mj-ea"/>
              <a:cs typeface="Times New Roman" pitchFamily="18" charset="0"/>
            </a:endParaRPr>
          </a:p>
          <a:p>
            <a:pPr algn="just">
              <a:defRPr/>
            </a:pPr>
            <a:endParaRPr lang="it-IT" sz="1600" kern="0" dirty="0" smtClean="0">
              <a:latin typeface="+mn-lt"/>
              <a:ea typeface="+mj-ea"/>
              <a:cs typeface="Times New Roman" pitchFamily="18" charset="0"/>
            </a:endParaRPr>
          </a:p>
          <a:p>
            <a:pPr algn="just">
              <a:defRPr/>
            </a:pPr>
            <a:r>
              <a:rPr lang="it-IT" sz="1600" kern="0" dirty="0" smtClean="0">
                <a:latin typeface="+mn-lt"/>
                <a:ea typeface="+mj-ea"/>
                <a:cs typeface="Times New Roman" pitchFamily="18" charset="0"/>
              </a:rPr>
              <a:t>(APS 2008)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93264" y="1403276"/>
            <a:ext cx="4894521" cy="2180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21126" y="4119786"/>
            <a:ext cx="5147598" cy="172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5548" y="2264735"/>
            <a:ext cx="3603438" cy="4044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203200" y="108000"/>
            <a:ext cx="468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b="1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</a:t>
            </a:r>
            <a:r>
              <a:rPr lang="it-IT" sz="1000" b="1" i="0" kern="1200" cap="small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&amp; </a:t>
            </a:r>
            <a:r>
              <a:rPr lang="it-IT" sz="1000" b="1" i="0" kern="1200" cap="small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b="1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800" b="1" i="0" kern="1200" cap="small" baseline="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p</a:t>
            </a:r>
            <a:r>
              <a:rPr lang="it-IT" sz="1800" b="1" i="0" kern="1200" cap="small" baseline="0" dirty="0" err="1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hased</a:t>
            </a:r>
            <a:r>
              <a:rPr lang="it-IT" sz="1800" b="1" cap="small" dirty="0" smtClean="0">
                <a:solidFill>
                  <a:srgbClr val="C00000"/>
                </a:solidFill>
              </a:rPr>
              <a:t> </a:t>
            </a:r>
            <a:r>
              <a:rPr lang="it-IT" sz="1800" b="1" i="0" kern="1200" cap="small" baseline="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array pattern </a:t>
            </a:r>
            <a:r>
              <a:rPr lang="it-IT" sz="1800" b="1" i="0" kern="1200" cap="small" baseline="0" dirty="0" err="1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computation</a:t>
            </a:r>
            <a:endParaRPr lang="it-IT" sz="1800" b="1" i="0" kern="1200" cap="small" baseline="0" dirty="0" smtClean="0">
              <a:solidFill>
                <a:srgbClr val="C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8888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Introduction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" name="TextBox 4"/>
          <p:cNvSpPr txBox="1"/>
          <p:nvPr/>
        </p:nvSpPr>
        <p:spPr>
          <a:xfrm>
            <a:off x="416496" y="1988254"/>
            <a:ext cx="576064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Need for </a:t>
            </a:r>
            <a:r>
              <a:rPr lang="en-US" sz="1800" u="sng" dirty="0" smtClean="0"/>
              <a:t>fast and accurate</a:t>
            </a:r>
            <a:r>
              <a:rPr lang="en-US" sz="1800" dirty="0" smtClean="0"/>
              <a:t> prediction of large phased array antennas pattern in front of a </a:t>
            </a:r>
            <a:r>
              <a:rPr lang="en-US" sz="1800" u="sng" dirty="0" err="1" smtClean="0"/>
              <a:t>beamsteering</a:t>
            </a:r>
            <a:r>
              <a:rPr lang="en-US" sz="1800" dirty="0" smtClean="0"/>
              <a:t> process: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pPr marL="285750" indent="-285750">
              <a:buFontTx/>
              <a:buChar char="-"/>
            </a:pPr>
            <a:r>
              <a:rPr lang="en-US" sz="1600" dirty="0" smtClean="0"/>
              <a:t>Finite elements (FE) with geometric </a:t>
            </a:r>
            <a:r>
              <a:rPr lang="en-US" sz="1600" dirty="0" err="1" smtClean="0"/>
              <a:t>multigrid</a:t>
            </a:r>
            <a:r>
              <a:rPr lang="en-US" sz="1600" dirty="0" smtClean="0"/>
              <a:t> preconditioned iterative solvers are employed for near field computations (including antennas coupling, dielectric losses, etc.)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 smtClean="0"/>
              <a:t>Near field to far field transformation (N2F): Stratton-Chu formulas for pattern computation using a Fourier approximation (FFT)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 smtClean="0"/>
              <a:t>A projection-based model order reduction (MOR) allows for</a:t>
            </a:r>
            <a:r>
              <a:rPr lang="en-US" sz="1600" dirty="0"/>
              <a:t> </a:t>
            </a:r>
            <a:r>
              <a:rPr lang="en-US" sz="1600" dirty="0" smtClean="0"/>
              <a:t>significant pattern computations speedup</a:t>
            </a:r>
          </a:p>
        </p:txBody>
      </p:sp>
      <p:grpSp>
        <p:nvGrpSpPr>
          <p:cNvPr id="13" name="Group 6"/>
          <p:cNvGrpSpPr/>
          <p:nvPr/>
        </p:nvGrpSpPr>
        <p:grpSpPr>
          <a:xfrm>
            <a:off x="6555290" y="1556792"/>
            <a:ext cx="2736304" cy="1819272"/>
            <a:chOff x="6555291" y="1395533"/>
            <a:chExt cx="2736304" cy="1819272"/>
          </a:xfrm>
        </p:grpSpPr>
        <p:pic>
          <p:nvPicPr>
            <p:cNvPr id="14" name="Picture 5" descr="C:\Work\_Publications\RiNEm2012\MORarray_Barzilai\presentation\img\Rat31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291" y="1395533"/>
              <a:ext cx="2736304" cy="181927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C:\Work\_Publications\RiNEm2012\MORarray_Barzilai\presentation\img\1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240345">
              <a:off x="7596122" y="1975951"/>
              <a:ext cx="950912" cy="7048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5"/>
          <p:cNvGrpSpPr/>
          <p:nvPr/>
        </p:nvGrpSpPr>
        <p:grpSpPr>
          <a:xfrm>
            <a:off x="6648418" y="3933055"/>
            <a:ext cx="2550049" cy="1912537"/>
            <a:chOff x="6648418" y="3933055"/>
            <a:chExt cx="2550049" cy="1912537"/>
          </a:xfrm>
        </p:grpSpPr>
        <p:pic>
          <p:nvPicPr>
            <p:cNvPr id="17" name="Picture 6" descr="C:\Work\_Publications\RiNEm2012\MORarray_Barzilai\presentation\img\pic1081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8418" y="3933055"/>
              <a:ext cx="2550049" cy="191253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C:\Work\_Publications\RiNEm2012\MORarray_Barzilai\presentation\img\2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2249231">
              <a:off x="8056306" y="4142101"/>
              <a:ext cx="731838" cy="7191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/>
          <p:cNvSpPr txBox="1"/>
          <p:nvPr/>
        </p:nvSpPr>
        <p:spPr>
          <a:xfrm>
            <a:off x="48888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Radiation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800" cap="small" dirty="0" err="1" smtClean="0"/>
              <a:t>m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odel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grpSp>
        <p:nvGrpSpPr>
          <p:cNvPr id="30" name="Group 16"/>
          <p:cNvGrpSpPr/>
          <p:nvPr/>
        </p:nvGrpSpPr>
        <p:grpSpPr>
          <a:xfrm>
            <a:off x="5241032" y="1268760"/>
            <a:ext cx="4592960" cy="3384376"/>
            <a:chOff x="5414644" y="819900"/>
            <a:chExt cx="4592960" cy="3384376"/>
          </a:xfrm>
        </p:grpSpPr>
        <p:pic>
          <p:nvPicPr>
            <p:cNvPr id="31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652" y="1772816"/>
              <a:ext cx="4146868" cy="2431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" name="TextBox 12"/>
            <p:cNvSpPr txBox="1"/>
            <p:nvPr/>
          </p:nvSpPr>
          <p:spPr>
            <a:xfrm>
              <a:off x="5414644" y="819900"/>
              <a:ext cx="45929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u="sng" dirty="0" smtClean="0"/>
                <a:t>Projection-based MOR</a:t>
              </a:r>
              <a:r>
                <a:rPr lang="en-US" sz="1600" dirty="0" smtClean="0"/>
                <a:t>: </a:t>
              </a:r>
              <a:r>
                <a:rPr lang="en-US" sz="1600" b="1" dirty="0" smtClean="0"/>
                <a:t>V </a:t>
              </a:r>
              <a:r>
                <a:rPr lang="en-US" sz="1600" dirty="0" smtClean="0"/>
                <a:t>is a collection of </a:t>
              </a:r>
              <a:r>
                <a:rPr lang="en-US" sz="1600" i="1" dirty="0" smtClean="0"/>
                <a:t>P</a:t>
              </a:r>
              <a:r>
                <a:rPr lang="en-US" sz="1600" dirty="0" smtClean="0"/>
                <a:t> linearly independent solutions for different scan angles (</a:t>
              </a:r>
              <a:r>
                <a:rPr lang="el-GR" sz="1600" i="1" dirty="0" smtClean="0"/>
                <a:t>θ</a:t>
              </a:r>
              <a:r>
                <a:rPr lang="en-US" sz="1600" baseline="-25000" dirty="0" smtClean="0"/>
                <a:t>s</a:t>
              </a:r>
              <a:r>
                <a:rPr lang="en-US" sz="1600" dirty="0" smtClean="0"/>
                <a:t>,</a:t>
              </a:r>
              <a:r>
                <a:rPr lang="el-GR" sz="1600" i="1" dirty="0" smtClean="0"/>
                <a:t>ϕ</a:t>
              </a:r>
              <a:r>
                <a:rPr lang="en-US" sz="1600" baseline="-25000" dirty="0" smtClean="0"/>
                <a:t>s</a:t>
              </a:r>
              <a:r>
                <a:rPr lang="en-US" sz="1600" dirty="0" smtClean="0"/>
                <a:t>)</a:t>
              </a:r>
              <a:endParaRPr lang="en-US" sz="2000" b="1" dirty="0"/>
            </a:p>
          </p:txBody>
        </p:sp>
      </p:grpSp>
      <p:grpSp>
        <p:nvGrpSpPr>
          <p:cNvPr id="33" name="Group 18"/>
          <p:cNvGrpSpPr/>
          <p:nvPr/>
        </p:nvGrpSpPr>
        <p:grpSpPr>
          <a:xfrm>
            <a:off x="3512840" y="4890646"/>
            <a:ext cx="3114955" cy="1418674"/>
            <a:chOff x="3350213" y="4602614"/>
            <a:chExt cx="3114955" cy="1418674"/>
          </a:xfrm>
        </p:grpSpPr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2516" y="5013176"/>
              <a:ext cx="2788568" cy="1008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5" name="TextBox 17"/>
            <p:cNvSpPr txBox="1"/>
            <p:nvPr/>
          </p:nvSpPr>
          <p:spPr>
            <a:xfrm>
              <a:off x="3350213" y="4602614"/>
              <a:ext cx="31149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u="sng" dirty="0" smtClean="0"/>
                <a:t>Reduced order radiation system</a:t>
              </a:r>
              <a:endParaRPr lang="en-US" u="sng" dirty="0"/>
            </a:p>
          </p:txBody>
        </p:sp>
      </p:grpSp>
      <p:grpSp>
        <p:nvGrpSpPr>
          <p:cNvPr id="36" name="Group 23"/>
          <p:cNvGrpSpPr/>
          <p:nvPr/>
        </p:nvGrpSpPr>
        <p:grpSpPr>
          <a:xfrm>
            <a:off x="200472" y="1165085"/>
            <a:ext cx="4752528" cy="3547914"/>
            <a:chOff x="200472" y="673174"/>
            <a:chExt cx="4752528" cy="3547914"/>
          </a:xfrm>
        </p:grpSpPr>
        <p:grpSp>
          <p:nvGrpSpPr>
            <p:cNvPr id="37" name="Group 15"/>
            <p:cNvGrpSpPr/>
            <p:nvPr/>
          </p:nvGrpSpPr>
          <p:grpSpPr>
            <a:xfrm>
              <a:off x="200472" y="673174"/>
              <a:ext cx="4752528" cy="3547914"/>
              <a:chOff x="200472" y="673174"/>
              <a:chExt cx="4752528" cy="3547914"/>
            </a:xfrm>
          </p:grpSpPr>
          <p:pic>
            <p:nvPicPr>
              <p:cNvPr id="40" name="Picture 4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534" y="1646539"/>
                <a:ext cx="3944466" cy="25025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1" name="TextBox 3"/>
              <p:cNvSpPr txBox="1"/>
              <p:nvPr/>
            </p:nvSpPr>
            <p:spPr>
              <a:xfrm>
                <a:off x="1640632" y="673174"/>
                <a:ext cx="21339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u="sng" dirty="0" smtClean="0"/>
                  <a:t>Full radiation system</a:t>
                </a:r>
                <a:endParaRPr lang="en-US" u="sng" dirty="0"/>
              </a:p>
            </p:txBody>
          </p:sp>
          <p:sp>
            <p:nvSpPr>
              <p:cNvPr id="42" name="Left Brace 11"/>
              <p:cNvSpPr/>
              <p:nvPr/>
            </p:nvSpPr>
            <p:spPr>
              <a:xfrm>
                <a:off x="776536" y="1556792"/>
                <a:ext cx="144016" cy="1341017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Left Brace 13"/>
              <p:cNvSpPr/>
              <p:nvPr/>
            </p:nvSpPr>
            <p:spPr>
              <a:xfrm>
                <a:off x="776536" y="2916538"/>
                <a:ext cx="144016" cy="1304550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14"/>
              <p:cNvSpPr txBox="1"/>
              <p:nvPr/>
            </p:nvSpPr>
            <p:spPr>
              <a:xfrm>
                <a:off x="200472" y="2060848"/>
                <a:ext cx="4235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FE</a:t>
                </a:r>
                <a:endParaRPr lang="en-US" sz="1600" dirty="0"/>
              </a:p>
            </p:txBody>
          </p:sp>
          <p:sp>
            <p:nvSpPr>
              <p:cNvPr id="45" name="TextBox 22"/>
              <p:cNvSpPr txBox="1"/>
              <p:nvPr/>
            </p:nvSpPr>
            <p:spPr>
              <a:xfrm>
                <a:off x="201296" y="3399536"/>
                <a:ext cx="54854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N2F</a:t>
                </a:r>
              </a:p>
              <a:p>
                <a:endParaRPr lang="en-US" sz="1600" dirty="0"/>
              </a:p>
            </p:txBody>
          </p:sp>
        </p:grpSp>
        <p:sp>
          <p:nvSpPr>
            <p:cNvPr id="38" name="Right Brace 20"/>
            <p:cNvSpPr/>
            <p:nvPr/>
          </p:nvSpPr>
          <p:spPr>
            <a:xfrm rot="16200000">
              <a:off x="3418500" y="824239"/>
              <a:ext cx="288032" cy="1440160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28"/>
            <p:cNvSpPr txBox="1"/>
            <p:nvPr/>
          </p:nvSpPr>
          <p:spPr>
            <a:xfrm>
              <a:off x="1943843" y="1124744"/>
              <a:ext cx="3009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Complex weighting at ports excitations</a:t>
              </a:r>
              <a:endParaRPr lang="en-US" sz="1400" dirty="0"/>
            </a:p>
          </p:txBody>
        </p:sp>
      </p:grpSp>
      <p:cxnSp>
        <p:nvCxnSpPr>
          <p:cNvPr id="46" name="Straight Connector 26"/>
          <p:cNvCxnSpPr/>
          <p:nvPr/>
        </p:nvCxnSpPr>
        <p:spPr>
          <a:xfrm>
            <a:off x="5184576" y="1208897"/>
            <a:ext cx="0" cy="35882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29"/>
          <p:cNvCxnSpPr/>
          <p:nvPr/>
        </p:nvCxnSpPr>
        <p:spPr>
          <a:xfrm>
            <a:off x="200472" y="4818638"/>
            <a:ext cx="95770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asellaDiTesto 1"/>
          <p:cNvSpPr txBox="1"/>
          <p:nvPr/>
        </p:nvSpPr>
        <p:spPr>
          <a:xfrm>
            <a:off x="203200" y="108000"/>
            <a:ext cx="468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b="1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</a:t>
            </a:r>
            <a:r>
              <a:rPr lang="it-IT" sz="1000" b="1" i="0" kern="1200" cap="small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&amp; </a:t>
            </a:r>
            <a:r>
              <a:rPr lang="it-IT" sz="1000" b="1" i="0" kern="1200" cap="small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b="1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800" b="1" i="0" kern="1200" cap="small" baseline="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p</a:t>
            </a:r>
            <a:r>
              <a:rPr lang="it-IT" sz="1800" b="1" i="0" kern="1200" cap="small" baseline="0" dirty="0" err="1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hased</a:t>
            </a:r>
            <a:r>
              <a:rPr lang="it-IT" sz="1800" b="1" cap="small" dirty="0" smtClean="0">
                <a:solidFill>
                  <a:srgbClr val="C00000"/>
                </a:solidFill>
              </a:rPr>
              <a:t> </a:t>
            </a:r>
            <a:r>
              <a:rPr lang="it-IT" sz="1800" b="1" i="0" kern="1200" cap="small" baseline="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array pattern </a:t>
            </a:r>
            <a:r>
              <a:rPr lang="it-IT" sz="1800" b="1" i="0" kern="1200" cap="small" baseline="0" dirty="0" err="1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computation</a:t>
            </a:r>
            <a:endParaRPr lang="it-IT" sz="1800" b="1" i="0" kern="1200" cap="small" baseline="0" dirty="0" smtClean="0">
              <a:solidFill>
                <a:srgbClr val="C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" name="TextBox 28"/>
          <p:cNvSpPr txBox="1"/>
          <p:nvPr/>
        </p:nvSpPr>
        <p:spPr>
          <a:xfrm>
            <a:off x="7368363" y="5479816"/>
            <a:ext cx="1988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S-parameters retrievable from </a:t>
            </a:r>
            <a:r>
              <a:rPr lang="en-US" sz="1400" b="1" dirty="0" smtClean="0"/>
              <a:t>V</a:t>
            </a:r>
            <a:r>
              <a:rPr lang="en-US" sz="1400" i="1" dirty="0" smtClean="0"/>
              <a:t> </a:t>
            </a:r>
            <a:r>
              <a:rPr lang="en-US" sz="1400" b="1" dirty="0" smtClean="0">
                <a:latin typeface="Times New Roman"/>
                <a:cs typeface="Times New Roman"/>
              </a:rPr>
              <a:t>e͂</a:t>
            </a:r>
            <a:endParaRPr lang="en-US" sz="1400" b="1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/>
          <p:cNvSpPr txBox="1"/>
          <p:nvPr/>
        </p:nvSpPr>
        <p:spPr>
          <a:xfrm>
            <a:off x="48888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Numerical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results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60512" y="1864420"/>
            <a:ext cx="3702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3x5 coaxial-fed rectangular patch antennas array:</a:t>
            </a:r>
          </a:p>
          <a:p>
            <a:pPr marL="285750" indent="-285750">
              <a:buFontTx/>
              <a:buChar char="-"/>
            </a:pPr>
            <a:r>
              <a:rPr lang="en-US" sz="1600" dirty="0" smtClean="0"/>
              <a:t>Working frequency: 2.35 GHz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0992" t="2980" r="13815" b="4225"/>
          <a:stretch/>
        </p:blipFill>
        <p:spPr bwMode="auto">
          <a:xfrm>
            <a:off x="317611" y="3455893"/>
            <a:ext cx="4644355" cy="2931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096" t="3468" r="6652" b="3604"/>
          <a:stretch/>
        </p:blipFill>
        <p:spPr bwMode="auto">
          <a:xfrm>
            <a:off x="5004508" y="1411940"/>
            <a:ext cx="4492234" cy="2623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4"/>
          <p:cNvSpPr txBox="1"/>
          <p:nvPr/>
        </p:nvSpPr>
        <p:spPr>
          <a:xfrm>
            <a:off x="5399522" y="4733126"/>
            <a:ext cx="37022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Vector </a:t>
            </a:r>
            <a:r>
              <a:rPr lang="en-US" sz="1600" dirty="0" smtClean="0"/>
              <a:t>Helmholtz equation </a:t>
            </a:r>
            <a:r>
              <a:rPr lang="en-US" sz="1600" dirty="0"/>
              <a:t>for the electric field with 1</a:t>
            </a:r>
            <a:r>
              <a:rPr lang="en-US" sz="1600" baseline="30000" dirty="0"/>
              <a:t>st</a:t>
            </a:r>
            <a:r>
              <a:rPr lang="en-US" sz="1600" dirty="0"/>
              <a:t> order edge basis functions:</a:t>
            </a:r>
          </a:p>
          <a:p>
            <a:pPr marL="285750" indent="-285750">
              <a:buFontTx/>
              <a:buChar char="-"/>
            </a:pPr>
            <a:r>
              <a:rPr lang="en-US" sz="1600" dirty="0" smtClean="0"/>
              <a:t>Mesh </a:t>
            </a:r>
            <a:r>
              <a:rPr lang="en-US" sz="1600" dirty="0" err="1" smtClean="0"/>
              <a:t>tetrahedra</a:t>
            </a:r>
            <a:r>
              <a:rPr lang="en-US" sz="1600" dirty="0" smtClean="0"/>
              <a:t>: 292’410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F</a:t>
            </a:r>
            <a:r>
              <a:rPr lang="en-US" sz="1600" dirty="0" smtClean="0"/>
              <a:t>ull radiation model rank: 358’648</a:t>
            </a:r>
            <a:endParaRPr lang="en-US" sz="1600" dirty="0"/>
          </a:p>
        </p:txBody>
      </p:sp>
      <p:sp>
        <p:nvSpPr>
          <p:cNvPr id="11" name="CasellaDiTesto 1"/>
          <p:cNvSpPr txBox="1"/>
          <p:nvPr/>
        </p:nvSpPr>
        <p:spPr>
          <a:xfrm>
            <a:off x="203200" y="108000"/>
            <a:ext cx="468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b="1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</a:t>
            </a:r>
            <a:r>
              <a:rPr lang="it-IT" sz="1000" b="1" i="0" kern="1200" cap="small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&amp; </a:t>
            </a:r>
            <a:r>
              <a:rPr lang="it-IT" sz="1000" b="1" i="0" kern="1200" cap="small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b="1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800" b="1" i="0" kern="1200" cap="small" baseline="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p</a:t>
            </a:r>
            <a:r>
              <a:rPr lang="it-IT" sz="1800" b="1" i="0" kern="1200" cap="small" baseline="0" dirty="0" err="1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hased</a:t>
            </a:r>
            <a:r>
              <a:rPr lang="it-IT" sz="1800" b="1" cap="small" dirty="0" smtClean="0">
                <a:solidFill>
                  <a:srgbClr val="C00000"/>
                </a:solidFill>
              </a:rPr>
              <a:t> </a:t>
            </a:r>
            <a:r>
              <a:rPr lang="it-IT" sz="1800" b="1" i="0" kern="1200" cap="small" baseline="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array pattern </a:t>
            </a:r>
            <a:r>
              <a:rPr lang="it-IT" sz="1800" b="1" i="0" kern="1200" cap="small" baseline="0" dirty="0" err="1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computation</a:t>
            </a:r>
            <a:endParaRPr lang="it-IT" sz="1800" b="1" i="0" kern="1200" cap="small" baseline="0" dirty="0" smtClean="0">
              <a:solidFill>
                <a:srgbClr val="C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3759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/>
          <p:cNvSpPr txBox="1"/>
          <p:nvPr/>
        </p:nvSpPr>
        <p:spPr>
          <a:xfrm>
            <a:off x="4888800" y="108000"/>
            <a:ext cx="405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  <a:p>
            <a:pPr algn="l"/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Numerical</a:t>
            </a:r>
            <a:r>
              <a:rPr lang="it-IT" sz="1800" i="0" kern="1200" cap="small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</a:t>
            </a:r>
            <a:r>
              <a:rPr lang="it-IT" sz="1800" i="0" kern="1200" cap="small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results</a:t>
            </a:r>
            <a:endParaRPr lang="it-IT" sz="1800" i="0" kern="1200" cap="small" baseline="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560512" y="1864420"/>
            <a:ext cx="508184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Rank(</a:t>
            </a:r>
            <a:r>
              <a:rPr lang="en-US" sz="1600" b="1" dirty="0" smtClean="0"/>
              <a:t>V</a:t>
            </a:r>
            <a:r>
              <a:rPr lang="en-US" sz="1600" dirty="0" smtClean="0"/>
              <a:t>) = 15 </a:t>
            </a:r>
            <a:r>
              <a:rPr lang="en-US" sz="1600" dirty="0"/>
              <a:t>(</a:t>
            </a:r>
            <a:r>
              <a:rPr lang="en-US" sz="1600" dirty="0" smtClean="0"/>
              <a:t>n° </a:t>
            </a:r>
            <a:r>
              <a:rPr lang="en-US" sz="1600" dirty="0"/>
              <a:t>of antennas</a:t>
            </a:r>
            <a:r>
              <a:rPr lang="en-US" sz="1600" dirty="0" smtClean="0"/>
              <a:t>)</a:t>
            </a:r>
          </a:p>
          <a:p>
            <a:endParaRPr lang="en-US" sz="1600" dirty="0"/>
          </a:p>
          <a:p>
            <a:pPr marL="342900" indent="-342900">
              <a:buFontTx/>
              <a:buChar char="-"/>
            </a:pPr>
            <a:r>
              <a:rPr lang="en-US" sz="1600" dirty="0"/>
              <a:t>n</a:t>
            </a:r>
            <a:r>
              <a:rPr lang="en-US" sz="1600" dirty="0" smtClean="0"/>
              <a:t>° </a:t>
            </a:r>
            <a:r>
              <a:rPr lang="en-US" sz="1600" dirty="0"/>
              <a:t>of </a:t>
            </a:r>
            <a:r>
              <a:rPr lang="en-US" sz="1600" dirty="0" err="1"/>
              <a:t>DoFs</a:t>
            </a:r>
            <a:r>
              <a:rPr lang="en-US" sz="1600" dirty="0"/>
              <a:t>: </a:t>
            </a:r>
            <a:r>
              <a:rPr lang="en-US" sz="1600" dirty="0" smtClean="0"/>
              <a:t>                                      358’648 </a:t>
            </a:r>
            <a:r>
              <a:rPr lang="en-US" sz="1600" dirty="0" smtClean="0">
                <a:sym typeface="Wingdings" pitchFamily="2" charset="2"/>
              </a:rPr>
              <a:t></a:t>
            </a:r>
            <a:r>
              <a:rPr lang="en-US" sz="1600" dirty="0" smtClean="0"/>
              <a:t> 15</a:t>
            </a:r>
          </a:p>
          <a:p>
            <a:pPr marL="342900" indent="-342900">
              <a:buFontTx/>
              <a:buChar char="-"/>
            </a:pPr>
            <a:r>
              <a:rPr lang="en-US" sz="1600" dirty="0" smtClean="0"/>
              <a:t>Memory </a:t>
            </a:r>
            <a:r>
              <a:rPr lang="en-US" sz="1600" dirty="0"/>
              <a:t>usage: </a:t>
            </a:r>
            <a:r>
              <a:rPr lang="en-US" sz="1600" dirty="0" smtClean="0"/>
              <a:t>                            625 </a:t>
            </a:r>
            <a:r>
              <a:rPr lang="en-US" sz="1600" dirty="0"/>
              <a:t>MB </a:t>
            </a:r>
            <a:r>
              <a:rPr lang="en-US" sz="1600" dirty="0" smtClean="0">
                <a:sym typeface="Wingdings" pitchFamily="2" charset="2"/>
              </a:rPr>
              <a:t></a:t>
            </a:r>
            <a:r>
              <a:rPr lang="en-US" sz="1600" dirty="0" smtClean="0"/>
              <a:t> </a:t>
            </a:r>
            <a:r>
              <a:rPr lang="en-US" sz="1600" dirty="0"/>
              <a:t>1.5 </a:t>
            </a:r>
            <a:r>
              <a:rPr lang="en-US" sz="1600" dirty="0" smtClean="0"/>
              <a:t>MB</a:t>
            </a:r>
          </a:p>
          <a:p>
            <a:pPr marL="342900" indent="-342900">
              <a:buFontTx/>
              <a:buChar char="-"/>
            </a:pPr>
            <a:r>
              <a:rPr lang="en-US" sz="1600" dirty="0" smtClean="0"/>
              <a:t>MOR error</a:t>
            </a:r>
            <a:r>
              <a:rPr lang="en-US" sz="1600" dirty="0"/>
              <a:t>: </a:t>
            </a:r>
            <a:r>
              <a:rPr lang="en-US" sz="1600" dirty="0" smtClean="0"/>
              <a:t>                                           </a:t>
            </a:r>
            <a:r>
              <a:rPr lang="el-GR" sz="1600" i="1" dirty="0" smtClean="0"/>
              <a:t>ε</a:t>
            </a:r>
            <a:r>
              <a:rPr lang="en-US" sz="1600" dirty="0" smtClean="0"/>
              <a:t> </a:t>
            </a:r>
            <a:r>
              <a:rPr lang="el-GR" sz="1600" dirty="0" smtClean="0"/>
              <a:t>≤</a:t>
            </a:r>
            <a:r>
              <a:rPr lang="en-US" sz="1600" dirty="0" smtClean="0"/>
              <a:t> 10</a:t>
            </a:r>
            <a:r>
              <a:rPr lang="en-US" sz="1600" baseline="30000" dirty="0" smtClean="0"/>
              <a:t>-11</a:t>
            </a:r>
          </a:p>
          <a:p>
            <a:pPr marL="342900" indent="-342900">
              <a:buFontTx/>
              <a:buChar char="-"/>
            </a:pPr>
            <a:r>
              <a:rPr lang="en-US" sz="1600" dirty="0" smtClean="0"/>
              <a:t>2D-DFT </a:t>
            </a:r>
            <a:r>
              <a:rPr lang="en-US" sz="1600" dirty="0"/>
              <a:t>truncation error:  </a:t>
            </a:r>
            <a:r>
              <a:rPr lang="en-US" sz="1600" dirty="0" smtClean="0"/>
              <a:t>                   </a:t>
            </a:r>
            <a:r>
              <a:rPr lang="el-GR" sz="1600" i="1" dirty="0" smtClean="0"/>
              <a:t>ε</a:t>
            </a:r>
            <a:r>
              <a:rPr lang="en-US" sz="1600" baseline="-25000" dirty="0" smtClean="0"/>
              <a:t>n2f</a:t>
            </a:r>
            <a:r>
              <a:rPr lang="en-US" sz="1600" dirty="0" smtClean="0"/>
              <a:t> </a:t>
            </a:r>
            <a:r>
              <a:rPr lang="el-GR" sz="1600" dirty="0"/>
              <a:t>≤</a:t>
            </a:r>
            <a:r>
              <a:rPr lang="en-US" sz="1600" dirty="0"/>
              <a:t> </a:t>
            </a:r>
            <a:r>
              <a:rPr lang="en-US" sz="1600" dirty="0" smtClean="0"/>
              <a:t>10</a:t>
            </a:r>
            <a:r>
              <a:rPr lang="en-US" sz="1600" baseline="30000" dirty="0" smtClean="0"/>
              <a:t>-4 </a:t>
            </a:r>
            <a:endParaRPr lang="en-US" sz="1600" dirty="0" smtClean="0"/>
          </a:p>
          <a:p>
            <a:r>
              <a:rPr lang="de-DE" sz="1600" dirty="0" smtClean="0">
                <a:sym typeface="Wingdings" pitchFamily="2" charset="2"/>
              </a:rPr>
              <a:t>                                                      ≈ </a:t>
            </a:r>
            <a:r>
              <a:rPr lang="de-DE" sz="1600" dirty="0" smtClean="0"/>
              <a:t>0.01 </a:t>
            </a:r>
            <a:r>
              <a:rPr lang="de-DE" sz="1600" dirty="0"/>
              <a:t>dB </a:t>
            </a:r>
            <a:r>
              <a:rPr lang="de-DE" sz="1600" dirty="0" smtClean="0"/>
              <a:t>max. </a:t>
            </a:r>
            <a:r>
              <a:rPr lang="de-DE" sz="1600" dirty="0" err="1" smtClean="0"/>
              <a:t>gain</a:t>
            </a:r>
            <a:r>
              <a:rPr lang="de-DE" sz="1600" dirty="0" smtClean="0"/>
              <a:t> </a:t>
            </a:r>
            <a:r>
              <a:rPr lang="de-DE" sz="1600" dirty="0" err="1" smtClean="0"/>
              <a:t>error</a:t>
            </a:r>
            <a:endParaRPr lang="en-US" sz="1600" dirty="0"/>
          </a:p>
        </p:txBody>
      </p:sp>
      <p:sp>
        <p:nvSpPr>
          <p:cNvPr id="10" name="Rectangle 5"/>
          <p:cNvSpPr/>
          <p:nvPr/>
        </p:nvSpPr>
        <p:spPr>
          <a:xfrm>
            <a:off x="576064" y="4437112"/>
            <a:ext cx="4953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 smtClean="0"/>
              <a:t>Whole </a:t>
            </a:r>
            <a:r>
              <a:rPr lang="en-US" sz="1600" dirty="0"/>
              <a:t>movie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 smtClean="0"/>
              <a:t>for HFSS (commercial package)               </a:t>
            </a:r>
            <a:r>
              <a:rPr lang="sv-SE" sz="1600" dirty="0" smtClean="0"/>
              <a:t>10 </a:t>
            </a:r>
            <a:r>
              <a:rPr lang="sv-SE" sz="1600" dirty="0"/>
              <a:t>h 20 </a:t>
            </a:r>
            <a:r>
              <a:rPr lang="sv-SE" sz="1600" dirty="0" smtClean="0"/>
              <a:t>min</a:t>
            </a:r>
          </a:p>
          <a:p>
            <a:pPr marL="285750" indent="-285750">
              <a:buFontTx/>
              <a:buChar char="-"/>
            </a:pPr>
            <a:r>
              <a:rPr lang="en-US" sz="1600" dirty="0" smtClean="0"/>
              <a:t>for </a:t>
            </a:r>
            <a:r>
              <a:rPr lang="en-US" sz="1600" dirty="0"/>
              <a:t>the full parameterized </a:t>
            </a:r>
            <a:r>
              <a:rPr lang="en-US" sz="1600" dirty="0" smtClean="0"/>
              <a:t>model:                 1 </a:t>
            </a:r>
            <a:r>
              <a:rPr lang="en-US" sz="1600" dirty="0"/>
              <a:t>min 3 </a:t>
            </a:r>
            <a:r>
              <a:rPr lang="en-US" sz="1600" dirty="0" smtClean="0"/>
              <a:t>s</a:t>
            </a:r>
          </a:p>
          <a:p>
            <a:pPr marL="285750" indent="-285750">
              <a:buFontTx/>
              <a:buChar char="-"/>
            </a:pPr>
            <a:r>
              <a:rPr lang="en-US" sz="1600" dirty="0" smtClean="0"/>
              <a:t>for </a:t>
            </a:r>
            <a:r>
              <a:rPr lang="en-US" sz="1600" dirty="0"/>
              <a:t>the reduced parameterized </a:t>
            </a:r>
            <a:r>
              <a:rPr lang="en-US" sz="1600" dirty="0" smtClean="0"/>
              <a:t>model:                </a:t>
            </a:r>
            <a:r>
              <a:rPr lang="en-US" sz="1600" b="1" dirty="0" smtClean="0">
                <a:solidFill>
                  <a:srgbClr val="FF0000"/>
                </a:solidFill>
              </a:rPr>
              <a:t>8 </a:t>
            </a:r>
            <a:r>
              <a:rPr lang="en-US" sz="1600" b="1" dirty="0">
                <a:solidFill>
                  <a:srgbClr val="FF0000"/>
                </a:solidFill>
              </a:rPr>
              <a:t>s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4656" t="2688" r="15829"/>
          <a:stretch/>
        </p:blipFill>
        <p:spPr bwMode="auto">
          <a:xfrm>
            <a:off x="6093152" y="4534364"/>
            <a:ext cx="2705929" cy="1937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asellaDiTesto 1"/>
          <p:cNvSpPr txBox="1"/>
          <p:nvPr/>
        </p:nvSpPr>
        <p:spPr>
          <a:xfrm>
            <a:off x="203200" y="108000"/>
            <a:ext cx="468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000" b="1" i="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Cosmo </a:t>
            </a:r>
            <a:r>
              <a:rPr lang="it-IT" sz="1000" b="1" i="0" cap="small" baseline="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Sky-Med</a:t>
            </a:r>
            <a:endParaRPr lang="it-IT" sz="1000" b="1" i="0" cap="small" baseline="0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endParaRPr lang="it-IT" sz="800" b="1" i="0" cap="small" baseline="0" dirty="0" smtClean="0">
              <a:solidFill>
                <a:srgbClr val="C00000"/>
              </a:solidFill>
            </a:endParaRPr>
          </a:p>
          <a:p>
            <a:pPr algn="r"/>
            <a:r>
              <a:rPr lang="it-IT" sz="1000" b="1" i="0" kern="1200" cap="small" baseline="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Array Design </a:t>
            </a:r>
            <a:r>
              <a:rPr lang="it-IT" sz="1000" b="1" i="0" kern="1200" cap="small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 &amp; </a:t>
            </a:r>
            <a:r>
              <a:rPr lang="it-IT" sz="1000" b="1" i="0" kern="1200" cap="small" dirty="0" err="1" smtClean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itchFamily="18" charset="0"/>
                <a:ea typeface="+mn-ea"/>
                <a:cs typeface="+mn-cs"/>
              </a:rPr>
              <a:t>Optimization</a:t>
            </a:r>
            <a:endParaRPr lang="it-IT" sz="1000" b="1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endParaRPr lang="it-IT" sz="800" i="0" kern="1200" cap="small" baseline="0" dirty="0" smtClean="0">
              <a:solidFill>
                <a:schemeClr val="bg2">
                  <a:lumMod val="20000"/>
                  <a:lumOff val="80000"/>
                </a:schemeClr>
              </a:solidFill>
              <a:latin typeface="Times New Roman" pitchFamily="18" charset="0"/>
              <a:ea typeface="+mn-ea"/>
              <a:cs typeface="+mn-cs"/>
            </a:endParaRPr>
          </a:p>
          <a:p>
            <a:pPr algn="r"/>
            <a:r>
              <a:rPr lang="it-IT" sz="1800" b="1" i="0" kern="1200" cap="small" baseline="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Fast </a:t>
            </a:r>
            <a:r>
              <a:rPr lang="it-IT" sz="1800" b="1" cap="small" dirty="0" err="1" smtClean="0">
                <a:solidFill>
                  <a:srgbClr val="C00000"/>
                </a:solidFill>
              </a:rPr>
              <a:t>p</a:t>
            </a:r>
            <a:r>
              <a:rPr lang="it-IT" sz="1800" b="1" i="0" kern="1200" cap="small" baseline="0" dirty="0" err="1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hased</a:t>
            </a:r>
            <a:r>
              <a:rPr lang="it-IT" sz="1800" b="1" cap="small" dirty="0" smtClean="0">
                <a:solidFill>
                  <a:srgbClr val="C00000"/>
                </a:solidFill>
              </a:rPr>
              <a:t> </a:t>
            </a:r>
            <a:r>
              <a:rPr lang="it-IT" sz="1800" b="1" i="0" kern="1200" cap="small" baseline="0" dirty="0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array pattern </a:t>
            </a:r>
            <a:r>
              <a:rPr lang="it-IT" sz="1800" b="1" i="0" kern="1200" cap="small" baseline="0" dirty="0" err="1" smtClean="0">
                <a:solidFill>
                  <a:srgbClr val="C00000"/>
                </a:solidFill>
                <a:latin typeface="Times New Roman" pitchFamily="18" charset="0"/>
                <a:ea typeface="+mn-ea"/>
                <a:cs typeface="+mn-cs"/>
              </a:rPr>
              <a:t>computation</a:t>
            </a:r>
            <a:endParaRPr lang="it-IT" sz="1800" b="1" i="0" kern="1200" cap="small" baseline="0" dirty="0" smtClean="0">
              <a:solidFill>
                <a:srgbClr val="C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8" name="MovScan.wmv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 cstate="print"/>
          <a:stretch>
            <a:fillRect/>
          </a:stretch>
        </p:blipFill>
        <p:spPr>
          <a:xfrm>
            <a:off x="5530688" y="1541710"/>
            <a:ext cx="4322147" cy="28814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</TotalTime>
  <Words>1787</Words>
  <Application>Microsoft Office PowerPoint</Application>
  <PresentationFormat>A4 (21x29,7 cm)</PresentationFormat>
  <Paragraphs>261</Paragraphs>
  <Slides>22</Slides>
  <Notes>12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3" baseType="lpstr">
      <vt:lpstr>Struttura predefinita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</vt:vector>
  </TitlesOfParts>
  <Company>Unifi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Leonardo</dc:creator>
  <cp:lastModifiedBy>Laurent Ntibarikure</cp:lastModifiedBy>
  <cp:revision>362</cp:revision>
  <dcterms:created xsi:type="dcterms:W3CDTF">2007-10-05T09:23:17Z</dcterms:created>
  <dcterms:modified xsi:type="dcterms:W3CDTF">2012-11-05T10:22:19Z</dcterms:modified>
</cp:coreProperties>
</file>