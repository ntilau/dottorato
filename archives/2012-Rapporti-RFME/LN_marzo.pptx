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9" r:id="rId2"/>
    <p:sldId id="266" r:id="rId3"/>
    <p:sldId id="260" r:id="rId4"/>
    <p:sldId id="261" r:id="rId5"/>
    <p:sldId id="265" r:id="rId6"/>
  </p:sldIdLst>
  <p:sldSz cx="9906000" cy="6858000" type="A4"/>
  <p:notesSz cx="7099300" cy="10234613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  <a:srgbClr val="A50021"/>
    <a:srgbClr val="660066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62" autoAdjust="0"/>
    <p:restoredTop sz="85379" autoAdjust="0"/>
  </p:normalViewPr>
  <p:slideViewPr>
    <p:cSldViewPr>
      <p:cViewPr varScale="1">
        <p:scale>
          <a:sx n="74" d="100"/>
          <a:sy n="74" d="100"/>
        </p:scale>
        <p:origin x="-1188" y="-4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76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2730" y="-108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wrap="square" lIns="99019" tIns="49509" rIns="99019" bIns="49509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Calibri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wrap="square" lIns="99019" tIns="49509" rIns="99019" bIns="49509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Calibri" pitchFamily="34" charset="0"/>
              </a:defRPr>
            </a:lvl1pPr>
          </a:lstStyle>
          <a:p>
            <a:pPr>
              <a:defRPr/>
            </a:pPr>
            <a:fld id="{AC6F0DED-C392-4C69-B8FF-D09EA5378327}" type="datetimeFigureOut">
              <a:rPr lang="it-IT"/>
              <a:pPr>
                <a:defRPr/>
              </a:pPr>
              <a:t>23/03/2012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wrap="square" lIns="99019" tIns="49509" rIns="99019" bIns="49509" numCol="1" anchor="b" anchorCtr="0" compatLnSpc="1">
            <a:prstTxWarp prst="textNoShape">
              <a:avLst/>
            </a:prstTxWarp>
          </a:bodyPr>
          <a:lstStyle>
            <a:lvl1pPr>
              <a:defRPr sz="1400">
                <a:latin typeface="Calibri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19" tIns="49509" rIns="99019" bIns="49509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Calibri" pitchFamily="34" charset="0"/>
              </a:defRPr>
            </a:lvl1pPr>
          </a:lstStyle>
          <a:p>
            <a:pPr>
              <a:defRPr/>
            </a:pPr>
            <a:fld id="{05F5A32C-B214-432D-8C7E-12D76A7E931D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54503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wrap="square" lIns="91430" tIns="45716" rIns="91430" bIns="45716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wrap="square" lIns="91430" tIns="45716" rIns="91430" bIns="4571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BBA96E8E-7F23-4FCD-B5C5-2720BB119994}" type="datetimeFigureOut">
              <a:rPr lang="it-IT"/>
              <a:pPr>
                <a:defRPr/>
              </a:pPr>
              <a:t>23/03/2012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768350"/>
            <a:ext cx="554355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0" tIns="45716" rIns="91430" bIns="45716" rtlCol="0" anchor="ctr"/>
          <a:lstStyle/>
          <a:p>
            <a:pPr lv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1430" tIns="45716" rIns="91430" bIns="45716" rtlCol="0">
            <a:normAutofit/>
          </a:bodyPr>
          <a:lstStyle/>
          <a:p>
            <a:pPr lvl="0"/>
            <a:r>
              <a:rPr lang="it-IT" noProof="0" smtClean="0"/>
              <a:t>Fare clic per modificare stili del testo dello schema</a:t>
            </a:r>
          </a:p>
          <a:p>
            <a:pPr lvl="1"/>
            <a:r>
              <a:rPr lang="it-IT" noProof="0" smtClean="0"/>
              <a:t>Secondo livello</a:t>
            </a:r>
          </a:p>
          <a:p>
            <a:pPr lvl="2"/>
            <a:r>
              <a:rPr lang="it-IT" noProof="0" smtClean="0"/>
              <a:t>Terzo livello</a:t>
            </a:r>
          </a:p>
          <a:p>
            <a:pPr lvl="3"/>
            <a:r>
              <a:rPr lang="it-IT" noProof="0" smtClean="0"/>
              <a:t>Quarto livello</a:t>
            </a:r>
          </a:p>
          <a:p>
            <a:pPr lvl="4"/>
            <a:r>
              <a:rPr lang="it-IT" noProof="0" smtClean="0"/>
              <a:t>Quinto livello</a:t>
            </a:r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wrap="square" lIns="91430" tIns="45716" rIns="91430" bIns="45716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1430" tIns="45716" rIns="91430" bIns="4571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EC67E35F-3D51-40E6-BD40-E57FDC5FC879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40310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b="0" err="1" smtClean="0">
                <a:latin typeface="Times New Roman" pitchFamily="18" charset="0"/>
                <a:cs typeface="Times New Roman" pitchFamily="18" charset="0"/>
              </a:rPr>
              <a:t>L’impiego</a:t>
            </a:r>
            <a:r>
              <a:rPr lang="en-US" b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err="1" smtClean="0">
                <a:latin typeface="Times New Roman" pitchFamily="18" charset="0"/>
                <a:cs typeface="Times New Roman" pitchFamily="18" charset="0"/>
              </a:rPr>
              <a:t>di</a:t>
            </a:r>
            <a:r>
              <a:rPr lang="en-US" b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err="1" smtClean="0">
                <a:latin typeface="Times New Roman" pitchFamily="18" charset="0"/>
                <a:cs typeface="Times New Roman" pitchFamily="18" charset="0"/>
              </a:rPr>
              <a:t>controllori</a:t>
            </a:r>
            <a:r>
              <a:rPr lang="en-US" b="0" smtClean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b="0" err="1" smtClean="0">
                <a:latin typeface="Times New Roman" pitchFamily="18" charset="0"/>
                <a:cs typeface="Times New Roman" pitchFamily="18" charset="0"/>
              </a:rPr>
              <a:t>frequenza</a:t>
            </a:r>
            <a:r>
              <a:rPr lang="en-US" b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err="1" smtClean="0">
                <a:latin typeface="Times New Roman" pitchFamily="18" charset="0"/>
                <a:cs typeface="Times New Roman" pitchFamily="18" charset="0"/>
              </a:rPr>
              <a:t>variabile</a:t>
            </a:r>
            <a:r>
              <a:rPr lang="en-US" b="0" smtClean="0">
                <a:latin typeface="Times New Roman" pitchFamily="18" charset="0"/>
                <a:cs typeface="Times New Roman" pitchFamily="18" charset="0"/>
              </a:rPr>
              <a:t> (VFD), in </a:t>
            </a:r>
            <a:r>
              <a:rPr lang="en-US" b="0" err="1" smtClean="0">
                <a:latin typeface="Times New Roman" pitchFamily="18" charset="0"/>
                <a:cs typeface="Times New Roman" pitchFamily="18" charset="0"/>
              </a:rPr>
              <a:t>particolare</a:t>
            </a:r>
            <a:r>
              <a:rPr lang="en-US" b="0" smtClean="0">
                <a:latin typeface="Times New Roman" pitchFamily="18" charset="0"/>
                <a:cs typeface="Times New Roman" pitchFamily="18" charset="0"/>
              </a:rPr>
              <a:t> per </a:t>
            </a:r>
            <a:r>
              <a:rPr lang="en-US" b="0" err="1" smtClean="0">
                <a:latin typeface="Times New Roman" pitchFamily="18" charset="0"/>
                <a:cs typeface="Times New Roman" pitchFamily="18" charset="0"/>
              </a:rPr>
              <a:t>il</a:t>
            </a:r>
            <a:r>
              <a:rPr lang="en-US" b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err="1" smtClean="0">
                <a:latin typeface="Times New Roman" pitchFamily="18" charset="0"/>
                <a:cs typeface="Times New Roman" pitchFamily="18" charset="0"/>
              </a:rPr>
              <a:t>pilotaggio</a:t>
            </a:r>
            <a:r>
              <a:rPr lang="en-US" b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err="1" smtClean="0">
                <a:latin typeface="Times New Roman" pitchFamily="18" charset="0"/>
                <a:cs typeface="Times New Roman" pitchFamily="18" charset="0"/>
              </a:rPr>
              <a:t>di</a:t>
            </a:r>
            <a:r>
              <a:rPr lang="en-US" b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err="1" smtClean="0">
                <a:latin typeface="Times New Roman" pitchFamily="18" charset="0"/>
                <a:cs typeface="Times New Roman" pitchFamily="18" charset="0"/>
              </a:rPr>
              <a:t>motori</a:t>
            </a:r>
            <a:r>
              <a:rPr lang="en-US" b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err="1" smtClean="0">
                <a:latin typeface="Times New Roman" pitchFamily="18" charset="0"/>
                <a:cs typeface="Times New Roman" pitchFamily="18" charset="0"/>
              </a:rPr>
              <a:t>di</a:t>
            </a:r>
            <a:r>
              <a:rPr lang="en-US" b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err="1" smtClean="0">
                <a:latin typeface="Times New Roman" pitchFamily="18" charset="0"/>
                <a:cs typeface="Times New Roman" pitchFamily="18" charset="0"/>
              </a:rPr>
              <a:t>grossa</a:t>
            </a:r>
            <a:r>
              <a:rPr lang="en-US" b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err="1" smtClean="0">
                <a:latin typeface="Times New Roman" pitchFamily="18" charset="0"/>
                <a:cs typeface="Times New Roman" pitchFamily="18" charset="0"/>
              </a:rPr>
              <a:t>taglia</a:t>
            </a:r>
            <a:r>
              <a:rPr lang="en-US" b="0" smtClean="0">
                <a:latin typeface="Times New Roman" pitchFamily="18" charset="0"/>
                <a:cs typeface="Times New Roman" pitchFamily="18" charset="0"/>
              </a:rPr>
              <a:t> (~MW), </a:t>
            </a:r>
            <a:r>
              <a:rPr lang="en-US" b="0" err="1" smtClean="0">
                <a:latin typeface="Times New Roman" pitchFamily="18" charset="0"/>
                <a:cs typeface="Times New Roman" pitchFamily="18" charset="0"/>
              </a:rPr>
              <a:t>richiede</a:t>
            </a:r>
            <a:r>
              <a:rPr lang="en-US" b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err="1" smtClean="0">
                <a:latin typeface="Times New Roman" pitchFamily="18" charset="0"/>
                <a:cs typeface="Times New Roman" pitchFamily="18" charset="0"/>
              </a:rPr>
              <a:t>un’attenta</a:t>
            </a:r>
            <a:r>
              <a:rPr lang="en-US" b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err="1" smtClean="0">
                <a:latin typeface="Times New Roman" pitchFamily="18" charset="0"/>
                <a:cs typeface="Times New Roman" pitchFamily="18" charset="0"/>
              </a:rPr>
              <a:t>analisi</a:t>
            </a:r>
            <a:r>
              <a:rPr lang="en-US" b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err="1" smtClean="0">
                <a:latin typeface="Times New Roman" pitchFamily="18" charset="0"/>
                <a:cs typeface="Times New Roman" pitchFamily="18" charset="0"/>
              </a:rPr>
              <a:t>delle</a:t>
            </a:r>
            <a:r>
              <a:rPr lang="en-US" b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err="1" smtClean="0">
                <a:latin typeface="Times New Roman" pitchFamily="18" charset="0"/>
                <a:cs typeface="Times New Roman" pitchFamily="18" charset="0"/>
              </a:rPr>
              <a:t>sorgenti</a:t>
            </a:r>
            <a:r>
              <a:rPr lang="en-US" b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err="1" smtClean="0">
                <a:latin typeface="Times New Roman" pitchFamily="18" charset="0"/>
                <a:cs typeface="Times New Roman" pitchFamily="18" charset="0"/>
              </a:rPr>
              <a:t>di</a:t>
            </a:r>
            <a:r>
              <a:rPr lang="en-US" b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err="1" smtClean="0">
                <a:latin typeface="Times New Roman" pitchFamily="18" charset="0"/>
                <a:cs typeface="Times New Roman" pitchFamily="18" charset="0"/>
              </a:rPr>
              <a:t>rumore</a:t>
            </a:r>
            <a:r>
              <a:rPr lang="en-US" b="0" smtClean="0">
                <a:latin typeface="Times New Roman" pitchFamily="18" charset="0"/>
                <a:cs typeface="Times New Roman" pitchFamily="18" charset="0"/>
              </a:rPr>
              <a:t> e </a:t>
            </a:r>
            <a:r>
              <a:rPr lang="en-US" b="0" err="1" smtClean="0">
                <a:latin typeface="Times New Roman" pitchFamily="18" charset="0"/>
                <a:cs typeface="Times New Roman" pitchFamily="18" charset="0"/>
              </a:rPr>
              <a:t>dei</a:t>
            </a:r>
            <a:r>
              <a:rPr lang="en-US" b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err="1" smtClean="0">
                <a:latin typeface="Times New Roman" pitchFamily="18" charset="0"/>
                <a:cs typeface="Times New Roman" pitchFamily="18" charset="0"/>
              </a:rPr>
              <a:t>percorsi</a:t>
            </a:r>
            <a:r>
              <a:rPr lang="en-US" b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err="1" smtClean="0">
                <a:latin typeface="Times New Roman" pitchFamily="18" charset="0"/>
                <a:cs typeface="Times New Roman" pitchFamily="18" charset="0"/>
              </a:rPr>
              <a:t>di</a:t>
            </a:r>
            <a:r>
              <a:rPr lang="en-US" b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err="1" smtClean="0">
                <a:latin typeface="Times New Roman" pitchFamily="18" charset="0"/>
                <a:cs typeface="Times New Roman" pitchFamily="18" charset="0"/>
              </a:rPr>
              <a:t>accoppiamento</a:t>
            </a:r>
            <a:r>
              <a:rPr lang="en-US" b="0" smtClean="0">
                <a:latin typeface="Times New Roman" pitchFamily="18" charset="0"/>
                <a:cs typeface="Times New Roman" pitchFamily="18" charset="0"/>
              </a:rPr>
              <a:t> del </a:t>
            </a:r>
            <a:r>
              <a:rPr lang="en-US" b="0" err="1" smtClean="0">
                <a:latin typeface="Times New Roman" pitchFamily="18" charset="0"/>
                <a:cs typeface="Times New Roman" pitchFamily="18" charset="0"/>
              </a:rPr>
              <a:t>disturbi</a:t>
            </a:r>
            <a:r>
              <a:rPr lang="en-US" b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err="1" smtClean="0">
                <a:latin typeface="Times New Roman" pitchFamily="18" charset="0"/>
                <a:cs typeface="Times New Roman" pitchFamily="18" charset="0"/>
              </a:rPr>
              <a:t>alle</a:t>
            </a:r>
            <a:r>
              <a:rPr lang="en-US" b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err="1" smtClean="0">
                <a:latin typeface="Times New Roman" pitchFamily="18" charset="0"/>
                <a:cs typeface="Times New Roman" pitchFamily="18" charset="0"/>
              </a:rPr>
              <a:t>potenziali</a:t>
            </a:r>
            <a:r>
              <a:rPr lang="en-US" b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err="1" smtClean="0">
                <a:latin typeface="Times New Roman" pitchFamily="18" charset="0"/>
                <a:cs typeface="Times New Roman" pitchFamily="18" charset="0"/>
              </a:rPr>
              <a:t>vittime</a:t>
            </a:r>
            <a:r>
              <a:rPr lang="en-US" b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8D26043-1944-4C3E-8757-8CD0E133A73F}" type="slidenum">
              <a:rPr lang="it-IT" smtClean="0"/>
              <a:pPr/>
              <a:t>4</a:t>
            </a:fld>
            <a:endParaRPr lang="it-IT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48544" y="54267"/>
            <a:ext cx="8208912" cy="422405"/>
          </a:xfrm>
          <a:prstGeom prst="rect">
            <a:avLst/>
          </a:prstGeom>
          <a:noFill/>
        </p:spPr>
        <p:txBody>
          <a:bodyPr wrap="square" lIns="180000" tIns="72000" rIns="180000" bIns="72000">
            <a:spAutoFit/>
          </a:bodyPr>
          <a:lstStyle>
            <a:lvl1pPr marL="0" indent="0" algn="ctr">
              <a:buFont typeface="Calibri" pitchFamily="34" charset="0"/>
              <a:buNone/>
              <a:defRPr sz="1800" b="1" i="0" cap="small" baseline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82563" indent="0" algn="just">
              <a:buFont typeface="Calibri" pitchFamily="34" charset="0"/>
              <a:buChar char=" "/>
              <a:defRPr sz="1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defRPr>
            </a:lvl2pPr>
          </a:lstStyle>
          <a:p>
            <a:pPr lvl="0"/>
            <a:r>
              <a:rPr lang="it-IT" dirty="0" smtClean="0"/>
              <a:t>Fare clic per modificare stili del testo dello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rrowheads="1"/>
          </p:cNvSpPr>
          <p:nvPr userDrawn="1"/>
        </p:nvSpPr>
        <p:spPr bwMode="auto">
          <a:xfrm>
            <a:off x="0" y="1"/>
            <a:ext cx="9906000" cy="54867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Calibri" pitchFamily="34" charset="0"/>
            </a:endParaRPr>
          </a:p>
        </p:txBody>
      </p:sp>
      <p:pic>
        <p:nvPicPr>
          <p:cNvPr id="14" name="Immagine 3"/>
          <p:cNvPicPr>
            <a:picLocks noChangeAspect="1"/>
          </p:cNvPicPr>
          <p:nvPr userDrawn="1"/>
        </p:nvPicPr>
        <p:blipFill>
          <a:blip r:embed="rId3" cstate="print">
            <a:lum bright="-40000" contrast="-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9595"/>
            <a:ext cx="509489" cy="509489"/>
          </a:xfrm>
          <a:prstGeom prst="rect">
            <a:avLst/>
          </a:prstGeom>
        </p:spPr>
      </p:pic>
      <p:pic>
        <p:nvPicPr>
          <p:cNvPr id="15" name="Immagine 4"/>
          <p:cNvPicPr>
            <a:picLocks noChangeAspect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456" y="6300"/>
            <a:ext cx="717626" cy="535035"/>
          </a:xfrm>
          <a:prstGeom prst="rect">
            <a:avLst/>
          </a:prstGeom>
        </p:spPr>
      </p:pic>
      <p:sp>
        <p:nvSpPr>
          <p:cNvPr id="16" name="CasellaDiTesto 2"/>
          <p:cNvSpPr txBox="1"/>
          <p:nvPr userDrawn="1"/>
        </p:nvSpPr>
        <p:spPr>
          <a:xfrm>
            <a:off x="0" y="6572092"/>
            <a:ext cx="9906000" cy="33855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u="none" kern="0" baseline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L. </a:t>
            </a:r>
            <a:r>
              <a:rPr lang="en-US" sz="1600" u="none" kern="0" baseline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Ntibarikure</a:t>
            </a:r>
            <a:r>
              <a:rPr lang="en-US" sz="1600" u="none" kern="0" baseline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 - Firenze 26/01/2012</a:t>
            </a:r>
            <a:endParaRPr lang="en-US" sz="1600" u="none" kern="0" baseline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9144000" y="6566288"/>
            <a:ext cx="7642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54DCE1-82B9-457D-880A-9A34368A0971}" type="slidenum">
              <a:rPr lang="en-US" sz="160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‹N›</a:t>
            </a:fld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/11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/>
          <p:cNvSpPr txBox="1"/>
          <p:nvPr/>
        </p:nvSpPr>
        <p:spPr>
          <a:xfrm>
            <a:off x="0" y="2999358"/>
            <a:ext cx="9906000" cy="3508653"/>
          </a:xfrm>
          <a:prstGeom prst="rect">
            <a:avLst/>
          </a:prstGeom>
          <a:noFill/>
          <a:ln cap="rnd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eaLnBrk="0" hangingPunct="0">
              <a:defRPr/>
            </a:pPr>
            <a:r>
              <a:rPr lang="it-IT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Laurent Ntibarikure</a:t>
            </a:r>
          </a:p>
          <a:p>
            <a:pPr algn="ctr" eaLnBrk="0" hangingPunct="0">
              <a:defRPr/>
            </a:pPr>
            <a:endParaRPr lang="it-IT" dirty="0">
              <a:solidFill>
                <a:srgbClr val="66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 eaLnBrk="0" hangingPunct="0">
              <a:defRPr/>
            </a:pP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Laboratorio di Microelettronica </a:t>
            </a:r>
            <a:r>
              <a:rPr lang="it-IT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ed </a:t>
            </a: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Ingegneria delle </a:t>
            </a:r>
            <a:r>
              <a:rPr lang="it-IT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Microonde</a:t>
            </a:r>
          </a:p>
          <a:p>
            <a:pPr algn="ctr" eaLnBrk="0" hangingPunct="0">
              <a:defRPr/>
            </a:pPr>
            <a:r>
              <a:rPr lang="it-IT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Gruppo di Ricerca in «RF, Microonde ed Elettromagnetismo»</a:t>
            </a:r>
            <a:endParaRPr lang="it-IT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 eaLnBrk="0" hangingPunct="0">
              <a:defRPr/>
            </a:pP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Dipartimento di Elettronica e Telecomunicazioni </a:t>
            </a:r>
          </a:p>
          <a:p>
            <a:pPr algn="ctr" eaLnBrk="0" hangingPunct="0">
              <a:defRPr/>
            </a:pP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Università </a:t>
            </a:r>
            <a:r>
              <a:rPr lang="it-IT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degli Studi di </a:t>
            </a: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Firenze</a:t>
            </a:r>
          </a:p>
          <a:p>
            <a:pPr lvl="3" algn="just" eaLnBrk="0" hangingPunct="0">
              <a:defRPr/>
            </a:pPr>
            <a:endParaRPr lang="it-IT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lvl="3" algn="just" eaLnBrk="0" hangingPunct="0">
              <a:defRPr/>
            </a:pPr>
            <a:r>
              <a:rPr lang="it-IT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Tutori</a:t>
            </a: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4" algn="just" eaLnBrk="0" hangingPunct="0">
              <a:defRPr/>
            </a:pP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Prof. Giuseppe Pelosi</a:t>
            </a:r>
          </a:p>
          <a:p>
            <a:pPr lvl="4" algn="just" eaLnBrk="0" hangingPunct="0">
              <a:defRPr/>
            </a:pP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Prof. Dr. </a:t>
            </a:r>
            <a:r>
              <a:rPr lang="it-IT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techn. </a:t>
            </a: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Romanus </a:t>
            </a:r>
            <a:r>
              <a:rPr lang="it-IT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Dyczij-Edlinger</a:t>
            </a:r>
            <a:endParaRPr lang="it-IT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lvl="4" algn="just" eaLnBrk="0" hangingPunct="0">
              <a:defRPr/>
            </a:pP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Dr. Ing. Stefano Selleri</a:t>
            </a:r>
          </a:p>
          <a:p>
            <a:pPr lvl="4" algn="just" eaLnBrk="0" hangingPunct="0">
              <a:defRPr/>
            </a:pP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Ing. Gabrio Martini</a:t>
            </a:r>
          </a:p>
        </p:txBody>
      </p:sp>
      <p:sp>
        <p:nvSpPr>
          <p:cNvPr id="7" name="Segnaposto testo 2"/>
          <p:cNvSpPr txBox="1">
            <a:spLocks/>
          </p:cNvSpPr>
          <p:nvPr/>
        </p:nvSpPr>
        <p:spPr>
          <a:xfrm>
            <a:off x="0" y="692696"/>
            <a:ext cx="9906000" cy="215443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it-IT" sz="3200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Planning dell’attività di ricerca – Marzo 2012</a:t>
            </a:r>
          </a:p>
          <a:p>
            <a:pPr marL="342900" indent="-342900" algn="ctr">
              <a:spcBef>
                <a:spcPct val="20000"/>
              </a:spcBef>
              <a:defRPr/>
            </a:pPr>
            <a:r>
              <a:rPr lang="it-IT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Dottorato </a:t>
            </a:r>
            <a:r>
              <a:rPr lang="it-IT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di </a:t>
            </a:r>
            <a:r>
              <a:rPr lang="it-IT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ricerca </a:t>
            </a:r>
            <a:r>
              <a:rPr lang="it-IT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in </a:t>
            </a:r>
          </a:p>
          <a:p>
            <a:pPr marL="342900" indent="-342900" algn="ctr">
              <a:spcBef>
                <a:spcPct val="20000"/>
              </a:spcBef>
              <a:defRPr/>
            </a:pPr>
            <a:r>
              <a:rPr lang="it-IT" i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Tecnologie Elettroniche per </a:t>
            </a:r>
            <a:r>
              <a:rPr lang="it-IT" i="1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l’Ingegneria dell’Informazione</a:t>
            </a:r>
            <a:endParaRPr lang="it-IT" i="1" kern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>
              <a:spcBef>
                <a:spcPct val="20000"/>
              </a:spcBef>
              <a:defRPr/>
            </a:pPr>
            <a:r>
              <a:rPr lang="it-IT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Indirizzo </a:t>
            </a:r>
            <a:endParaRPr lang="it-IT" kern="0" dirty="0" smtClea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>
              <a:spcBef>
                <a:spcPct val="20000"/>
              </a:spcBef>
              <a:defRPr/>
            </a:pPr>
            <a:r>
              <a:rPr lang="it-IT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it-IT" i="1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RF</a:t>
            </a:r>
            <a:r>
              <a:rPr lang="it-IT" i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, Microwaves and </a:t>
            </a:r>
            <a:r>
              <a:rPr lang="it-IT" i="1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Electromagnetics</a:t>
            </a:r>
            <a:r>
              <a:rPr lang="it-IT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”</a:t>
            </a:r>
          </a:p>
          <a:p>
            <a:pPr marL="342900" indent="-342900" algn="ctr">
              <a:spcBef>
                <a:spcPct val="20000"/>
              </a:spcBef>
              <a:defRPr/>
            </a:pPr>
            <a:r>
              <a:rPr lang="it-IT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Ciclo XXVI</a:t>
            </a:r>
            <a:endParaRPr lang="it-IT" kern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FEM </a:t>
            </a:r>
            <a:r>
              <a:rPr lang="en-US" dirty="0" err="1"/>
              <a:t>nonlineare</a:t>
            </a:r>
            <a:r>
              <a:rPr lang="en-US" dirty="0"/>
              <a:t> per </a:t>
            </a:r>
            <a:r>
              <a:rPr lang="en-US" dirty="0" err="1"/>
              <a:t>giunzioni</a:t>
            </a:r>
            <a:r>
              <a:rPr lang="en-US" dirty="0"/>
              <a:t> a ferrite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568" y="1556792"/>
            <a:ext cx="2981325" cy="314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ttangolo 3"/>
          <p:cNvSpPr/>
          <p:nvPr/>
        </p:nvSpPr>
        <p:spPr>
          <a:xfrm>
            <a:off x="1280592" y="5446965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Koshiba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Suzuki, “Finite-Element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Analysis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H-Plane Waveguide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Junction with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Arbitrarily Shaped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Ferrite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Post”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MTT-34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1, Jan. 1986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4968" y="2000570"/>
            <a:ext cx="4391840" cy="2462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7053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ontent Placeholder 1"/>
          <p:cNvSpPr>
            <a:spLocks noGrp="1"/>
          </p:cNvSpPr>
          <p:nvPr>
            <p:ph idx="1"/>
          </p:nvPr>
        </p:nvSpPr>
        <p:spPr bwMode="auto">
          <a:xfrm>
            <a:off x="848544" y="54267"/>
            <a:ext cx="8208912" cy="422405"/>
          </a:xfrm>
          <a:ln>
            <a:miter lim="800000"/>
            <a:headEnd/>
            <a:tailEnd/>
          </a:ln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dirty="0" smtClean="0"/>
              <a:t>FEM </a:t>
            </a:r>
            <a:r>
              <a:rPr lang="en-US" dirty="0" err="1" smtClean="0"/>
              <a:t>nonlineare</a:t>
            </a:r>
            <a:r>
              <a:rPr lang="en-US" dirty="0" smtClean="0"/>
              <a:t> per </a:t>
            </a:r>
            <a:r>
              <a:rPr lang="en-US" dirty="0" err="1" smtClean="0"/>
              <a:t>giunzioni</a:t>
            </a:r>
            <a:r>
              <a:rPr lang="en-US" dirty="0" smtClean="0"/>
              <a:t> a ferrite</a:t>
            </a:r>
            <a:endParaRPr lang="en-US" dirty="0" smtClean="0"/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520" y="834023"/>
            <a:ext cx="3531096" cy="2648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8864" y="819371"/>
            <a:ext cx="3671527" cy="2753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512" y="3645024"/>
            <a:ext cx="3701819" cy="2776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5202" y="3645024"/>
            <a:ext cx="3671527" cy="2753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751" y="1052736"/>
            <a:ext cx="1543050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asellaDiTesto 1"/>
          <p:cNvSpPr txBox="1"/>
          <p:nvPr/>
        </p:nvSpPr>
        <p:spPr>
          <a:xfrm>
            <a:off x="7257256" y="4651941"/>
            <a:ext cx="20633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Permeabilità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fino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al </a:t>
            </a:r>
          </a:p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2°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ordine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1"/>
          <p:cNvSpPr>
            <a:spLocks noGrp="1"/>
          </p:cNvSpPr>
          <p:nvPr>
            <p:ph idx="1"/>
          </p:nvPr>
        </p:nvSpPr>
        <p:spPr bwMode="auto">
          <a:ln>
            <a:miter lim="800000"/>
            <a:headEnd/>
            <a:tailEnd/>
          </a:ln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dirty="0" smtClean="0"/>
              <a:t>FEM </a:t>
            </a:r>
            <a:r>
              <a:rPr lang="en-US" dirty="0" err="1" smtClean="0"/>
              <a:t>nonlineare</a:t>
            </a:r>
            <a:r>
              <a:rPr lang="en-US" dirty="0" smtClean="0"/>
              <a:t> per </a:t>
            </a:r>
            <a:r>
              <a:rPr lang="en-US" dirty="0" err="1" smtClean="0"/>
              <a:t>giunzioni</a:t>
            </a:r>
            <a:r>
              <a:rPr lang="en-US" dirty="0" smtClean="0"/>
              <a:t> a ferrite</a:t>
            </a:r>
            <a:endParaRPr lang="en-US" dirty="0" smtClean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229" y="1700808"/>
            <a:ext cx="4680520" cy="3510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072" y="620688"/>
            <a:ext cx="3917843" cy="2938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072" y="3532533"/>
            <a:ext cx="3960440" cy="2970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asellaDiTesto 1"/>
          <p:cNvSpPr txBox="1"/>
          <p:nvPr/>
        </p:nvSpPr>
        <p:spPr>
          <a:xfrm>
            <a:off x="2631758" y="537321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f1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CasellaDiTesto 27"/>
          <p:cNvSpPr txBox="1"/>
          <p:nvPr/>
        </p:nvSpPr>
        <p:spPr>
          <a:xfrm>
            <a:off x="4911333" y="1905213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2f1-f2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CasellaDiTesto 29"/>
          <p:cNvSpPr txBox="1"/>
          <p:nvPr/>
        </p:nvSpPr>
        <p:spPr>
          <a:xfrm>
            <a:off x="4953000" y="4833032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2f2-f1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CasellaDiTesto 30"/>
          <p:cNvSpPr txBox="1"/>
          <p:nvPr/>
        </p:nvSpPr>
        <p:spPr>
          <a:xfrm>
            <a:off x="806098" y="908720"/>
            <a:ext cx="4290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f1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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(8-12 GHz):  1 W, f2 = 7.8 GHz  : 10 W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Matching </a:t>
            </a:r>
            <a:r>
              <a:rPr lang="en-US" dirty="0" err="1" smtClean="0"/>
              <a:t>nei</a:t>
            </a:r>
            <a:r>
              <a:rPr lang="en-US" dirty="0" smtClean="0"/>
              <a:t> </a:t>
            </a:r>
            <a:r>
              <a:rPr lang="en-US" dirty="0" err="1" smtClean="0"/>
              <a:t>risultati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072" y="1350860"/>
            <a:ext cx="2879028" cy="27045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ttangolo 2"/>
          <p:cNvSpPr/>
          <p:nvPr/>
        </p:nvSpPr>
        <p:spPr>
          <a:xfrm>
            <a:off x="1568624" y="4400576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H.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How,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Vittoria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R. Schmidt, “Nonlinear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Intermodulation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Coupling in Ferrite Circulator Junctions”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MTT-45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2, Feb. 1997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2640" y="1584158"/>
            <a:ext cx="2719549" cy="2471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84523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A50021"/>
        </a:solidFill>
        <a:ln w="9525">
          <a:solidFill>
            <a:srgbClr val="A50021"/>
          </a:solidFill>
          <a:miter lim="800000"/>
          <a:headEnd/>
          <a:tailEnd/>
        </a:ln>
      </a:spPr>
      <a:bodyPr wrap="none" anchor="ctr"/>
      <a:lstStyle>
        <a:defPPr>
          <a:defRPr>
            <a:latin typeface="Calibri" pitchFamily="34" charset="0"/>
          </a:defRPr>
        </a:defPPr>
      </a:lstStyle>
    </a:spDef>
    <a:txDef>
      <a:spPr>
        <a:noFill/>
      </a:spPr>
      <a:bodyPr wrap="none" rtlCol="0">
        <a:spAutoFit/>
      </a:bodyPr>
      <a:lstStyle>
        <a:defPPr>
          <a:defRPr dirty="0" smtClean="0">
            <a:latin typeface="Times New Roman" pitchFamily="18" charset="0"/>
            <a:cs typeface="Times New Roman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7830</TotalTime>
  <Words>220</Words>
  <Application>Microsoft Office PowerPoint</Application>
  <PresentationFormat>A4 (21x29,7 cm)</PresentationFormat>
  <Paragraphs>32</Paragraphs>
  <Slides>5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Ruggero Taddei</dc:creator>
  <cp:lastModifiedBy>Laurent Ntibarikure</cp:lastModifiedBy>
  <cp:revision>648</cp:revision>
  <dcterms:created xsi:type="dcterms:W3CDTF">2010-02-04T15:36:28Z</dcterms:created>
  <dcterms:modified xsi:type="dcterms:W3CDTF">2012-03-23T16:19:51Z</dcterms:modified>
</cp:coreProperties>
</file>