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mv" ContentType="video/x-ms-wm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364" r:id="rId2"/>
    <p:sldId id="344" r:id="rId3"/>
    <p:sldId id="365" r:id="rId4"/>
  </p:sldIdLst>
  <p:sldSz cx="9906000" cy="6858000" type="A4"/>
  <p:notesSz cx="6797675" cy="9928225"/>
  <p:defaultTextStyle>
    <a:defPPr>
      <a:defRPr lang="it-IT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800000"/>
    <a:srgbClr val="000066"/>
    <a:srgbClr val="993300"/>
    <a:srgbClr val="000000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647" autoAdjust="0"/>
    <p:restoredTop sz="90929"/>
  </p:normalViewPr>
  <p:slideViewPr>
    <p:cSldViewPr>
      <p:cViewPr varScale="1">
        <p:scale>
          <a:sx n="94" d="100"/>
          <a:sy n="94" d="100"/>
        </p:scale>
        <p:origin x="-990" y="-78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90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</p:spPr>
        <p:txBody>
          <a:bodyPr vert="horz" lIns="88222" tIns="44110" rIns="88222" bIns="44110" rtlCol="0"/>
          <a:lstStyle>
            <a:lvl1pPr algn="l">
              <a:defRPr sz="1200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</p:spPr>
        <p:txBody>
          <a:bodyPr vert="horz" lIns="88222" tIns="44110" rIns="88222" bIns="44110" rtlCol="0"/>
          <a:lstStyle>
            <a:lvl1pPr algn="r">
              <a:defRPr sz="1200"/>
            </a:lvl1pPr>
          </a:lstStyle>
          <a:p>
            <a:pPr>
              <a:defRPr/>
            </a:pPr>
            <a:fld id="{003A7252-F403-4CD3-8C8F-8EB15D9FE5F7}" type="datetimeFigureOut">
              <a:rPr lang="it-IT"/>
              <a:pPr>
                <a:defRPr/>
              </a:pPr>
              <a:t>31/10/2012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9431338"/>
            <a:ext cx="2946400" cy="495300"/>
          </a:xfrm>
          <a:prstGeom prst="rect">
            <a:avLst/>
          </a:prstGeom>
        </p:spPr>
        <p:txBody>
          <a:bodyPr vert="horz" lIns="88222" tIns="44110" rIns="88222" bIns="4411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49688" y="9431338"/>
            <a:ext cx="2946400" cy="495300"/>
          </a:xfrm>
          <a:prstGeom prst="rect">
            <a:avLst/>
          </a:prstGeom>
        </p:spPr>
        <p:txBody>
          <a:bodyPr vert="horz" lIns="88222" tIns="44110" rIns="88222" bIns="44110" rtlCol="0" anchor="b"/>
          <a:lstStyle>
            <a:lvl1pPr algn="r">
              <a:defRPr sz="1200"/>
            </a:lvl1pPr>
          </a:lstStyle>
          <a:p>
            <a:pPr>
              <a:defRPr/>
            </a:pPr>
            <a:fld id="{920ADADD-040F-4855-940D-8658246759DD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261180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62" tIns="47782" rIns="95562" bIns="47782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62" tIns="47782" rIns="95562" bIns="47782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204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2788" y="746125"/>
            <a:ext cx="5372100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4875"/>
            <a:ext cx="4984750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62" tIns="47782" rIns="95562" bIns="4778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noProof="0" smtClean="0"/>
              <a:t>Fare clic per modificare gli stili del testo dello schema</a:t>
            </a:r>
          </a:p>
          <a:p>
            <a:pPr lvl="1"/>
            <a:r>
              <a:rPr lang="it-IT" noProof="0" smtClean="0"/>
              <a:t>Secondo livello</a:t>
            </a:r>
          </a:p>
          <a:p>
            <a:pPr lvl="2"/>
            <a:r>
              <a:rPr lang="it-IT" noProof="0" smtClean="0"/>
              <a:t>Terzo livello</a:t>
            </a:r>
          </a:p>
          <a:p>
            <a:pPr lvl="3"/>
            <a:r>
              <a:rPr lang="it-IT" noProof="0" smtClean="0"/>
              <a:t>Quarto livello</a:t>
            </a:r>
          </a:p>
          <a:p>
            <a:pPr lvl="4"/>
            <a:r>
              <a:rPr lang="it-IT" noProof="0" smtClean="0"/>
              <a:t>Quinto livello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62" tIns="47782" rIns="95562" bIns="47782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62" tIns="47782" rIns="95562" bIns="47782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fld id="{70FAAE39-5ED8-411C-AAA6-C1E0DD3E896A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927720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3"/>
          <p:cNvSpPr>
            <a:spLocks noChangeArrowheads="1"/>
          </p:cNvSpPr>
          <p:nvPr userDrawn="1"/>
        </p:nvSpPr>
        <p:spPr bwMode="auto">
          <a:xfrm>
            <a:off x="9000039" y="6530801"/>
            <a:ext cx="817562" cy="28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007334E5-3E48-4B91-B630-53698E094A86}" type="slidenum">
              <a:rPr lang="it-IT" sz="140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lang="it-IT" sz="1400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/19</a:t>
            </a:r>
            <a:endParaRPr lang="it-IT" sz="1400" dirty="0">
              <a:solidFill>
                <a:schemeClr val="accent6">
                  <a:lumMod val="50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3" name="Immagine 11" descr="logo-unifi.gif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9853" y="6256163"/>
            <a:ext cx="574675" cy="557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8" name="Connettore 1 17"/>
          <p:cNvCxnSpPr/>
          <p:nvPr userDrawn="1"/>
        </p:nvCxnSpPr>
        <p:spPr>
          <a:xfrm>
            <a:off x="200472" y="1052736"/>
            <a:ext cx="9505056" cy="0"/>
          </a:xfrm>
          <a:prstGeom prst="line">
            <a:avLst/>
          </a:prstGeom>
          <a:ln w="28575">
            <a:solidFill>
              <a:srgbClr val="A500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1 18"/>
          <p:cNvCxnSpPr/>
          <p:nvPr userDrawn="1"/>
        </p:nvCxnSpPr>
        <p:spPr>
          <a:xfrm>
            <a:off x="862459" y="6453336"/>
            <a:ext cx="8843069" cy="0"/>
          </a:xfrm>
          <a:prstGeom prst="line">
            <a:avLst/>
          </a:prstGeom>
          <a:ln w="28575">
            <a:solidFill>
              <a:srgbClr val="A500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16496" y="1988254"/>
            <a:ext cx="576064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/>
              <a:t>Need for </a:t>
            </a:r>
            <a:r>
              <a:rPr lang="en-US" sz="1800" u="sng" dirty="0" smtClean="0"/>
              <a:t>fast and accurate</a:t>
            </a:r>
            <a:r>
              <a:rPr lang="en-US" sz="1800" dirty="0" smtClean="0"/>
              <a:t> prediction of large phased array antennas pattern in front of a </a:t>
            </a:r>
            <a:r>
              <a:rPr lang="en-US" sz="1800" u="sng" dirty="0" err="1" smtClean="0"/>
              <a:t>beamsteering</a:t>
            </a:r>
            <a:r>
              <a:rPr lang="en-US" sz="1800" dirty="0" smtClean="0"/>
              <a:t> process:</a:t>
            </a:r>
          </a:p>
          <a:p>
            <a:endParaRPr lang="en-US" sz="1600" dirty="0" smtClean="0"/>
          </a:p>
          <a:p>
            <a:endParaRPr lang="en-US" sz="1600" dirty="0" smtClean="0"/>
          </a:p>
          <a:p>
            <a:pPr marL="285750" indent="-285750">
              <a:buFontTx/>
              <a:buChar char="-"/>
            </a:pPr>
            <a:r>
              <a:rPr lang="en-US" sz="1600" dirty="0" smtClean="0"/>
              <a:t>Finite elements (FE) with geometric </a:t>
            </a:r>
            <a:r>
              <a:rPr lang="en-US" sz="1600" dirty="0" err="1" smtClean="0"/>
              <a:t>multigrid</a:t>
            </a:r>
            <a:r>
              <a:rPr lang="en-US" sz="1600" dirty="0" smtClean="0"/>
              <a:t> preconditioned iterative solvers are employed for near field computations (including antennas coupling, dielectric losses, etc.)</a:t>
            </a:r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r>
              <a:rPr lang="en-US" sz="1600" dirty="0" smtClean="0"/>
              <a:t>Near field to far field transformation (N2F): Stratton-Chu formulas for pattern computation using a Fourier approximation (FFT)</a:t>
            </a:r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r>
              <a:rPr lang="en-US" sz="1600" dirty="0" smtClean="0"/>
              <a:t>A projection-based model order reduction (MOR) allows for</a:t>
            </a:r>
            <a:r>
              <a:rPr lang="en-US" sz="1600" dirty="0"/>
              <a:t> </a:t>
            </a:r>
            <a:r>
              <a:rPr lang="en-US" sz="1600" dirty="0" smtClean="0"/>
              <a:t>significant pattern computations speedup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6555290" y="1556792"/>
            <a:ext cx="2736304" cy="1819272"/>
            <a:chOff x="6555291" y="1395533"/>
            <a:chExt cx="2736304" cy="1819272"/>
          </a:xfrm>
        </p:grpSpPr>
        <p:pic>
          <p:nvPicPr>
            <p:cNvPr id="2" name="Picture 5" descr="C:\Work\_Publications\RiNEm2012\MORarray_Barzilai\presentation\img\Rat31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5291" y="1395533"/>
              <a:ext cx="2736304" cy="18192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938" name="Picture 2" descr="C:\Work\_Publications\RiNEm2012\MORarray_Barzilai\presentation\img\1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240345">
              <a:off x="7596122" y="1975951"/>
              <a:ext cx="950912" cy="7048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" name="Group 5"/>
          <p:cNvGrpSpPr/>
          <p:nvPr/>
        </p:nvGrpSpPr>
        <p:grpSpPr>
          <a:xfrm>
            <a:off x="6648418" y="3933055"/>
            <a:ext cx="2550049" cy="1912537"/>
            <a:chOff x="6648418" y="3933055"/>
            <a:chExt cx="2550049" cy="1912537"/>
          </a:xfrm>
        </p:grpSpPr>
        <p:pic>
          <p:nvPicPr>
            <p:cNvPr id="3" name="Picture 6" descr="C:\Work\_Publications\RiNEm2012\MORarray_Barzilai\presentation\img\pic1081.jp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48418" y="3933055"/>
              <a:ext cx="2550049" cy="19125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940" name="Picture 4" descr="C:\Work\_Publications\RiNEm2012\MORarray_Barzilai\presentation\img\2.png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2249231">
              <a:off x="8056306" y="4142101"/>
              <a:ext cx="731838" cy="7191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TextBox 7"/>
          <p:cNvSpPr txBox="1"/>
          <p:nvPr/>
        </p:nvSpPr>
        <p:spPr>
          <a:xfrm>
            <a:off x="2432720" y="428575"/>
            <a:ext cx="50000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Fast phased array pattern computations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6536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5241032" y="1268760"/>
            <a:ext cx="4592960" cy="3384376"/>
            <a:chOff x="5414644" y="819900"/>
            <a:chExt cx="4592960" cy="3384376"/>
          </a:xfrm>
        </p:grpSpPr>
        <p:pic>
          <p:nvPicPr>
            <p:cNvPr id="38915" name="Picture 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86652" y="1772816"/>
              <a:ext cx="4146868" cy="24314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3" name="TextBox 12"/>
            <p:cNvSpPr txBox="1"/>
            <p:nvPr/>
          </p:nvSpPr>
          <p:spPr>
            <a:xfrm>
              <a:off x="5414644" y="819900"/>
              <a:ext cx="459296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u="sng" dirty="0" smtClean="0"/>
                <a:t>Projection-based MOR</a:t>
              </a:r>
              <a:r>
                <a:rPr lang="en-US" sz="1600" dirty="0" smtClean="0"/>
                <a:t>: </a:t>
              </a:r>
              <a:r>
                <a:rPr lang="en-US" sz="1600" b="1" dirty="0" smtClean="0"/>
                <a:t>V </a:t>
              </a:r>
              <a:r>
                <a:rPr lang="en-US" sz="1600" dirty="0" smtClean="0"/>
                <a:t>is a collection of </a:t>
              </a:r>
              <a:r>
                <a:rPr lang="en-US" sz="1600" i="1" dirty="0" smtClean="0"/>
                <a:t>P</a:t>
              </a:r>
              <a:r>
                <a:rPr lang="en-US" sz="1600" dirty="0" smtClean="0"/>
                <a:t> linearly independent solutions for different scan angles (</a:t>
              </a:r>
              <a:r>
                <a:rPr lang="el-GR" sz="1600" i="1" dirty="0" smtClean="0"/>
                <a:t>θ</a:t>
              </a:r>
              <a:r>
                <a:rPr lang="en-US" sz="1600" baseline="-25000" dirty="0" smtClean="0"/>
                <a:t>s</a:t>
              </a:r>
              <a:r>
                <a:rPr lang="en-US" sz="1600" dirty="0" smtClean="0"/>
                <a:t>,</a:t>
              </a:r>
              <a:r>
                <a:rPr lang="el-GR" sz="1600" i="1" dirty="0" smtClean="0"/>
                <a:t>ϕ</a:t>
              </a:r>
              <a:r>
                <a:rPr lang="en-US" sz="1600" baseline="-25000" dirty="0" smtClean="0"/>
                <a:t>s</a:t>
              </a:r>
              <a:r>
                <a:rPr lang="en-US" sz="1600" dirty="0" smtClean="0"/>
                <a:t>)</a:t>
              </a:r>
              <a:endParaRPr lang="en-US" sz="2000" b="1" dirty="0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3512840" y="4890646"/>
            <a:ext cx="3114955" cy="1418674"/>
            <a:chOff x="3350213" y="4602614"/>
            <a:chExt cx="3114955" cy="1418674"/>
          </a:xfrm>
        </p:grpSpPr>
        <p:pic>
          <p:nvPicPr>
            <p:cNvPr id="38914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62516" y="5013176"/>
              <a:ext cx="2788568" cy="10081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8" name="TextBox 17"/>
            <p:cNvSpPr txBox="1"/>
            <p:nvPr/>
          </p:nvSpPr>
          <p:spPr>
            <a:xfrm>
              <a:off x="3350213" y="4602614"/>
              <a:ext cx="31149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u="sng" dirty="0" smtClean="0"/>
                <a:t>Reduced order radiation system</a:t>
              </a:r>
              <a:endParaRPr lang="en-US" u="sng" dirty="0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200472" y="1124744"/>
            <a:ext cx="4752528" cy="3588255"/>
            <a:chOff x="200472" y="632833"/>
            <a:chExt cx="4752528" cy="3588255"/>
          </a:xfrm>
        </p:grpSpPr>
        <p:grpSp>
          <p:nvGrpSpPr>
            <p:cNvPr id="16" name="Group 15"/>
            <p:cNvGrpSpPr/>
            <p:nvPr/>
          </p:nvGrpSpPr>
          <p:grpSpPr>
            <a:xfrm>
              <a:off x="200472" y="632833"/>
              <a:ext cx="4752528" cy="3588255"/>
              <a:chOff x="200472" y="632833"/>
              <a:chExt cx="4752528" cy="3588255"/>
            </a:xfrm>
          </p:grpSpPr>
          <p:pic>
            <p:nvPicPr>
              <p:cNvPr id="38916" name="Picture 4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08534" y="1646539"/>
                <a:ext cx="3944466" cy="25025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4" name="TextBox 3"/>
              <p:cNvSpPr txBox="1"/>
              <p:nvPr/>
            </p:nvSpPr>
            <p:spPr>
              <a:xfrm>
                <a:off x="1640632" y="632833"/>
                <a:ext cx="21339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u="sng" dirty="0" smtClean="0"/>
                  <a:t>Full radiation system</a:t>
                </a:r>
                <a:endParaRPr lang="en-US" u="sng" dirty="0"/>
              </a:p>
            </p:txBody>
          </p:sp>
          <p:sp>
            <p:nvSpPr>
              <p:cNvPr id="12" name="Left Brace 11"/>
              <p:cNvSpPr/>
              <p:nvPr/>
            </p:nvSpPr>
            <p:spPr>
              <a:xfrm>
                <a:off x="776536" y="1556792"/>
                <a:ext cx="144016" cy="1341017"/>
              </a:xfrm>
              <a:prstGeom prst="leftBrac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Left Brace 13"/>
              <p:cNvSpPr/>
              <p:nvPr/>
            </p:nvSpPr>
            <p:spPr>
              <a:xfrm>
                <a:off x="776536" y="2916538"/>
                <a:ext cx="144016" cy="1304550"/>
              </a:xfrm>
              <a:prstGeom prst="leftBrac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200472" y="2060848"/>
                <a:ext cx="42351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 smtClean="0"/>
                  <a:t>FE</a:t>
                </a:r>
                <a:endParaRPr lang="en-US" sz="1600" dirty="0"/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201296" y="3399536"/>
                <a:ext cx="54854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 smtClean="0"/>
                  <a:t>N2F</a:t>
                </a:r>
              </a:p>
              <a:p>
                <a:endParaRPr lang="en-US" sz="1600" dirty="0"/>
              </a:p>
            </p:txBody>
          </p:sp>
        </p:grpSp>
        <p:sp>
          <p:nvSpPr>
            <p:cNvPr id="21" name="Right Brace 20"/>
            <p:cNvSpPr/>
            <p:nvPr/>
          </p:nvSpPr>
          <p:spPr>
            <a:xfrm rot="16200000">
              <a:off x="3418500" y="824239"/>
              <a:ext cx="288032" cy="1440160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943843" y="1124744"/>
              <a:ext cx="30091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/>
                <a:t>Complex weighting at ports excitations</a:t>
              </a:r>
              <a:endParaRPr lang="en-US" sz="1400" dirty="0"/>
            </a:p>
          </p:txBody>
        </p:sp>
      </p:grpSp>
      <p:cxnSp>
        <p:nvCxnSpPr>
          <p:cNvPr id="27" name="Straight Connector 26"/>
          <p:cNvCxnSpPr/>
          <p:nvPr/>
        </p:nvCxnSpPr>
        <p:spPr>
          <a:xfrm>
            <a:off x="5184576" y="1208897"/>
            <a:ext cx="0" cy="35882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200472" y="4818638"/>
            <a:ext cx="957706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803289" y="428575"/>
            <a:ext cx="2258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Radiation Model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3" name="Picture 3"/>
          <p:cNvPicPr>
            <a:picLocks noChangeAspect="1" noChangeArrowheads="1"/>
          </p:cNvPicPr>
          <p:nvPr/>
        </p:nvPicPr>
        <p:blipFill rotWithShape="1"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56" t="2688" r="15829"/>
          <a:stretch/>
        </p:blipFill>
        <p:spPr bwMode="auto">
          <a:xfrm>
            <a:off x="6093152" y="4534364"/>
            <a:ext cx="2705929" cy="19373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60512" y="1864420"/>
            <a:ext cx="5081840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Rank(</a:t>
            </a:r>
            <a:r>
              <a:rPr lang="en-US" sz="1600" b="1" dirty="0" smtClean="0"/>
              <a:t>V</a:t>
            </a:r>
            <a:r>
              <a:rPr lang="en-US" sz="1600" dirty="0" smtClean="0"/>
              <a:t>) = 15 </a:t>
            </a:r>
            <a:r>
              <a:rPr lang="en-US" sz="1600" dirty="0"/>
              <a:t>(</a:t>
            </a:r>
            <a:r>
              <a:rPr lang="en-US" sz="1600" dirty="0" smtClean="0"/>
              <a:t>n° </a:t>
            </a:r>
            <a:r>
              <a:rPr lang="en-US" sz="1600" dirty="0"/>
              <a:t>of antennas</a:t>
            </a:r>
            <a:r>
              <a:rPr lang="en-US" sz="1600" dirty="0" smtClean="0"/>
              <a:t>)</a:t>
            </a:r>
          </a:p>
          <a:p>
            <a:endParaRPr lang="en-US" sz="1600" dirty="0"/>
          </a:p>
          <a:p>
            <a:pPr marL="342900" indent="-342900">
              <a:buFontTx/>
              <a:buChar char="-"/>
            </a:pPr>
            <a:r>
              <a:rPr lang="en-US" sz="1600" dirty="0"/>
              <a:t>n</a:t>
            </a:r>
            <a:r>
              <a:rPr lang="en-US" sz="1600" dirty="0" smtClean="0"/>
              <a:t>° </a:t>
            </a:r>
            <a:r>
              <a:rPr lang="en-US" sz="1600" dirty="0"/>
              <a:t>of </a:t>
            </a:r>
            <a:r>
              <a:rPr lang="en-US" sz="1600" dirty="0" err="1"/>
              <a:t>DoFs</a:t>
            </a:r>
            <a:r>
              <a:rPr lang="en-US" sz="1600" dirty="0"/>
              <a:t>: </a:t>
            </a:r>
            <a:r>
              <a:rPr lang="en-US" sz="1600" dirty="0" smtClean="0"/>
              <a:t>                                      358</a:t>
            </a:r>
            <a:r>
              <a:rPr lang="en-US" sz="1600" dirty="0"/>
              <a:t>' 648 </a:t>
            </a:r>
            <a:r>
              <a:rPr lang="en-US" sz="1600" dirty="0" smtClean="0">
                <a:sym typeface="Wingdings" pitchFamily="2" charset="2"/>
              </a:rPr>
              <a:t></a:t>
            </a:r>
            <a:r>
              <a:rPr lang="en-US" sz="1600" dirty="0" smtClean="0"/>
              <a:t> 15</a:t>
            </a:r>
          </a:p>
          <a:p>
            <a:pPr marL="342900" indent="-342900">
              <a:buFontTx/>
              <a:buChar char="-"/>
            </a:pPr>
            <a:r>
              <a:rPr lang="en-US" sz="1600" dirty="0" smtClean="0"/>
              <a:t>Memory </a:t>
            </a:r>
            <a:r>
              <a:rPr lang="en-US" sz="1600" dirty="0"/>
              <a:t>usage: </a:t>
            </a:r>
            <a:r>
              <a:rPr lang="en-US" sz="1600" dirty="0" smtClean="0"/>
              <a:t>                            625 </a:t>
            </a:r>
            <a:r>
              <a:rPr lang="en-US" sz="1600" dirty="0"/>
              <a:t>MB </a:t>
            </a:r>
            <a:r>
              <a:rPr lang="en-US" sz="1600" dirty="0" smtClean="0">
                <a:sym typeface="Wingdings" pitchFamily="2" charset="2"/>
              </a:rPr>
              <a:t></a:t>
            </a:r>
            <a:r>
              <a:rPr lang="en-US" sz="1600" dirty="0" smtClean="0"/>
              <a:t> </a:t>
            </a:r>
            <a:r>
              <a:rPr lang="en-US" sz="1600" dirty="0"/>
              <a:t>1.5 </a:t>
            </a:r>
            <a:r>
              <a:rPr lang="en-US" sz="1600" dirty="0" smtClean="0"/>
              <a:t>MB</a:t>
            </a:r>
          </a:p>
          <a:p>
            <a:pPr marL="342900" indent="-342900">
              <a:buFontTx/>
              <a:buChar char="-"/>
            </a:pPr>
            <a:r>
              <a:rPr lang="en-US" sz="1600" dirty="0" smtClean="0"/>
              <a:t>MOR error</a:t>
            </a:r>
            <a:r>
              <a:rPr lang="en-US" sz="1600" dirty="0"/>
              <a:t>: </a:t>
            </a:r>
            <a:r>
              <a:rPr lang="en-US" sz="1600" dirty="0" smtClean="0"/>
              <a:t>                                           </a:t>
            </a:r>
            <a:r>
              <a:rPr lang="el-GR" sz="1600" i="1" dirty="0" smtClean="0"/>
              <a:t>ε</a:t>
            </a:r>
            <a:r>
              <a:rPr lang="en-US" sz="1600" dirty="0" smtClean="0"/>
              <a:t> </a:t>
            </a:r>
            <a:r>
              <a:rPr lang="el-GR" sz="1600" dirty="0" smtClean="0"/>
              <a:t>≤</a:t>
            </a:r>
            <a:r>
              <a:rPr lang="en-US" sz="1600" dirty="0" smtClean="0"/>
              <a:t> 10</a:t>
            </a:r>
            <a:r>
              <a:rPr lang="en-US" sz="1600" baseline="30000" dirty="0" smtClean="0"/>
              <a:t>-11</a:t>
            </a:r>
          </a:p>
          <a:p>
            <a:pPr marL="342900" indent="-342900">
              <a:buFontTx/>
              <a:buChar char="-"/>
            </a:pPr>
            <a:r>
              <a:rPr lang="en-US" sz="1600" dirty="0" smtClean="0"/>
              <a:t>2D-DFT </a:t>
            </a:r>
            <a:r>
              <a:rPr lang="en-US" sz="1600" dirty="0"/>
              <a:t>truncation error:  </a:t>
            </a:r>
            <a:r>
              <a:rPr lang="en-US" sz="1600" dirty="0" smtClean="0"/>
              <a:t>                   </a:t>
            </a:r>
            <a:r>
              <a:rPr lang="el-GR" sz="1600" i="1" dirty="0" smtClean="0"/>
              <a:t>ε</a:t>
            </a:r>
            <a:r>
              <a:rPr lang="en-US" sz="1600" baseline="-25000" dirty="0" smtClean="0"/>
              <a:t>n2f</a:t>
            </a:r>
            <a:r>
              <a:rPr lang="en-US" sz="1600" dirty="0" smtClean="0"/>
              <a:t> </a:t>
            </a:r>
            <a:r>
              <a:rPr lang="el-GR" sz="1600" dirty="0"/>
              <a:t>≤</a:t>
            </a:r>
            <a:r>
              <a:rPr lang="en-US" sz="1600" dirty="0"/>
              <a:t> </a:t>
            </a:r>
            <a:r>
              <a:rPr lang="en-US" sz="1600" dirty="0" smtClean="0"/>
              <a:t>10</a:t>
            </a:r>
            <a:r>
              <a:rPr lang="en-US" sz="1600" baseline="30000" dirty="0" smtClean="0"/>
              <a:t>-4 </a:t>
            </a:r>
            <a:endParaRPr lang="en-US" sz="1600" dirty="0" smtClean="0"/>
          </a:p>
          <a:p>
            <a:r>
              <a:rPr lang="de-DE" sz="1600" dirty="0" smtClean="0">
                <a:sym typeface="Wingdings" pitchFamily="2" charset="2"/>
              </a:rPr>
              <a:t>                                                      ≈ </a:t>
            </a:r>
            <a:r>
              <a:rPr lang="de-DE" sz="1600" dirty="0" smtClean="0"/>
              <a:t>0.01 </a:t>
            </a:r>
            <a:r>
              <a:rPr lang="de-DE" sz="1600" dirty="0"/>
              <a:t>dB </a:t>
            </a:r>
            <a:r>
              <a:rPr lang="de-DE" sz="1600" dirty="0" smtClean="0"/>
              <a:t>max. </a:t>
            </a:r>
            <a:r>
              <a:rPr lang="de-DE" sz="1600" dirty="0" err="1" smtClean="0"/>
              <a:t>gain</a:t>
            </a:r>
            <a:r>
              <a:rPr lang="de-DE" sz="1600" dirty="0" smtClean="0"/>
              <a:t> </a:t>
            </a:r>
            <a:r>
              <a:rPr lang="de-DE" sz="1600" dirty="0" err="1" smtClean="0"/>
              <a:t>error</a:t>
            </a:r>
            <a:endParaRPr lang="en-US" sz="1600" dirty="0"/>
          </a:p>
        </p:txBody>
      </p:sp>
      <p:sp>
        <p:nvSpPr>
          <p:cNvPr id="6" name="Rectangle 5"/>
          <p:cNvSpPr/>
          <p:nvPr/>
        </p:nvSpPr>
        <p:spPr>
          <a:xfrm>
            <a:off x="576064" y="4437112"/>
            <a:ext cx="4953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 smtClean="0"/>
              <a:t>Whole </a:t>
            </a:r>
            <a:r>
              <a:rPr lang="en-US" sz="1600" dirty="0"/>
              <a:t>movie</a:t>
            </a:r>
            <a:r>
              <a:rPr lang="en-US" sz="1600" dirty="0" smtClean="0"/>
              <a:t>:</a:t>
            </a:r>
          </a:p>
          <a:p>
            <a:endParaRPr lang="en-US" sz="1600" dirty="0"/>
          </a:p>
          <a:p>
            <a:pPr marL="285750" indent="-285750">
              <a:buFontTx/>
              <a:buChar char="-"/>
            </a:pPr>
            <a:r>
              <a:rPr lang="en-US" sz="1600" dirty="0" smtClean="0"/>
              <a:t>for HFSS (commercial package)               </a:t>
            </a:r>
            <a:r>
              <a:rPr lang="sv-SE" sz="1600" dirty="0" smtClean="0"/>
              <a:t>10 </a:t>
            </a:r>
            <a:r>
              <a:rPr lang="sv-SE" sz="1600" dirty="0"/>
              <a:t>h 20 </a:t>
            </a:r>
            <a:r>
              <a:rPr lang="sv-SE" sz="1600" dirty="0" smtClean="0"/>
              <a:t>min</a:t>
            </a:r>
          </a:p>
          <a:p>
            <a:pPr marL="285750" indent="-285750">
              <a:buFontTx/>
              <a:buChar char="-"/>
            </a:pPr>
            <a:r>
              <a:rPr lang="en-US" sz="1600" dirty="0" smtClean="0"/>
              <a:t>for </a:t>
            </a:r>
            <a:r>
              <a:rPr lang="en-US" sz="1600" dirty="0"/>
              <a:t>the full parameterized </a:t>
            </a:r>
            <a:r>
              <a:rPr lang="en-US" sz="1600" dirty="0" smtClean="0"/>
              <a:t>model:                 1 </a:t>
            </a:r>
            <a:r>
              <a:rPr lang="en-US" sz="1600" dirty="0"/>
              <a:t>min 3 </a:t>
            </a:r>
            <a:r>
              <a:rPr lang="en-US" sz="1600" dirty="0" smtClean="0"/>
              <a:t>s</a:t>
            </a:r>
          </a:p>
          <a:p>
            <a:pPr marL="285750" indent="-285750">
              <a:buFontTx/>
              <a:buChar char="-"/>
            </a:pPr>
            <a:r>
              <a:rPr lang="en-US" sz="1600" dirty="0" smtClean="0"/>
              <a:t>for </a:t>
            </a:r>
            <a:r>
              <a:rPr lang="en-US" sz="1600" dirty="0"/>
              <a:t>the reduced parameterized </a:t>
            </a:r>
            <a:r>
              <a:rPr lang="en-US" sz="1600" dirty="0" smtClean="0"/>
              <a:t>model:                </a:t>
            </a:r>
            <a:r>
              <a:rPr lang="en-US" sz="1600" b="1" dirty="0" smtClean="0">
                <a:solidFill>
                  <a:srgbClr val="FF0000"/>
                </a:solidFill>
              </a:rPr>
              <a:t>8 </a:t>
            </a:r>
            <a:r>
              <a:rPr lang="en-US" sz="1600" b="1" dirty="0">
                <a:solidFill>
                  <a:srgbClr val="FF0000"/>
                </a:solidFill>
              </a:rPr>
              <a:t>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568" y="428575"/>
            <a:ext cx="60244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Numerical results for 3x5 patch antennas array</a:t>
            </a:r>
            <a:endParaRPr lang="en-US" dirty="0"/>
          </a:p>
        </p:txBody>
      </p:sp>
      <p:pic>
        <p:nvPicPr>
          <p:cNvPr id="7" name="MovScan.wmv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5"/>
          <a:srcRect l="18222" r="16000" b="9223"/>
          <a:stretch/>
        </p:blipFill>
        <p:spPr>
          <a:xfrm>
            <a:off x="5799136" y="1257065"/>
            <a:ext cx="3293960" cy="3030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383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0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remove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truttura predefinita">
  <a:themeElements>
    <a:clrScheme name="Struttura predefinita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ruttura predefinita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ruttura predefinita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1019</TotalTime>
  <Words>212</Words>
  <Application>Microsoft Office PowerPoint</Application>
  <PresentationFormat>A4 Paper (210x297 mm)</PresentationFormat>
  <Paragraphs>29</Paragraphs>
  <Slides>3</Slides>
  <Notes>0</Notes>
  <HiddenSlides>0</HiddenSlides>
  <MMClips>1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Struttura predefinita</vt:lpstr>
      <vt:lpstr>PowerPoint Presentation</vt:lpstr>
      <vt:lpstr>PowerPoint Presentation</vt:lpstr>
      <vt:lpstr>PowerPoint Presentation</vt:lpstr>
    </vt:vector>
  </TitlesOfParts>
  <Company>Unifi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di PowerPoint</dc:title>
  <dc:creator>Leonardo</dc:creator>
  <cp:lastModifiedBy>LN</cp:lastModifiedBy>
  <cp:revision>196</cp:revision>
  <dcterms:created xsi:type="dcterms:W3CDTF">2007-10-05T09:23:17Z</dcterms:created>
  <dcterms:modified xsi:type="dcterms:W3CDTF">2012-10-31T14:17:17Z</dcterms:modified>
</cp:coreProperties>
</file>