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handoutMasterIdLst>
    <p:handoutMasterId r:id="rId7"/>
  </p:handoutMasterIdLst>
  <p:sldIdLst>
    <p:sldId id="259" r:id="rId2"/>
    <p:sldId id="266" r:id="rId3"/>
    <p:sldId id="267" r:id="rId4"/>
    <p:sldId id="268" r:id="rId5"/>
  </p:sldIdLst>
  <p:sldSz cx="9906000" cy="6858000" type="A4"/>
  <p:notesSz cx="7099300" cy="10234613"/>
  <p:defaultTextStyle>
    <a:defPPr>
      <a:defRPr lang="it-IT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0000"/>
    <a:srgbClr val="A50021"/>
    <a:srgbClr val="660066"/>
    <a:srgbClr val="CC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62" autoAdjust="0"/>
    <p:restoredTop sz="85379" autoAdjust="0"/>
  </p:normalViewPr>
  <p:slideViewPr>
    <p:cSldViewPr>
      <p:cViewPr>
        <p:scale>
          <a:sx n="66" d="100"/>
          <a:sy n="66" d="100"/>
        </p:scale>
        <p:origin x="-1452" y="-2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763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0" d="100"/>
          <a:sy n="70" d="100"/>
        </p:scale>
        <p:origin x="-2730" y="-10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quarter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fld id="{AC6F0DED-C392-4C69-B8FF-D09EA5378327}" type="datetimeFigureOut">
              <a:rPr lang="it-IT"/>
              <a:pPr>
                <a:defRPr/>
              </a:pPr>
              <a:t>06/04/2012</a:t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2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b" anchorCtr="0" compatLnSpc="1">
            <a:prstTxWarp prst="textNoShape">
              <a:avLst/>
            </a:prstTxWarp>
          </a:bodyPr>
          <a:lstStyle>
            <a:lvl1pPr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3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9019" tIns="49509" rIns="99019" bIns="49509" numCol="1" anchor="b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Calibri" pitchFamily="34" charset="0"/>
              </a:defRPr>
            </a:lvl1pPr>
          </a:lstStyle>
          <a:p>
            <a:pPr>
              <a:defRPr/>
            </a:pPr>
            <a:fld id="{05F5A32C-B214-432D-8C7E-12D76A7E931D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8545030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4021138" y="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BBA96E8E-7F23-4FCD-B5C5-2720BB119994}" type="datetimeFigureOut">
              <a:rPr lang="it-IT"/>
              <a:pPr>
                <a:defRPr/>
              </a:pPr>
              <a:t>06/04/2012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768350"/>
            <a:ext cx="5543550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0" tIns="45716" rIns="91430" bIns="45716" rtlCol="0" anchor="ctr"/>
          <a:lstStyle/>
          <a:p>
            <a:pPr lvl="0"/>
            <a:endParaRPr lang="it-IT" noProof="0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vert="horz" lIns="91430" tIns="45716" rIns="91430" bIns="45716" rtlCol="0">
            <a:normAutofit/>
          </a:bodyPr>
          <a:lstStyle/>
          <a:p>
            <a:pPr lvl="0"/>
            <a:r>
              <a:rPr lang="it-IT" noProof="0" smtClean="0"/>
              <a:t>Fare clic per modificare stili del testo dello schema</a:t>
            </a:r>
          </a:p>
          <a:p>
            <a:pPr lvl="1"/>
            <a:r>
              <a:rPr lang="it-IT" noProof="0" smtClean="0"/>
              <a:t>Secondo livello</a:t>
            </a:r>
          </a:p>
          <a:p>
            <a:pPr lvl="2"/>
            <a:r>
              <a:rPr lang="it-IT" noProof="0" smtClean="0"/>
              <a:t>Terzo livello</a:t>
            </a:r>
          </a:p>
          <a:p>
            <a:pPr lvl="3"/>
            <a:r>
              <a:rPr lang="it-IT" noProof="0" smtClean="0"/>
              <a:t>Quarto livello</a:t>
            </a:r>
          </a:p>
          <a:p>
            <a:pPr lvl="4"/>
            <a:r>
              <a:rPr lang="it-IT" noProof="0" smtClean="0"/>
              <a:t>Quinto livello</a:t>
            </a:r>
            <a:endParaRPr lang="it-IT" noProof="0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</p:spPr>
        <p:txBody>
          <a:bodyPr vert="horz" wrap="square" lIns="91430" tIns="45716" rIns="91430" bIns="45716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EC67E35F-3D51-40E6-BD40-E57FDC5FC879}" type="slidenum">
              <a:rPr lang="it-IT"/>
              <a:pPr>
                <a:defRPr/>
              </a:pPr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403104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48544" y="54267"/>
            <a:ext cx="8208912" cy="422405"/>
          </a:xfrm>
          <a:prstGeom prst="rect">
            <a:avLst/>
          </a:prstGeom>
          <a:noFill/>
        </p:spPr>
        <p:txBody>
          <a:bodyPr wrap="square" lIns="180000" tIns="72000" rIns="180000" bIns="72000">
            <a:spAutoFit/>
          </a:bodyPr>
          <a:lstStyle>
            <a:lvl1pPr marL="0" indent="0" algn="ctr">
              <a:buFont typeface="Calibri" pitchFamily="34" charset="0"/>
              <a:buNone/>
              <a:defRPr sz="1800" b="1" i="0" cap="small" baseline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defRPr>
            </a:lvl1pPr>
            <a:lvl2pPr marL="182563" indent="0" algn="just">
              <a:buFont typeface="Calibri" pitchFamily="34" charset="0"/>
              <a:buChar char=" "/>
              <a:defRPr sz="16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defRPr>
            </a:lvl2pPr>
          </a:lstStyle>
          <a:p>
            <a:pPr lvl="0"/>
            <a:r>
              <a:rPr lang="it-IT" dirty="0" smtClean="0"/>
              <a:t>Fare clic per modificare stili del testo dello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rrowheads="1"/>
          </p:cNvSpPr>
          <p:nvPr userDrawn="1"/>
        </p:nvSpPr>
        <p:spPr bwMode="auto">
          <a:xfrm>
            <a:off x="0" y="1"/>
            <a:ext cx="9906000" cy="54867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US">
              <a:latin typeface="Calibri" pitchFamily="34" charset="0"/>
            </a:endParaRPr>
          </a:p>
        </p:txBody>
      </p:sp>
      <p:pic>
        <p:nvPicPr>
          <p:cNvPr id="14" name="Immagine 3"/>
          <p:cNvPicPr>
            <a:picLocks noChangeAspect="1"/>
          </p:cNvPicPr>
          <p:nvPr userDrawn="1"/>
        </p:nvPicPr>
        <p:blipFill>
          <a:blip r:embed="rId3" cstate="print">
            <a:lum bright="-40000" contrast="-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9595"/>
            <a:ext cx="509489" cy="509489"/>
          </a:xfrm>
          <a:prstGeom prst="rect">
            <a:avLst/>
          </a:prstGeom>
        </p:spPr>
      </p:pic>
      <p:pic>
        <p:nvPicPr>
          <p:cNvPr id="15" name="Immagine 4"/>
          <p:cNvPicPr>
            <a:picLocks noChangeAspect="1"/>
          </p:cNvPicPr>
          <p:nvPr userDrawn="1"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7456" y="6300"/>
            <a:ext cx="717626" cy="535035"/>
          </a:xfrm>
          <a:prstGeom prst="rect">
            <a:avLst/>
          </a:prstGeom>
        </p:spPr>
      </p:pic>
      <p:sp>
        <p:nvSpPr>
          <p:cNvPr id="16" name="CasellaDiTesto 2"/>
          <p:cNvSpPr txBox="1"/>
          <p:nvPr userDrawn="1"/>
        </p:nvSpPr>
        <p:spPr>
          <a:xfrm>
            <a:off x="0" y="6572092"/>
            <a:ext cx="9906000" cy="3385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L. </a:t>
            </a:r>
            <a:r>
              <a:rPr lang="en-US" sz="1600" u="none" kern="0" baseline="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Ntibarikure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 - Firenze </a:t>
            </a:r>
            <a:r>
              <a:rPr lang="en-US" sz="1600" u="none" kern="0" baseline="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+mn-ea"/>
                <a:cs typeface="Times New Roman" pitchFamily="18" charset="0"/>
              </a:rPr>
              <a:t>07/04/2012</a:t>
            </a:r>
            <a:endParaRPr lang="en-US" sz="1600" u="none" kern="0" baseline="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9144000" y="6566288"/>
            <a:ext cx="7642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854DCE1-82B9-457D-880A-9A34368A0971}" type="slidenum">
              <a:rPr lang="en-US" sz="160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pPr marL="0" marR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‹N›</a:t>
            </a:fld>
            <a:r>
              <a:rPr lang="en-US" sz="1600" dirty="0" smtClean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/4</a:t>
            </a:r>
            <a:endParaRPr lang="en-US" sz="1600" dirty="0" smtClean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sellaDiTesto 4"/>
          <p:cNvSpPr txBox="1"/>
          <p:nvPr/>
        </p:nvSpPr>
        <p:spPr>
          <a:xfrm>
            <a:off x="0" y="2999358"/>
            <a:ext cx="9906000" cy="3508653"/>
          </a:xfrm>
          <a:prstGeom prst="rect">
            <a:avLst/>
          </a:prstGeom>
          <a:noFill/>
          <a:ln cap="rnd"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 eaLnBrk="0" hangingPunct="0">
              <a:defRPr/>
            </a:pPr>
            <a:r>
              <a:rPr lang="it-IT" sz="240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Laurent Ntibarikure</a:t>
            </a:r>
          </a:p>
          <a:p>
            <a:pPr algn="ctr" eaLnBrk="0" hangingPunct="0">
              <a:defRPr/>
            </a:pPr>
            <a:endParaRPr lang="it-IT" dirty="0">
              <a:solidFill>
                <a:srgbClr val="66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Laboratorio di Microelettronica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ed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Ingegneria delle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Microonde</a:t>
            </a:r>
          </a:p>
          <a:p>
            <a:pPr algn="ctr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Gruppo di Ricerca in «RF, Microonde ed Elettromagnetismo»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Dipartimento di Elettronica e Telecomunicazioni </a:t>
            </a:r>
          </a:p>
          <a:p>
            <a:pPr algn="ctr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Università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degli Studi di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Firenze</a:t>
            </a:r>
          </a:p>
          <a:p>
            <a:pPr lvl="3" algn="just" eaLnBrk="0" hangingPunct="0">
              <a:defRPr/>
            </a:pPr>
            <a:endParaRPr lang="it-IT" dirty="0" smtClean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3" algn="just" eaLnBrk="0" hangingPunct="0">
              <a:defRPr/>
            </a:pP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Tutori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Giuseppe Pelosi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Prof. Dr.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techn. </a:t>
            </a: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Romanus </a:t>
            </a:r>
            <a:r>
              <a:rPr lang="it-IT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Dyczij-Edlinger</a:t>
            </a:r>
            <a:endParaRPr lang="it-IT" dirty="0">
              <a:solidFill>
                <a:schemeClr val="tx1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Dr. Ing. Stefano Selleri</a:t>
            </a:r>
          </a:p>
          <a:p>
            <a:pPr lvl="4" algn="just" eaLnBrk="0" hangingPunct="0">
              <a:defRPr/>
            </a:pPr>
            <a:r>
              <a:rPr lang="it-IT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itchFamily="18" charset="0"/>
                <a:cs typeface="Times New Roman" pitchFamily="18" charset="0"/>
              </a:rPr>
              <a:t>Ing. Gabrio Martini</a:t>
            </a:r>
          </a:p>
        </p:txBody>
      </p:sp>
      <p:sp>
        <p:nvSpPr>
          <p:cNvPr id="7" name="Segnaposto testo 2"/>
          <p:cNvSpPr txBox="1">
            <a:spLocks/>
          </p:cNvSpPr>
          <p:nvPr/>
        </p:nvSpPr>
        <p:spPr>
          <a:xfrm>
            <a:off x="0" y="692696"/>
            <a:ext cx="9906000" cy="2154436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marL="342900" indent="-342900" algn="ctr">
              <a:spcBef>
                <a:spcPct val="20000"/>
              </a:spcBef>
              <a:defRPr/>
            </a:pP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Planning dell’attività di ricerca – </a:t>
            </a:r>
            <a:r>
              <a:rPr lang="it-IT" sz="3200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Aprile 2012</a:t>
            </a:r>
            <a:endParaRPr lang="it-IT" sz="3200" kern="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Dottorato </a:t>
            </a: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di </a:t>
            </a: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ricerca </a:t>
            </a: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 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Tecnologie Elettroniche per 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l’Ingegneria dell’Informazione</a:t>
            </a:r>
            <a:endParaRPr lang="it-IT" i="1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Indirizzo </a:t>
            </a:r>
            <a:endParaRPr lang="it-IT" kern="0" dirty="0" smtClean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“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RF</a:t>
            </a:r>
            <a:r>
              <a:rPr lang="it-IT" i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, Microwaves and </a:t>
            </a:r>
            <a:r>
              <a:rPr lang="it-IT" i="1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Electromagnetics</a:t>
            </a: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”</a:t>
            </a:r>
          </a:p>
          <a:p>
            <a:pPr marL="342900" indent="-342900" algn="ctr">
              <a:spcBef>
                <a:spcPct val="20000"/>
              </a:spcBef>
              <a:defRPr/>
            </a:pPr>
            <a:r>
              <a:rPr lang="it-IT" kern="0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Ciclo XXVI</a:t>
            </a:r>
            <a:endParaRPr lang="it-IT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FEM </a:t>
            </a:r>
            <a:r>
              <a:rPr lang="en-US" dirty="0" err="1"/>
              <a:t>nonlineare</a:t>
            </a:r>
            <a:r>
              <a:rPr lang="en-US" dirty="0"/>
              <a:t> per </a:t>
            </a:r>
            <a:r>
              <a:rPr lang="en-US" dirty="0" err="1"/>
              <a:t>giunzioni</a:t>
            </a:r>
            <a:r>
              <a:rPr lang="en-US" dirty="0"/>
              <a:t> a ferrite</a:t>
            </a:r>
          </a:p>
        </p:txBody>
      </p:sp>
      <p:sp>
        <p:nvSpPr>
          <p:cNvPr id="8" name="CasellaDiTesto 7"/>
          <p:cNvSpPr txBox="1"/>
          <p:nvPr/>
        </p:nvSpPr>
        <p:spPr>
          <a:xfrm>
            <a:off x="488504" y="764704"/>
            <a:ext cx="79112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RiNEm2012 (deadline 14/04/2012): 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Articolo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su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base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risultati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ottenuti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FEM 2D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2851" y="2335555"/>
            <a:ext cx="3721255" cy="27909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8259" y="1698892"/>
            <a:ext cx="2202837" cy="1652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4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89104" y="1754415"/>
            <a:ext cx="2189651" cy="1642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2504" y="3497310"/>
            <a:ext cx="1677075" cy="15754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7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27532" y="3396653"/>
            <a:ext cx="1926101" cy="17502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CasellaDiTesto 4"/>
          <p:cNvSpPr txBox="1"/>
          <p:nvPr/>
        </p:nvSpPr>
        <p:spPr>
          <a:xfrm>
            <a:off x="272480" y="5873853"/>
            <a:ext cx="93610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Articolo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riferimento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(1997):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circolatore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                 FEM 2D: H-plane uniformity!          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Freccia bidirezionale orizzontale 5"/>
          <p:cNvSpPr/>
          <p:nvPr/>
        </p:nvSpPr>
        <p:spPr bwMode="auto">
          <a:xfrm>
            <a:off x="5527871" y="5894429"/>
            <a:ext cx="504056" cy="369332"/>
          </a:xfrm>
          <a:prstGeom prst="leftRightArrow">
            <a:avLst/>
          </a:prstGeom>
          <a:solidFill>
            <a:srgbClr val="A50021"/>
          </a:solidFill>
          <a:ln w="9525">
            <a:solidFill>
              <a:srgbClr val="A50021"/>
            </a:solidFill>
            <a:miter lim="800000"/>
            <a:headEnd/>
            <a:tailEnd/>
          </a:ln>
        </p:spPr>
        <p:txBody>
          <a:bodyPr wrap="none" rtlCol="0" anchor="ctr"/>
          <a:lstStyle/>
          <a:p>
            <a:pPr algn="ctr"/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70531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>
          <a:xfrm>
            <a:off x="848544" y="54267"/>
            <a:ext cx="8208912" cy="422405"/>
          </a:xfrm>
        </p:spPr>
        <p:txBody>
          <a:bodyPr/>
          <a:lstStyle/>
          <a:p>
            <a:r>
              <a:rPr lang="en-US" dirty="0"/>
              <a:t>FEM </a:t>
            </a:r>
            <a:r>
              <a:rPr lang="en-US" dirty="0" err="1"/>
              <a:t>nonlineare</a:t>
            </a:r>
            <a:r>
              <a:rPr lang="en-US" dirty="0"/>
              <a:t> per </a:t>
            </a:r>
            <a:r>
              <a:rPr lang="en-US" dirty="0" err="1"/>
              <a:t>giunzioni</a:t>
            </a:r>
            <a:r>
              <a:rPr lang="en-US" dirty="0"/>
              <a:t> a </a:t>
            </a:r>
            <a:r>
              <a:rPr lang="en-US" dirty="0" smtClean="0"/>
              <a:t>ferrite</a:t>
            </a:r>
            <a:endParaRPr lang="en-US" dirty="0"/>
          </a:p>
        </p:txBody>
      </p:sp>
      <p:sp>
        <p:nvSpPr>
          <p:cNvPr id="4" name="CasellaDiTesto 3"/>
          <p:cNvSpPr txBox="1"/>
          <p:nvPr/>
        </p:nvSpPr>
        <p:spPr>
          <a:xfrm>
            <a:off x="344488" y="980728"/>
            <a:ext cx="92890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FEM2012: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Circolatore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in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stripline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analisi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3D)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analizzato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il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“QF++” 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Confronto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lineare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nonlineare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(HFSS)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943" t="16998" r="41370" b="18386"/>
          <a:stretch/>
        </p:blipFill>
        <p:spPr bwMode="auto">
          <a:xfrm>
            <a:off x="4953000" y="2204864"/>
            <a:ext cx="3592286" cy="2560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61149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contenuto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NP-GE: </a:t>
            </a:r>
            <a:r>
              <a:rPr lang="en-US" dirty="0" err="1" smtClean="0"/>
              <a:t>Misure</a:t>
            </a:r>
            <a:r>
              <a:rPr lang="en-US" dirty="0" smtClean="0"/>
              <a:t> di </a:t>
            </a:r>
            <a:r>
              <a:rPr lang="en-US" dirty="0" err="1" smtClean="0"/>
              <a:t>correnti</a:t>
            </a:r>
            <a:r>
              <a:rPr lang="en-US" dirty="0" smtClean="0"/>
              <a:t> di </a:t>
            </a:r>
            <a:r>
              <a:rPr lang="en-US" dirty="0" err="1" smtClean="0"/>
              <a:t>modo</a:t>
            </a:r>
            <a:r>
              <a:rPr lang="en-US" dirty="0" smtClean="0"/>
              <a:t> </a:t>
            </a:r>
            <a:r>
              <a:rPr lang="en-US" dirty="0" err="1" smtClean="0"/>
              <a:t>comune</a:t>
            </a:r>
            <a:endParaRPr lang="en-US" dirty="0"/>
          </a:p>
        </p:txBody>
      </p:sp>
      <p:sp>
        <p:nvSpPr>
          <p:cNvPr id="3" name="CasellaDiTesto 2"/>
          <p:cNvSpPr txBox="1"/>
          <p:nvPr/>
        </p:nvSpPr>
        <p:spPr>
          <a:xfrm>
            <a:off x="128283" y="764704"/>
            <a:ext cx="957706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20 000 € per </a:t>
            </a:r>
            <a:r>
              <a:rPr lang="it-IT" dirty="0" smtClean="0">
                <a:latin typeface="Times New Roman" pitchFamily="18" charset="0"/>
                <a:cs typeface="Times New Roman" pitchFamily="18" charset="0"/>
              </a:rPr>
              <a:t>l’acquisto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di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sonde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corrente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, DAQs,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LRCmeter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con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banda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fino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a  5 MHz</a:t>
            </a:r>
          </a:p>
          <a:p>
            <a:pPr marL="285750" indent="-285750">
              <a:buFontTx/>
              <a:buChar char="-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endParaRPr lang="en-US" dirty="0">
              <a:latin typeface="Times New Roman" pitchFamily="18" charset="0"/>
              <a:cs typeface="Times New Roman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Misure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caratterizzazione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(L, C, R </a:t>
            </a:r>
            <a:r>
              <a:rPr lang="en-US" dirty="0" smtClean="0">
                <a:latin typeface="Times New Roman" pitchFamily="18" charset="0"/>
                <a:cs typeface="Times New Roman" pitchFamily="18" charset="0"/>
                <a:sym typeface="Wingdings" pitchFamily="2" charset="2"/>
              </a:rPr>
              <a:t> Z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) di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cavi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di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potenza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XPLE, RG-58 e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multipolari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dirty="0" err="1" smtClean="0">
                <a:latin typeface="Times New Roman" pitchFamily="18" charset="0"/>
                <a:cs typeface="Times New Roman" pitchFamily="18" charset="0"/>
              </a:rPr>
              <a:t>differenziali</a:t>
            </a:r>
            <a:endParaRPr lang="en-US" dirty="0" smtClean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2050" name="Picture 2" descr="http://www.drakauk.com/products/infrastructure-cables/infrastructure-images/infrastructure-product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882" t="8293" b="61231"/>
          <a:stretch/>
        </p:blipFill>
        <p:spPr bwMode="auto">
          <a:xfrm>
            <a:off x="1208584" y="4834242"/>
            <a:ext cx="2047319" cy="6676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://www.hamradioexpress.com/catalog/images/rg58s.jp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924" b="57291"/>
          <a:stretch/>
        </p:blipFill>
        <p:spPr bwMode="auto">
          <a:xfrm>
            <a:off x="3368824" y="5748890"/>
            <a:ext cx="3429000" cy="575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ttp://en.esskabel.de/upload/images/produktbilder/LTG-DVI-6P_500x500_front_ISO.jpg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32" t="16568" r="9130" b="12880"/>
          <a:stretch/>
        </p:blipFill>
        <p:spPr bwMode="auto">
          <a:xfrm>
            <a:off x="6505443" y="4217867"/>
            <a:ext cx="2593455" cy="2136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http://www.tek.com/sites/tek.com/files/imagecache/node_productseriespage_product_largeimage/media/image/A000_1433-L.jp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4528" y="1052736"/>
            <a:ext cx="3905250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7" name="Picture 9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8238" y="1684986"/>
            <a:ext cx="3813310" cy="13663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4292599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A50021"/>
        </a:solidFill>
        <a:ln w="9525">
          <a:solidFill>
            <a:srgbClr val="A50021"/>
          </a:solidFill>
          <a:miter lim="800000"/>
          <a:headEnd/>
          <a:tailEnd/>
        </a:ln>
      </a:spPr>
      <a:bodyPr wrap="none" anchor="ctr"/>
      <a:lstStyle>
        <a:defPPr>
          <a:defRPr>
            <a:latin typeface="Calibri" pitchFamily="34" charset="0"/>
          </a:defRPr>
        </a:defPPr>
      </a:lstStyle>
    </a:spDef>
    <a:txDef>
      <a:spPr>
        <a:noFill/>
      </a:spPr>
      <a:bodyPr wrap="none" rtlCol="0">
        <a:spAutoFit/>
      </a:bodyPr>
      <a:lstStyle>
        <a:defPPr>
          <a:defRPr dirty="0" smtClean="0">
            <a:latin typeface="Times New Roman" pitchFamily="18" charset="0"/>
            <a:cs typeface="Times New Roman" pitchFamily="18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7932</TotalTime>
  <Words>191</Words>
  <Application>Microsoft Office PowerPoint</Application>
  <PresentationFormat>A4 (21x29,7 cm)</PresentationFormat>
  <Paragraphs>36</Paragraphs>
  <Slides>4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5" baseType="lpstr"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Ruggero Taddei</dc:creator>
  <cp:lastModifiedBy>Laurent Ntibarikure</cp:lastModifiedBy>
  <cp:revision>655</cp:revision>
  <dcterms:created xsi:type="dcterms:W3CDTF">2010-02-04T15:36:28Z</dcterms:created>
  <dcterms:modified xsi:type="dcterms:W3CDTF">2012-04-05T23:51:23Z</dcterms:modified>
</cp:coreProperties>
</file>