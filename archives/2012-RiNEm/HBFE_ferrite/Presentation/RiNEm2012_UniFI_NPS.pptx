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7" r:id="rId3"/>
    <p:sldId id="258" r:id="rId4"/>
    <p:sldId id="259" r:id="rId5"/>
    <p:sldId id="260" r:id="rId6"/>
    <p:sldId id="278" r:id="rId7"/>
    <p:sldId id="261" r:id="rId8"/>
    <p:sldId id="279" r:id="rId9"/>
    <p:sldId id="262" r:id="rId10"/>
    <p:sldId id="280" r:id="rId11"/>
    <p:sldId id="271" r:id="rId12"/>
    <p:sldId id="285" r:id="rId13"/>
    <p:sldId id="281" r:id="rId14"/>
    <p:sldId id="266" r:id="rId15"/>
    <p:sldId id="274" r:id="rId16"/>
    <p:sldId id="273" r:id="rId17"/>
    <p:sldId id="282" r:id="rId18"/>
    <p:sldId id="275" r:id="rId19"/>
    <p:sldId id="283" r:id="rId20"/>
    <p:sldId id="277" r:id="rId21"/>
  </p:sldIdLst>
  <p:sldSz cx="9144000" cy="6858000" type="screen4x3"/>
  <p:notesSz cx="6797675" cy="9928225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42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49" d="100"/>
          <a:sy n="49" d="100"/>
        </p:scale>
        <p:origin x="-2970" y="-9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9.wmf"/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6.wmf"/><Relationship Id="rId1" Type="http://schemas.openxmlformats.org/officeDocument/2006/relationships/image" Target="../media/image15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.wmf"/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8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37.wmf"/><Relationship Id="rId5" Type="http://schemas.openxmlformats.org/officeDocument/2006/relationships/image" Target="../media/image36.wmf"/><Relationship Id="rId4" Type="http://schemas.openxmlformats.org/officeDocument/2006/relationships/image" Target="../media/image35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image" Target="../media/image33.wmf"/><Relationship Id="rId1" Type="http://schemas.openxmlformats.org/officeDocument/2006/relationships/image" Target="../media/image32.wmf"/><Relationship Id="rId6" Type="http://schemas.openxmlformats.org/officeDocument/2006/relationships/image" Target="../media/image41.wmf"/><Relationship Id="rId5" Type="http://schemas.openxmlformats.org/officeDocument/2006/relationships/image" Target="../media/image40.wmf"/><Relationship Id="rId4" Type="http://schemas.openxmlformats.org/officeDocument/2006/relationships/image" Target="../media/image35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DD3FA9-DFD2-4D34-A75A-C1143E6B99C9}" type="datetimeFigureOut">
              <a:rPr lang="en-US" smtClean="0"/>
              <a:t>9/10/2012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19CE07-F47D-4B2E-B053-47E33EF6C3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1721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5947D-39B1-486E-9CB0-D39554F571DD}" type="datetimeFigureOut">
              <a:rPr lang="en-US" smtClean="0"/>
              <a:t>9/10/2012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7341B9-D748-43CA-86E3-3067C714E4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9877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54152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CC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0" y="0"/>
            <a:ext cx="990600" cy="6858000"/>
          </a:xfrm>
          <a:prstGeom prst="rect">
            <a:avLst/>
          </a:prstGeom>
          <a:solidFill>
            <a:srgbClr val="0066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it-IT" b="1">
              <a:solidFill>
                <a:srgbClr val="CCFF99"/>
              </a:solidFill>
              <a:ea typeface="+mn-ea"/>
            </a:endParaRPr>
          </a:p>
        </p:txBody>
      </p:sp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0" y="990600"/>
            <a:ext cx="9144000" cy="1588"/>
          </a:xfrm>
          <a:prstGeom prst="line">
            <a:avLst/>
          </a:prstGeom>
          <a:noFill/>
          <a:ln w="28440">
            <a:solidFill>
              <a:srgbClr val="008000"/>
            </a:solidFill>
            <a:miter lim="800000"/>
            <a:headEnd/>
            <a:tailEnd/>
          </a:ln>
          <a:effectLst/>
        </p:spPr>
        <p:txBody>
          <a:bodyPr/>
          <a:lstStyle/>
          <a:p>
            <a:pPr algn="l">
              <a:defRPr/>
            </a:pPr>
            <a:endParaRPr lang="de-DE">
              <a:ea typeface="+mn-ea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auto">
          <a:xfrm>
            <a:off x="1066800" y="0"/>
            <a:ext cx="152400" cy="6858000"/>
          </a:xfrm>
          <a:prstGeom prst="rect">
            <a:avLst/>
          </a:prstGeom>
          <a:solidFill>
            <a:srgbClr val="0066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endParaRPr lang="de-DE">
              <a:ea typeface="+mn-ea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990600" y="838200"/>
            <a:ext cx="8153400" cy="76200"/>
          </a:xfrm>
          <a:prstGeom prst="rect">
            <a:avLst/>
          </a:prstGeom>
          <a:solidFill>
            <a:srgbClr val="008000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algn="l">
              <a:defRPr/>
            </a:pPr>
            <a:endParaRPr lang="de-DE">
              <a:ea typeface="+mn-ea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/>
        </p:nvSpPr>
        <p:spPr bwMode="auto">
          <a:xfrm rot="16200000">
            <a:off x="-2524125" y="3541712"/>
            <a:ext cx="5800725" cy="831851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l">
              <a:lnSpc>
                <a:spcPct val="100000"/>
              </a:lnSpc>
              <a:buClr>
                <a:srgbClr val="CCECFF"/>
              </a:buClr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1400" b="1" dirty="0" err="1">
                <a:solidFill>
                  <a:srgbClr val="CCFF99"/>
                </a:solidFill>
                <a:latin typeface="Arial" charset="0"/>
              </a:rPr>
              <a:t>RiNEm</a:t>
            </a:r>
            <a:r>
              <a:rPr lang="en-US" sz="1400" b="1" dirty="0">
                <a:solidFill>
                  <a:srgbClr val="CCFF99"/>
                </a:solidFill>
                <a:latin typeface="Arial" charset="0"/>
              </a:rPr>
              <a:t> 2012</a:t>
            </a:r>
          </a:p>
          <a:p>
            <a:pPr algn="l">
              <a:lnSpc>
                <a:spcPct val="100000"/>
              </a:lnSpc>
              <a:buClr>
                <a:srgbClr val="CCECFF"/>
              </a:buClr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1400" b="1" dirty="0" err="1">
                <a:solidFill>
                  <a:srgbClr val="CCFF99"/>
                </a:solidFill>
                <a:latin typeface="Arial" charset="0"/>
              </a:rPr>
              <a:t>Riunione</a:t>
            </a:r>
            <a:r>
              <a:rPr lang="en-US" sz="1400" b="1" dirty="0">
                <a:solidFill>
                  <a:srgbClr val="CCFF99"/>
                </a:solidFill>
                <a:latin typeface="Arial" charset="0"/>
              </a:rPr>
              <a:t> </a:t>
            </a:r>
            <a:r>
              <a:rPr lang="en-US" sz="1400" b="1" dirty="0" err="1">
                <a:solidFill>
                  <a:srgbClr val="CCFF99"/>
                </a:solidFill>
                <a:latin typeface="Arial" charset="0"/>
              </a:rPr>
              <a:t>Nazionale</a:t>
            </a:r>
            <a:r>
              <a:rPr lang="en-US" sz="1400" b="1" dirty="0">
                <a:solidFill>
                  <a:srgbClr val="CCFF99"/>
                </a:solidFill>
                <a:latin typeface="Arial" charset="0"/>
              </a:rPr>
              <a:t> </a:t>
            </a:r>
            <a:r>
              <a:rPr lang="en-US" sz="1400" b="1" dirty="0" err="1">
                <a:solidFill>
                  <a:srgbClr val="CCFF99"/>
                </a:solidFill>
                <a:latin typeface="Arial" charset="0"/>
              </a:rPr>
              <a:t>di</a:t>
            </a:r>
            <a:r>
              <a:rPr lang="en-US" sz="1400" b="1" dirty="0">
                <a:solidFill>
                  <a:srgbClr val="CCFF99"/>
                </a:solidFill>
                <a:latin typeface="Arial" charset="0"/>
              </a:rPr>
              <a:t> </a:t>
            </a:r>
            <a:r>
              <a:rPr lang="en-US" sz="1400" b="1" dirty="0" err="1">
                <a:solidFill>
                  <a:srgbClr val="CCFF99"/>
                </a:solidFill>
                <a:latin typeface="Arial" charset="0"/>
              </a:rPr>
              <a:t>Elettromagnetismo</a:t>
            </a:r>
            <a:endParaRPr lang="it-IT" sz="1400" b="1" dirty="0">
              <a:solidFill>
                <a:srgbClr val="CCFF99"/>
              </a:solidFill>
              <a:latin typeface="Arial" charset="0"/>
            </a:endParaRPr>
          </a:p>
          <a:p>
            <a:pPr algn="l">
              <a:lnSpc>
                <a:spcPct val="100000"/>
              </a:lnSpc>
              <a:buClr>
                <a:srgbClr val="CCECFF"/>
              </a:buClr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it-IT" sz="800" i="1" dirty="0">
              <a:solidFill>
                <a:srgbClr val="CCFF99"/>
              </a:solidFill>
              <a:latin typeface="Arial" charset="0"/>
            </a:endParaRPr>
          </a:p>
          <a:p>
            <a:pPr algn="l">
              <a:lnSpc>
                <a:spcPct val="100000"/>
              </a:lnSpc>
              <a:buClr>
                <a:srgbClr val="CCECFF"/>
              </a:buClr>
              <a:buFont typeface="Arial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it-IT" sz="800" i="1" dirty="0">
                <a:solidFill>
                  <a:srgbClr val="CCFF99"/>
                </a:solidFill>
                <a:latin typeface="Arial" charset="0"/>
              </a:rPr>
              <a:t> </a:t>
            </a:r>
            <a:r>
              <a:rPr lang="it-IT" sz="1200" i="1" dirty="0">
                <a:solidFill>
                  <a:srgbClr val="CCFF99"/>
                </a:solidFill>
                <a:latin typeface="Arial" charset="0"/>
              </a:rPr>
              <a:t>Roma, 10-14 Settembre 2012 </a:t>
            </a: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8496944" y="6546829"/>
            <a:ext cx="64705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  <a:defRPr/>
            </a:pPr>
            <a:fld id="{6C6C72B9-A1FA-493C-A2E8-7AB74BAABC4A}" type="slidenum">
              <a:rPr lang="it-IT" sz="1400">
                <a:solidFill>
                  <a:srgbClr val="006600"/>
                </a:solidFill>
              </a:rPr>
              <a:pPr algn="ctr">
                <a:spcBef>
                  <a:spcPct val="50000"/>
                </a:spcBef>
                <a:defRPr/>
              </a:pPr>
              <a:t>‹#›</a:t>
            </a:fld>
            <a:r>
              <a:rPr lang="it-IT" sz="1400" dirty="0">
                <a:solidFill>
                  <a:srgbClr val="006600"/>
                </a:solidFill>
              </a:rPr>
              <a:t>/</a:t>
            </a:r>
            <a:r>
              <a:rPr lang="it-IT" sz="1400" dirty="0" smtClean="0">
                <a:solidFill>
                  <a:srgbClr val="006600"/>
                </a:solidFill>
              </a:rPr>
              <a:t>20</a:t>
            </a:r>
            <a:endParaRPr lang="it-IT" sz="1400" dirty="0">
              <a:solidFill>
                <a:srgbClr val="006600"/>
              </a:solidFill>
            </a:endParaRPr>
          </a:p>
        </p:txBody>
      </p:sp>
      <p:sp>
        <p:nvSpPr>
          <p:cNvPr id="1036" name="Text Box 12"/>
          <p:cNvSpPr txBox="1">
            <a:spLocks noChangeArrowheads="1"/>
          </p:cNvSpPr>
          <p:nvPr/>
        </p:nvSpPr>
        <p:spPr bwMode="auto">
          <a:xfrm>
            <a:off x="1258888" y="0"/>
            <a:ext cx="7885112" cy="617734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r">
              <a:lnSpc>
                <a:spcPct val="100000"/>
              </a:lnSpc>
              <a:buClr>
                <a:srgbClr val="0033CC"/>
              </a:buCl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1700" b="1" cap="small" dirty="0" smtClean="0">
                <a:solidFill>
                  <a:srgbClr val="008000"/>
                </a:solidFill>
              </a:rPr>
              <a:t>Harmonic Balance Finite Element Analysis of Third Order</a:t>
            </a:r>
            <a:br>
              <a:rPr lang="en-US" sz="1700" b="1" cap="small" dirty="0" smtClean="0">
                <a:solidFill>
                  <a:srgbClr val="008000"/>
                </a:solidFill>
              </a:rPr>
            </a:br>
            <a:r>
              <a:rPr lang="en-US" sz="1700" b="1" cap="small" baseline="0" dirty="0" smtClean="0">
                <a:solidFill>
                  <a:srgbClr val="008000"/>
                </a:solidFill>
              </a:rPr>
              <a:t>Intermodulation</a:t>
            </a:r>
            <a:r>
              <a:rPr lang="en-US" sz="1700" b="1" cap="small" dirty="0" smtClean="0">
                <a:solidFill>
                  <a:srgbClr val="008000"/>
                </a:solidFill>
              </a:rPr>
              <a:t> Products</a:t>
            </a:r>
            <a:r>
              <a:rPr lang="en-US" sz="1700" b="1" cap="small" baseline="0" dirty="0" smtClean="0">
                <a:solidFill>
                  <a:srgbClr val="008000"/>
                </a:solidFill>
              </a:rPr>
              <a:t> in Ferrite Devices</a:t>
            </a:r>
            <a:endParaRPr lang="en-US" sz="1700" b="1" cap="small" dirty="0">
              <a:solidFill>
                <a:srgbClr val="008000"/>
              </a:solidFill>
            </a:endParaRPr>
          </a:p>
        </p:txBody>
      </p:sp>
      <p:pic>
        <p:nvPicPr>
          <p:cNvPr id="1033" name="Immagine 16" descr="UniFI_logo.wmf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13" y="38100"/>
            <a:ext cx="774700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40897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ctr" defTabSz="449263" rtl="0" eaLnBrk="0" fontAlgn="base" hangingPunct="0">
        <a:lnSpc>
          <a:spcPct val="7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Lucida Sans Unicode" pitchFamily="34" charset="0"/>
          <a:cs typeface="+mj-cs"/>
        </a:defRPr>
      </a:lvl1pPr>
      <a:lvl2pPr algn="ctr" defTabSz="449263" rtl="0" eaLnBrk="0" fontAlgn="base" hangingPunct="0">
        <a:lnSpc>
          <a:spcPct val="7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Lucida Sans Unicode" pitchFamily="34" charset="0"/>
          <a:cs typeface="Lucida Sans Unicode" pitchFamily="34" charset="0"/>
        </a:defRPr>
      </a:lvl2pPr>
      <a:lvl3pPr algn="ctr" defTabSz="449263" rtl="0" eaLnBrk="0" fontAlgn="base" hangingPunct="0">
        <a:lnSpc>
          <a:spcPct val="7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Lucida Sans Unicode" pitchFamily="34" charset="0"/>
          <a:cs typeface="Lucida Sans Unicode" pitchFamily="34" charset="0"/>
        </a:defRPr>
      </a:lvl3pPr>
      <a:lvl4pPr algn="ctr" defTabSz="449263" rtl="0" eaLnBrk="0" fontAlgn="base" hangingPunct="0">
        <a:lnSpc>
          <a:spcPct val="7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Lucida Sans Unicode" pitchFamily="34" charset="0"/>
          <a:cs typeface="Lucida Sans Unicode" pitchFamily="34" charset="0"/>
        </a:defRPr>
      </a:lvl4pPr>
      <a:lvl5pPr algn="ctr" defTabSz="449263" rtl="0" eaLnBrk="0" fontAlgn="base" hangingPunct="0">
        <a:lnSpc>
          <a:spcPct val="74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Lucida Sans Unicode" pitchFamily="34" charset="0"/>
          <a:cs typeface="Lucida Sans Unicode" pitchFamily="34" charset="0"/>
        </a:defRPr>
      </a:lvl5pPr>
      <a:lvl6pPr marL="4572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cs typeface="Lucida Sans Unicode" pitchFamily="34" charset="0"/>
        </a:defRPr>
      </a:lvl6pPr>
      <a:lvl7pPr marL="9144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cs typeface="Lucida Sans Unicode" pitchFamily="34" charset="0"/>
        </a:defRPr>
      </a:lvl7pPr>
      <a:lvl8pPr marL="13716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cs typeface="Lucida Sans Unicode" pitchFamily="34" charset="0"/>
        </a:defRPr>
      </a:lvl8pPr>
      <a:lvl9pPr marL="1828800" algn="l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cs typeface="Lucida Sans Unicode" pitchFamily="34" charset="0"/>
        </a:defRPr>
      </a:lvl9pPr>
    </p:titleStyle>
    <p:bodyStyle>
      <a:lvl1pPr marL="333375" indent="-333375" algn="l" defTabSz="449263" rtl="0" eaLnBrk="0" fontAlgn="base" hangingPunct="0">
        <a:lnSpc>
          <a:spcPct val="74000"/>
        </a:lnSpc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Lucida Sans Unicode" pitchFamily="34" charset="0"/>
          <a:cs typeface="+mn-cs"/>
        </a:defRPr>
      </a:lvl1pPr>
      <a:lvl2pPr marL="733425" indent="-276225" algn="l" defTabSz="449263" rtl="0" eaLnBrk="0" fontAlgn="base" hangingPunct="0">
        <a:lnSpc>
          <a:spcPct val="74000"/>
        </a:lnSpc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Lucida Sans Unicode" pitchFamily="34" charset="0"/>
          <a:cs typeface="+mn-cs"/>
        </a:defRPr>
      </a:lvl2pPr>
      <a:lvl3pPr marL="1143000" indent="-228600" algn="l" defTabSz="449263" rtl="0" eaLnBrk="0" fontAlgn="base" hangingPunct="0">
        <a:lnSpc>
          <a:spcPct val="74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Lucida Sans Unicode" pitchFamily="34" charset="0"/>
          <a:cs typeface="+mn-cs"/>
        </a:defRPr>
      </a:lvl3pPr>
      <a:lvl4pPr marL="1600200" indent="-228600" algn="l" defTabSz="449263" rtl="0" eaLnBrk="0" fontAlgn="base" hangingPunct="0">
        <a:lnSpc>
          <a:spcPct val="74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Lucida Sans Unicode" pitchFamily="34" charset="0"/>
          <a:cs typeface="+mn-cs"/>
        </a:defRPr>
      </a:lvl4pPr>
      <a:lvl5pPr marL="2057400" indent="-228600" algn="l" defTabSz="449263" rtl="0" eaLnBrk="0" fontAlgn="base" hangingPunct="0">
        <a:lnSpc>
          <a:spcPct val="74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Lucida Sans Unicode" pitchFamily="34" charset="0"/>
          <a:cs typeface="+mn-cs"/>
        </a:defRPr>
      </a:lvl5pPr>
      <a:lvl6pPr marL="2514600" indent="-228600" algn="l" defTabSz="449263" rtl="0" eaLnBrk="0" fontAlgn="base" hangingPunct="0">
        <a:lnSpc>
          <a:spcPct val="74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cs typeface="+mn-cs"/>
        </a:defRPr>
      </a:lvl6pPr>
      <a:lvl7pPr marL="2971800" indent="-228600" algn="l" defTabSz="449263" rtl="0" eaLnBrk="0" fontAlgn="base" hangingPunct="0">
        <a:lnSpc>
          <a:spcPct val="74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cs typeface="+mn-cs"/>
        </a:defRPr>
      </a:lvl7pPr>
      <a:lvl8pPr marL="3429000" indent="-228600" algn="l" defTabSz="449263" rtl="0" eaLnBrk="0" fontAlgn="base" hangingPunct="0">
        <a:lnSpc>
          <a:spcPct val="74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cs typeface="+mn-cs"/>
        </a:defRPr>
      </a:lvl8pPr>
      <a:lvl9pPr marL="3886200" indent="-228600" algn="l" defTabSz="449263" rtl="0" eaLnBrk="0" fontAlgn="base" hangingPunct="0">
        <a:lnSpc>
          <a:spcPct val="74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4.png"/><Relationship Id="rId4" Type="http://schemas.openxmlformats.org/officeDocument/2006/relationships/image" Target="../media/image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6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9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8.w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9.bin"/><Relationship Id="rId4" Type="http://schemas.openxmlformats.org/officeDocument/2006/relationships/image" Target="../media/image10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13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6.wmf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5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.bin"/><Relationship Id="rId3" Type="http://schemas.openxmlformats.org/officeDocument/2006/relationships/oleObject" Target="../embeddings/oleObject15.bin"/><Relationship Id="rId7" Type="http://schemas.openxmlformats.org/officeDocument/2006/relationships/image" Target="../media/image18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6.bin"/><Relationship Id="rId5" Type="http://schemas.openxmlformats.org/officeDocument/2006/relationships/image" Target="../media/image20.wmf"/><Relationship Id="rId4" Type="http://schemas.openxmlformats.org/officeDocument/2006/relationships/image" Target="../media/image17.wmf"/><Relationship Id="rId9" Type="http://schemas.openxmlformats.org/officeDocument/2006/relationships/image" Target="../media/image19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21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4.png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9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0.bin"/><Relationship Id="rId7" Type="http://schemas.openxmlformats.org/officeDocument/2006/relationships/oleObject" Target="../embeddings/oleObject22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21.bin"/><Relationship Id="rId4" Type="http://schemas.openxmlformats.org/officeDocument/2006/relationships/image" Target="../media/image25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8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3.vml"/><Relationship Id="rId4" Type="http://schemas.openxmlformats.org/officeDocument/2006/relationships/image" Target="../media/image29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30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9.bin"/><Relationship Id="rId13" Type="http://schemas.openxmlformats.org/officeDocument/2006/relationships/oleObject" Target="../embeddings/oleObject31.bin"/><Relationship Id="rId3" Type="http://schemas.openxmlformats.org/officeDocument/2006/relationships/image" Target="../media/image38.png"/><Relationship Id="rId7" Type="http://schemas.openxmlformats.org/officeDocument/2006/relationships/image" Target="../media/image33.wmf"/><Relationship Id="rId12" Type="http://schemas.openxmlformats.org/officeDocument/2006/relationships/image" Target="../media/image39.wmf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7.wmf"/><Relationship Id="rId1" Type="http://schemas.openxmlformats.org/officeDocument/2006/relationships/vmlDrawing" Target="../drawings/vmlDrawing15.vml"/><Relationship Id="rId6" Type="http://schemas.openxmlformats.org/officeDocument/2006/relationships/oleObject" Target="../embeddings/oleObject28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5" Type="http://schemas.openxmlformats.org/officeDocument/2006/relationships/oleObject" Target="../embeddings/oleObject32.bin"/><Relationship Id="rId10" Type="http://schemas.openxmlformats.org/officeDocument/2006/relationships/oleObject" Target="../embeddings/oleObject30.bin"/><Relationship Id="rId4" Type="http://schemas.openxmlformats.org/officeDocument/2006/relationships/oleObject" Target="../embeddings/oleObject27.bin"/><Relationship Id="rId9" Type="http://schemas.openxmlformats.org/officeDocument/2006/relationships/image" Target="../media/image34.wmf"/><Relationship Id="rId14" Type="http://schemas.openxmlformats.org/officeDocument/2006/relationships/image" Target="../media/image36.w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13" Type="http://schemas.openxmlformats.org/officeDocument/2006/relationships/image" Target="../media/image40.wmf"/><Relationship Id="rId3" Type="http://schemas.openxmlformats.org/officeDocument/2006/relationships/image" Target="../media/image38.png"/><Relationship Id="rId7" Type="http://schemas.openxmlformats.org/officeDocument/2006/relationships/image" Target="../media/image33.wmf"/><Relationship Id="rId12" Type="http://schemas.openxmlformats.org/officeDocument/2006/relationships/oleObject" Target="../embeddings/oleObject37.bin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41.wmf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34.bin"/><Relationship Id="rId11" Type="http://schemas.openxmlformats.org/officeDocument/2006/relationships/image" Target="../media/image35.wmf"/><Relationship Id="rId5" Type="http://schemas.openxmlformats.org/officeDocument/2006/relationships/image" Target="../media/image32.wmf"/><Relationship Id="rId15" Type="http://schemas.openxmlformats.org/officeDocument/2006/relationships/oleObject" Target="../embeddings/oleObject38.bin"/><Relationship Id="rId10" Type="http://schemas.openxmlformats.org/officeDocument/2006/relationships/oleObject" Target="../embeddings/oleObject36.bin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4.wmf"/><Relationship Id="rId14" Type="http://schemas.openxmlformats.org/officeDocument/2006/relationships/image" Target="../media/image42.wmf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1600200" y="1890698"/>
            <a:ext cx="72390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1pPr>
            <a:lvl2pPr marL="742950" indent="-285750"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2pPr>
            <a:lvl3pPr marL="1143000" indent="-228600"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3pPr>
            <a:lvl4pPr marL="1600200" indent="-228600"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4pPr>
            <a:lvl5pPr marL="2057400" indent="-228600"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5pPr>
            <a:lvl6pPr marL="2514600" indent="-228600" algn="ctr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6pPr>
            <a:lvl7pPr marL="2971800" indent="-228600" algn="ctr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7pPr>
            <a:lvl8pPr marL="3429000" indent="-228600" algn="ctr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8pPr>
            <a:lvl9pPr marL="3886200" indent="-228600" algn="ctr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 algn="ctr" defTabSz="914400" eaLnBrk="1" hangingPunct="1">
              <a:lnSpc>
                <a:spcPct val="150000"/>
              </a:lnSpc>
              <a:spcBef>
                <a:spcPct val="50000"/>
              </a:spcBef>
              <a:buClrTx/>
              <a:buSzTx/>
              <a:buFontTx/>
              <a:buNone/>
            </a:pPr>
            <a:r>
              <a:rPr lang="en-US" b="1" dirty="0" smtClean="0">
                <a:solidFill>
                  <a:srgbClr val="008000"/>
                </a:solidFill>
              </a:rPr>
              <a:t>Harmonic Balance Finite Element Analysis of</a:t>
            </a:r>
            <a:br>
              <a:rPr lang="en-US" b="1" dirty="0" smtClean="0">
                <a:solidFill>
                  <a:srgbClr val="008000"/>
                </a:solidFill>
              </a:rPr>
            </a:br>
            <a:r>
              <a:rPr lang="en-US" b="1" dirty="0" smtClean="0">
                <a:solidFill>
                  <a:srgbClr val="008000"/>
                </a:solidFill>
              </a:rPr>
              <a:t>Third Order Intermodulation Products in</a:t>
            </a:r>
            <a:br>
              <a:rPr lang="en-US" b="1" dirty="0" smtClean="0">
                <a:solidFill>
                  <a:srgbClr val="008000"/>
                </a:solidFill>
              </a:rPr>
            </a:br>
            <a:r>
              <a:rPr lang="en-US" b="1" dirty="0" smtClean="0">
                <a:solidFill>
                  <a:srgbClr val="008000"/>
                </a:solidFill>
              </a:rPr>
              <a:t>Ferrite Devices</a:t>
            </a:r>
            <a:endParaRPr lang="en-US" b="1" dirty="0">
              <a:solidFill>
                <a:srgbClr val="008000"/>
              </a:solidFill>
            </a:endParaRP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258888" y="3933056"/>
            <a:ext cx="7885112" cy="153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/>
          <a:p>
            <a:pPr algn="ctr" eaLnBrk="1" hangingPunct="1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SzTx/>
              <a:buFont typeface="Wingdings" pitchFamily="2" charset="2"/>
              <a:buNone/>
              <a:tabLst>
                <a:tab pos="457200" algn="l"/>
                <a:tab pos="904875" algn="l"/>
                <a:tab pos="1354138" algn="l"/>
                <a:tab pos="1803400" algn="l"/>
                <a:tab pos="2252663" algn="l"/>
                <a:tab pos="2701925" algn="l"/>
                <a:tab pos="3151188" algn="l"/>
                <a:tab pos="3600450" algn="l"/>
                <a:tab pos="4049713" algn="l"/>
                <a:tab pos="4498975" algn="l"/>
                <a:tab pos="4948238" algn="l"/>
                <a:tab pos="5397500" algn="l"/>
                <a:tab pos="5846763" algn="l"/>
                <a:tab pos="6296025" algn="l"/>
                <a:tab pos="6745288" algn="l"/>
                <a:tab pos="7194550" algn="l"/>
                <a:tab pos="7643813" algn="l"/>
                <a:tab pos="8093075" algn="l"/>
                <a:tab pos="8542338" algn="l"/>
                <a:tab pos="8991600" algn="l"/>
                <a:tab pos="9440863" algn="l"/>
              </a:tabLst>
            </a:pPr>
            <a:r>
              <a:rPr lang="it-IT" sz="1600" b="1" i="1" u="sng" dirty="0" smtClean="0">
                <a:solidFill>
                  <a:srgbClr val="006600"/>
                </a:solidFill>
              </a:rPr>
              <a:t>Laurent Ntibarikure</a:t>
            </a:r>
            <a:r>
              <a:rPr lang="it-IT" sz="1600" b="1" i="1" dirty="0" smtClean="0">
                <a:solidFill>
                  <a:srgbClr val="006600"/>
                </a:solidFill>
              </a:rPr>
              <a:t>, Giuseppe Pelosi, </a:t>
            </a:r>
            <a:r>
              <a:rPr lang="it-IT" sz="1600" b="1" i="1" dirty="0">
                <a:solidFill>
                  <a:srgbClr val="006600"/>
                </a:solidFill>
              </a:rPr>
              <a:t>Stefano </a:t>
            </a:r>
            <a:r>
              <a:rPr lang="it-IT" sz="1600" b="1" i="1" dirty="0" smtClean="0">
                <a:solidFill>
                  <a:srgbClr val="006600"/>
                </a:solidFill>
              </a:rPr>
              <a:t>Selleri</a:t>
            </a:r>
            <a:endParaRPr lang="it-IT" sz="1600" b="1" i="1" dirty="0">
              <a:solidFill>
                <a:srgbClr val="006600"/>
              </a:solidFill>
            </a:endParaRPr>
          </a:p>
          <a:p>
            <a:pPr algn="ctr" eaLnBrk="1" hangingPunct="1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SzTx/>
              <a:buFont typeface="Wingdings" pitchFamily="2" charset="2"/>
              <a:buNone/>
              <a:tabLst>
                <a:tab pos="457200" algn="l"/>
                <a:tab pos="904875" algn="l"/>
                <a:tab pos="1354138" algn="l"/>
                <a:tab pos="1803400" algn="l"/>
                <a:tab pos="2252663" algn="l"/>
                <a:tab pos="2701925" algn="l"/>
                <a:tab pos="3151188" algn="l"/>
                <a:tab pos="3600450" algn="l"/>
                <a:tab pos="4049713" algn="l"/>
                <a:tab pos="4498975" algn="l"/>
                <a:tab pos="4948238" algn="l"/>
                <a:tab pos="5397500" algn="l"/>
                <a:tab pos="5846763" algn="l"/>
                <a:tab pos="6296025" algn="l"/>
                <a:tab pos="6745288" algn="l"/>
                <a:tab pos="7194550" algn="l"/>
                <a:tab pos="7643813" algn="l"/>
                <a:tab pos="8093075" algn="l"/>
                <a:tab pos="8542338" algn="l"/>
                <a:tab pos="8991600" algn="l"/>
                <a:tab pos="9440863" algn="l"/>
              </a:tabLst>
            </a:pPr>
            <a:endParaRPr lang="it-IT" sz="1600" i="1" baseline="30000" dirty="0" smtClean="0">
              <a:solidFill>
                <a:srgbClr val="006600"/>
              </a:solidFill>
            </a:endParaRPr>
          </a:p>
          <a:p>
            <a:pPr algn="ctr" eaLnBrk="1" hangingPunct="1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SzTx/>
              <a:buFont typeface="Wingdings" pitchFamily="2" charset="2"/>
              <a:buNone/>
              <a:tabLst>
                <a:tab pos="457200" algn="l"/>
                <a:tab pos="904875" algn="l"/>
                <a:tab pos="1354138" algn="l"/>
                <a:tab pos="1803400" algn="l"/>
                <a:tab pos="2252663" algn="l"/>
                <a:tab pos="2701925" algn="l"/>
                <a:tab pos="3151188" algn="l"/>
                <a:tab pos="3600450" algn="l"/>
                <a:tab pos="4049713" algn="l"/>
                <a:tab pos="4498975" algn="l"/>
                <a:tab pos="4948238" algn="l"/>
                <a:tab pos="5397500" algn="l"/>
                <a:tab pos="5846763" algn="l"/>
                <a:tab pos="6296025" algn="l"/>
                <a:tab pos="6745288" algn="l"/>
                <a:tab pos="7194550" algn="l"/>
                <a:tab pos="7643813" algn="l"/>
                <a:tab pos="8093075" algn="l"/>
                <a:tab pos="8542338" algn="l"/>
                <a:tab pos="8991600" algn="l"/>
                <a:tab pos="9440863" algn="l"/>
              </a:tabLst>
            </a:pPr>
            <a:endParaRPr lang="it-IT" sz="1600" i="1" baseline="30000" dirty="0">
              <a:solidFill>
                <a:srgbClr val="006600"/>
              </a:solidFill>
            </a:endParaRPr>
          </a:p>
          <a:p>
            <a:pPr algn="ctr" eaLnBrk="1" hangingPunct="1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SzTx/>
              <a:buFont typeface="Wingdings" pitchFamily="2" charset="2"/>
              <a:buNone/>
              <a:tabLst>
                <a:tab pos="457200" algn="l"/>
                <a:tab pos="904875" algn="l"/>
                <a:tab pos="1354138" algn="l"/>
                <a:tab pos="1803400" algn="l"/>
                <a:tab pos="2252663" algn="l"/>
                <a:tab pos="2701925" algn="l"/>
                <a:tab pos="3151188" algn="l"/>
                <a:tab pos="3600450" algn="l"/>
                <a:tab pos="4049713" algn="l"/>
                <a:tab pos="4498975" algn="l"/>
                <a:tab pos="4948238" algn="l"/>
                <a:tab pos="5397500" algn="l"/>
                <a:tab pos="5846763" algn="l"/>
                <a:tab pos="6296025" algn="l"/>
                <a:tab pos="6745288" algn="l"/>
                <a:tab pos="7194550" algn="l"/>
                <a:tab pos="7643813" algn="l"/>
                <a:tab pos="8093075" algn="l"/>
                <a:tab pos="8542338" algn="l"/>
                <a:tab pos="8991600" algn="l"/>
                <a:tab pos="9440863" algn="l"/>
              </a:tabLst>
            </a:pPr>
            <a:r>
              <a:rPr lang="en-US" sz="1600" i="1" dirty="0" smtClean="0">
                <a:solidFill>
                  <a:srgbClr val="006600"/>
                </a:solidFill>
              </a:rPr>
              <a:t>Department </a:t>
            </a:r>
            <a:r>
              <a:rPr lang="en-US" sz="1600" i="1" dirty="0">
                <a:solidFill>
                  <a:srgbClr val="006600"/>
                </a:solidFill>
              </a:rPr>
              <a:t>of Electronics and Telecommunications (DET), University of Florence</a:t>
            </a:r>
          </a:p>
          <a:p>
            <a:pPr algn="ctr" eaLnBrk="1" hangingPunct="1">
              <a:lnSpc>
                <a:spcPct val="120000"/>
              </a:lnSpc>
              <a:spcBef>
                <a:spcPct val="20000"/>
              </a:spcBef>
              <a:buClr>
                <a:srgbClr val="FF3300"/>
              </a:buClr>
              <a:buSzTx/>
              <a:buFont typeface="Wingdings" pitchFamily="2" charset="2"/>
              <a:buNone/>
              <a:tabLst>
                <a:tab pos="457200" algn="l"/>
                <a:tab pos="904875" algn="l"/>
                <a:tab pos="1354138" algn="l"/>
                <a:tab pos="1803400" algn="l"/>
                <a:tab pos="2252663" algn="l"/>
                <a:tab pos="2701925" algn="l"/>
                <a:tab pos="3151188" algn="l"/>
                <a:tab pos="3600450" algn="l"/>
                <a:tab pos="4049713" algn="l"/>
                <a:tab pos="4498975" algn="l"/>
                <a:tab pos="4948238" algn="l"/>
                <a:tab pos="5397500" algn="l"/>
                <a:tab pos="5846763" algn="l"/>
                <a:tab pos="6296025" algn="l"/>
                <a:tab pos="6745288" algn="l"/>
                <a:tab pos="7194550" algn="l"/>
                <a:tab pos="7643813" algn="l"/>
                <a:tab pos="8093075" algn="l"/>
                <a:tab pos="8542338" algn="l"/>
                <a:tab pos="8991600" algn="l"/>
                <a:tab pos="9440863" algn="l"/>
              </a:tabLst>
            </a:pPr>
            <a:r>
              <a:rPr lang="en-US" sz="1600" i="1" dirty="0">
                <a:solidFill>
                  <a:srgbClr val="006600"/>
                </a:solidFill>
              </a:rPr>
              <a:t>V</a:t>
            </a:r>
            <a:r>
              <a:rPr lang="en-US" sz="1600" i="1" dirty="0" smtClean="0">
                <a:solidFill>
                  <a:srgbClr val="006600"/>
                </a:solidFill>
              </a:rPr>
              <a:t>ia di Santa Marta 3 - 50139 </a:t>
            </a:r>
            <a:r>
              <a:rPr lang="en-US" sz="1600" i="1" dirty="0">
                <a:solidFill>
                  <a:srgbClr val="006600"/>
                </a:solidFill>
              </a:rPr>
              <a:t>- Florence, </a:t>
            </a:r>
            <a:r>
              <a:rPr lang="en-US" sz="1600" i="1" dirty="0" smtClean="0">
                <a:solidFill>
                  <a:srgbClr val="006600"/>
                </a:solidFill>
              </a:rPr>
              <a:t>Italy</a:t>
            </a:r>
            <a:endParaRPr lang="en-US" sz="1600" i="1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4491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8"/>
          <p:cNvSpPr>
            <a:spLocks noChangeArrowheads="1"/>
          </p:cNvSpPr>
          <p:nvPr/>
        </p:nvSpPr>
        <p:spPr bwMode="auto">
          <a:xfrm>
            <a:off x="838200" y="1143000"/>
            <a:ext cx="8305800" cy="463846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lIns="90000" tIns="46800" rIns="90000" bIns="46800">
            <a:spAutoFit/>
          </a:bodyPr>
          <a:lstStyle/>
          <a:p>
            <a:pPr algn="ctr" eaLnBrk="1" hangingPunct="1">
              <a:lnSpc>
                <a:spcPct val="100000"/>
              </a:lnSpc>
              <a:buClr>
                <a:srgbClr val="814FFD"/>
              </a:buClr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GB" sz="2400" b="1" dirty="0">
                <a:solidFill>
                  <a:srgbClr val="008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cs typeface="Times New Roman" pitchFamily="18" charset="0"/>
              </a:rPr>
              <a:t>Outline</a:t>
            </a: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1907704" y="2078986"/>
            <a:ext cx="6550496" cy="37262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square" lIns="90000" tIns="46800" rIns="90000" bIns="46800">
            <a:spAutoFit/>
          </a:bodyPr>
          <a:lstStyle>
            <a:lvl1pPr marL="466725" indent="-466725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1pPr>
            <a:lvl2pPr marL="742950" indent="-28575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2pPr>
            <a:lvl3pPr marL="11430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3pPr>
            <a:lvl4pPr marL="16002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4pPr>
            <a:lvl5pPr marL="2057400" indent="-22860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5pPr>
            <a:lvl6pPr marL="2514600" indent="-228600" algn="ctr" defTabSz="449263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6pPr>
            <a:lvl7pPr marL="2971800" indent="-228600" algn="ctr" defTabSz="449263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7pPr>
            <a:lvl8pPr marL="3429000" indent="-228600" algn="ctr" defTabSz="449263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8pPr>
            <a:lvl9pPr marL="3886200" indent="-228600" algn="ctr" defTabSz="449263" eaLnBrk="0" fontAlgn="base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 sz="2400">
                <a:solidFill>
                  <a:schemeClr val="bg1"/>
                </a:solidFill>
                <a:latin typeface="Times New Roman" pitchFamily="18" charset="0"/>
                <a:ea typeface="Lucida Sans Unicode" pitchFamily="34" charset="0"/>
                <a:cs typeface="Lucida Sans Unicode" pitchFamily="34" charset="0"/>
              </a:defRPr>
            </a:lvl9pPr>
          </a:lstStyle>
          <a:p>
            <a:pPr algn="l" eaLnBrk="1" hangingPunct="1">
              <a:lnSpc>
                <a:spcPct val="200000"/>
              </a:lnSpc>
              <a:buClr>
                <a:srgbClr val="33CC33"/>
              </a:buClr>
              <a:buFont typeface="Wingdings" pitchFamily="2" charset="2"/>
              <a:buChar char="v"/>
            </a:pPr>
            <a:r>
              <a:rPr lang="en-GB" sz="1800" dirty="0" smtClean="0">
                <a:solidFill>
                  <a:srgbClr val="006600"/>
                </a:solidFill>
              </a:rPr>
              <a:t>Motivation</a:t>
            </a:r>
            <a:endParaRPr lang="en-GB" sz="1800" dirty="0">
              <a:solidFill>
                <a:srgbClr val="006600"/>
              </a:solidFill>
            </a:endParaRPr>
          </a:p>
          <a:p>
            <a:pPr algn="l" eaLnBrk="1" hangingPunct="1">
              <a:lnSpc>
                <a:spcPct val="200000"/>
              </a:lnSpc>
              <a:buClr>
                <a:srgbClr val="33CC33"/>
              </a:buClr>
              <a:buFont typeface="Wingdings" pitchFamily="2" charset="2"/>
              <a:buChar char="v"/>
            </a:pPr>
            <a:r>
              <a:rPr lang="en-GB" sz="1800" dirty="0" smtClean="0">
                <a:solidFill>
                  <a:srgbClr val="006600"/>
                </a:solidFill>
              </a:rPr>
              <a:t>Formulation</a:t>
            </a:r>
          </a:p>
          <a:p>
            <a:pPr lvl="1">
              <a:spcBef>
                <a:spcPts val="1200"/>
              </a:spcBef>
              <a:buClr>
                <a:srgbClr val="33CC33"/>
              </a:buClr>
              <a:buFont typeface="Wingdings" pitchFamily="2" charset="2"/>
              <a:buChar char="v"/>
            </a:pPr>
            <a:r>
              <a:rPr lang="en-GB" sz="1800" dirty="0" smtClean="0">
                <a:solidFill>
                  <a:srgbClr val="006600"/>
                </a:solidFill>
              </a:rPr>
              <a:t>Harmonic Balance Finite Elements for nonlinear</a:t>
            </a:r>
            <a:br>
              <a:rPr lang="en-GB" sz="1800" dirty="0" smtClean="0">
                <a:solidFill>
                  <a:srgbClr val="006600"/>
                </a:solidFill>
              </a:rPr>
            </a:br>
            <a:r>
              <a:rPr lang="en-GB" sz="1800" dirty="0" smtClean="0">
                <a:solidFill>
                  <a:srgbClr val="006600"/>
                </a:solidFill>
              </a:rPr>
              <a:t> microwave devices</a:t>
            </a:r>
            <a:endParaRPr lang="en-GB" sz="1800" dirty="0">
              <a:solidFill>
                <a:srgbClr val="006600"/>
              </a:solidFill>
            </a:endParaRPr>
          </a:p>
          <a:p>
            <a:pPr algn="l" eaLnBrk="1" hangingPunct="1">
              <a:lnSpc>
                <a:spcPct val="200000"/>
              </a:lnSpc>
              <a:buClr>
                <a:srgbClr val="33CC33"/>
              </a:buClr>
              <a:buFont typeface="Wingdings" pitchFamily="2" charset="2"/>
              <a:buChar char="v"/>
            </a:pPr>
            <a:r>
              <a:rPr lang="en-GB" sz="1800" dirty="0" smtClean="0">
                <a:solidFill>
                  <a:srgbClr val="006600"/>
                </a:solidFill>
              </a:rPr>
              <a:t>Numerical experiment</a:t>
            </a:r>
          </a:p>
          <a:p>
            <a:pPr lvl="1">
              <a:spcBef>
                <a:spcPts val="1200"/>
              </a:spcBef>
              <a:buClr>
                <a:srgbClr val="33CC33"/>
              </a:buClr>
              <a:buFont typeface="Wingdings" pitchFamily="2" charset="2"/>
              <a:buChar char="v"/>
            </a:pPr>
            <a:r>
              <a:rPr lang="en-GB" sz="1800" i="1" dirty="0" smtClean="0">
                <a:solidFill>
                  <a:srgbClr val="006600"/>
                </a:solidFill>
              </a:rPr>
              <a:t>H</a:t>
            </a:r>
            <a:r>
              <a:rPr lang="en-GB" sz="1800" dirty="0" smtClean="0">
                <a:solidFill>
                  <a:srgbClr val="006600"/>
                </a:solidFill>
              </a:rPr>
              <a:t>-plane nonlinear analysis of rectangular </a:t>
            </a:r>
            <a:br>
              <a:rPr lang="en-GB" sz="1800" dirty="0" smtClean="0">
                <a:solidFill>
                  <a:srgbClr val="006600"/>
                </a:solidFill>
              </a:rPr>
            </a:br>
            <a:r>
              <a:rPr lang="en-GB" sz="1800" dirty="0" smtClean="0">
                <a:solidFill>
                  <a:srgbClr val="006600"/>
                </a:solidFill>
              </a:rPr>
              <a:t>waveguide ferrite circulator</a:t>
            </a:r>
          </a:p>
          <a:p>
            <a:pPr algn="l" eaLnBrk="1" hangingPunct="1">
              <a:lnSpc>
                <a:spcPct val="200000"/>
              </a:lnSpc>
              <a:buClr>
                <a:srgbClr val="33CC33"/>
              </a:buClr>
              <a:buFont typeface="Wingdings" pitchFamily="2" charset="2"/>
              <a:buChar char="v"/>
            </a:pPr>
            <a:r>
              <a:rPr lang="en-GB" sz="1800" dirty="0" smtClean="0">
                <a:solidFill>
                  <a:srgbClr val="006600"/>
                </a:solidFill>
              </a:rPr>
              <a:t>Conclusions</a:t>
            </a:r>
            <a:endParaRPr lang="en-GB" sz="1800" dirty="0">
              <a:solidFill>
                <a:srgbClr val="00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3163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19672" y="1700809"/>
            <a:ext cx="6818278" cy="4655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When high power densities are involved within microwave devices, materials exhibit a significant nonlinear behavior:</a:t>
            </a:r>
          </a:p>
          <a:p>
            <a:pPr marL="285750" indent="-285750">
              <a:buClr>
                <a:srgbClr val="92D050"/>
              </a:buClr>
              <a:buFont typeface="Wingdings" pitchFamily="2" charset="2"/>
              <a:buChar char="v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92D050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92D050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92D050"/>
              </a:buClr>
              <a:buFont typeface="Wingdings" pitchFamily="2" charset="2"/>
              <a:buChar char="v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92D050"/>
              </a:buClr>
              <a:buFont typeface="Wingdings" pitchFamily="2" charset="2"/>
              <a:buChar char="v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92D050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92D050"/>
              </a:buClr>
              <a:buFont typeface="Wingdings" pitchFamily="2" charset="2"/>
              <a:buChar char="v"/>
            </a:pP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If steady state fields are aimed at for a finite set of frequencies, a frequency domain analysis might be preferable to a time domain analysis</a:t>
            </a: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92D050"/>
              </a:buClr>
              <a:buFont typeface="Wingdings" pitchFamily="2" charset="2"/>
              <a:buChar char="v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92D050"/>
              </a:buClr>
              <a:buFont typeface="Wingdings" pitchFamily="2" charset="2"/>
              <a:buChar char="v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92D050"/>
              </a:buClr>
              <a:buFont typeface="Wingdings" pitchFamily="2" charset="2"/>
              <a:buChar char="v"/>
            </a:pP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Frequency domain methods for solving nonlinear PDEs require an iterative solution and the inclusion of higher order harmonics to improve accuracy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987991"/>
              </p:ext>
            </p:extLst>
          </p:nvPr>
        </p:nvGraphicFramePr>
        <p:xfrm>
          <a:off x="4285861" y="2780928"/>
          <a:ext cx="14859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" name="Equation" r:id="rId3" imgW="1485720" imgH="672840" progId="Equation.DSMT4">
                  <p:embed/>
                </p:oleObj>
              </mc:Choice>
              <mc:Fallback>
                <p:oleObj name="Equation" r:id="rId3" imgW="1485720" imgH="6728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285861" y="2780928"/>
                        <a:ext cx="1485900" cy="673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asellaDiTesto 9"/>
          <p:cNvSpPr txBox="1"/>
          <p:nvPr/>
        </p:nvSpPr>
        <p:spPr>
          <a:xfrm>
            <a:off x="1219200" y="1003300"/>
            <a:ext cx="7924800" cy="369332"/>
          </a:xfrm>
          <a:prstGeom prst="rect">
            <a:avLst/>
          </a:prstGeom>
          <a:solidFill>
            <a:srgbClr val="009900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800" b="1" cap="small" dirty="0" smtClean="0">
                <a:solidFill>
                  <a:srgbClr val="CCFF99"/>
                </a:solidFill>
              </a:rPr>
              <a:t>Motivation: The problem</a:t>
            </a:r>
            <a:endParaRPr lang="it-IT" sz="1800" b="1" cap="small" dirty="0">
              <a:solidFill>
                <a:srgbClr val="CC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0956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601416" y="2060848"/>
            <a:ext cx="7160368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Clr>
                <a:srgbClr val="33CC33"/>
              </a:buClr>
            </a:pPr>
            <a:r>
              <a:rPr lang="en-US" sz="2000" u="sng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Harmonic Balance Finite Elements:</a:t>
            </a:r>
          </a:p>
          <a:p>
            <a:pPr marL="342900" indent="-342900">
              <a:buClr>
                <a:srgbClr val="33CC33"/>
              </a:buClr>
              <a:buFont typeface="Wingdings" pitchFamily="2" charset="2"/>
              <a:buChar char="v"/>
            </a:pPr>
            <a:endParaRPr lang="en-US" sz="2000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A multiharmonic finite elements formulation, the Harmonic Balance Finite Elements (HBFE), allows for the inclusion of higher order harmonics which are coupled by means of material characteristics</a:t>
            </a: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The HBFE approach allows for passive intermodulation analysis</a:t>
            </a:r>
            <a:b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(3</a:t>
            </a:r>
            <a:r>
              <a:rPr lang="en-US" baseline="300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rd</a:t>
            </a: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order intermodulation products)</a:t>
            </a:r>
          </a:p>
        </p:txBody>
      </p:sp>
      <p:sp>
        <p:nvSpPr>
          <p:cNvPr id="4" name="CasellaDiTesto 9"/>
          <p:cNvSpPr txBox="1"/>
          <p:nvPr/>
        </p:nvSpPr>
        <p:spPr>
          <a:xfrm>
            <a:off x="1219200" y="1003300"/>
            <a:ext cx="7924800" cy="369332"/>
          </a:xfrm>
          <a:prstGeom prst="rect">
            <a:avLst/>
          </a:prstGeom>
          <a:solidFill>
            <a:srgbClr val="009900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800" b="1" cap="small" dirty="0" smtClean="0">
                <a:solidFill>
                  <a:srgbClr val="CCFF99"/>
                </a:solidFill>
              </a:rPr>
              <a:t>Motivation: Proposed methodology</a:t>
            </a:r>
            <a:endParaRPr lang="it-IT" sz="1800" b="1" cap="small" dirty="0">
              <a:solidFill>
                <a:srgbClr val="CC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561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auto">
          <a:xfrm>
            <a:off x="2612571" y="4194629"/>
            <a:ext cx="5123543" cy="248194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it-IT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  <a:cs typeface="Lucida Sans Unicode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75656" y="1700808"/>
            <a:ext cx="741682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rgbClr val="33CC33"/>
              </a:buClr>
              <a:buFont typeface="Wingdings" pitchFamily="2" charset="2"/>
              <a:buChar char="v"/>
            </a:pP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We wish to solve the vector Helmholtz equation</a:t>
            </a:r>
          </a:p>
          <a:p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      with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perfect electric conditions on  </a:t>
            </a:r>
            <a:r>
              <a:rPr lang="el-GR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Γ</a:t>
            </a:r>
            <a:r>
              <a:rPr lang="it-IT" baseline="-250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</a:p>
          <a:p>
            <a:pPr marL="1200150" lvl="2" indent="-285750">
              <a:buFont typeface="Arial" pitchFamily="34" charset="0"/>
              <a:buChar char="•"/>
            </a:pP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modal port expansions </a:t>
            </a:r>
            <a:r>
              <a:rPr lang="it-IT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on </a:t>
            </a:r>
            <a:r>
              <a:rPr lang="el-GR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Γ</a:t>
            </a:r>
            <a:r>
              <a:rPr lang="it-IT" i="1" baseline="-250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it-IT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,  </a:t>
            </a:r>
            <a:r>
              <a:rPr lang="en-US" i="1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=1…L.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520" y="635546"/>
            <a:ext cx="8640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endParaRPr lang="en-US" sz="1600" dirty="0" smtClean="0"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5047426"/>
              </p:ext>
            </p:extLst>
          </p:nvPr>
        </p:nvGraphicFramePr>
        <p:xfrm>
          <a:off x="2434518" y="2327130"/>
          <a:ext cx="54991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87" name="Equation" r:id="rId3" imgW="5499000" imgH="647640" progId="Equation.DSMT4">
                  <p:embed/>
                </p:oleObj>
              </mc:Choice>
              <mc:Fallback>
                <p:oleObj name="Equation" r:id="rId3" imgW="5499000" imgH="647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34518" y="2327130"/>
                        <a:ext cx="54991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 dirty="0"/>
          </a:p>
        </p:txBody>
      </p:sp>
      <p:pic>
        <p:nvPicPr>
          <p:cNvPr id="14" name="Picture 74" descr="C:\Users\Laurent\Desktop\img\device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0893" y="4293010"/>
            <a:ext cx="4946350" cy="23272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CasellaDiTesto 9"/>
          <p:cNvSpPr txBox="1"/>
          <p:nvPr/>
        </p:nvSpPr>
        <p:spPr>
          <a:xfrm>
            <a:off x="1219200" y="1003300"/>
            <a:ext cx="7924800" cy="369332"/>
          </a:xfrm>
          <a:prstGeom prst="rect">
            <a:avLst/>
          </a:prstGeom>
          <a:solidFill>
            <a:srgbClr val="009900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800" b="1" cap="small" dirty="0" smtClean="0">
                <a:solidFill>
                  <a:srgbClr val="CCFF99"/>
                </a:solidFill>
              </a:rPr>
              <a:t>Formulation: Conventional Finite Elements (Single Harmonic)</a:t>
            </a:r>
            <a:endParaRPr lang="it-IT" sz="1800" b="1" cap="small" dirty="0">
              <a:solidFill>
                <a:srgbClr val="CC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650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9"/>
          <p:cNvSpPr txBox="1"/>
          <p:nvPr/>
        </p:nvSpPr>
        <p:spPr>
          <a:xfrm>
            <a:off x="1219200" y="1003300"/>
            <a:ext cx="7924800" cy="369332"/>
          </a:xfrm>
          <a:prstGeom prst="rect">
            <a:avLst/>
          </a:prstGeom>
          <a:solidFill>
            <a:srgbClr val="009900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800" b="1" cap="small" dirty="0" smtClean="0">
                <a:solidFill>
                  <a:srgbClr val="CCFF99"/>
                </a:solidFill>
              </a:rPr>
              <a:t>Formulation: Conventional Finite Elements (Single Harmonic)</a:t>
            </a:r>
            <a:endParaRPr lang="it-IT" sz="1800" b="1" cap="small" dirty="0">
              <a:solidFill>
                <a:srgbClr val="CCFF99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475656" y="1674674"/>
            <a:ext cx="748883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r>
              <a:rPr lang="en-US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The electric field is expanded  in terms of basis </a:t>
            </a: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functions:</a:t>
            </a: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Galerkin </a:t>
            </a:r>
            <a:r>
              <a:rPr lang="en-US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projection leads to a linear system of </a:t>
            </a: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equations:</a:t>
            </a: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Down Arrow 4"/>
          <p:cNvSpPr/>
          <p:nvPr/>
        </p:nvSpPr>
        <p:spPr bwMode="auto">
          <a:xfrm>
            <a:off x="4929572" y="4782615"/>
            <a:ext cx="504056" cy="446585"/>
          </a:xfrm>
          <a:prstGeom prst="downArrow">
            <a:avLst/>
          </a:prstGeom>
          <a:solidFill>
            <a:srgbClr val="33CC33"/>
          </a:solidFill>
          <a:ln>
            <a:solidFill>
              <a:srgbClr val="006600"/>
            </a:solidFill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 dirty="0">
              <a:latin typeface="Calibri" pitchFamily="34" charset="0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67122"/>
              </p:ext>
            </p:extLst>
          </p:nvPr>
        </p:nvGraphicFramePr>
        <p:xfrm>
          <a:off x="4139952" y="2276872"/>
          <a:ext cx="173990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1" name="Equation" r:id="rId3" imgW="1739880" imgH="507960" progId="Equation.DSMT4">
                  <p:embed/>
                </p:oleObj>
              </mc:Choice>
              <mc:Fallback>
                <p:oleObj name="Equation" r:id="rId3" imgW="1739880" imgH="50796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2276872"/>
                        <a:ext cx="173990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115871"/>
              </p:ext>
            </p:extLst>
          </p:nvPr>
        </p:nvGraphicFramePr>
        <p:xfrm>
          <a:off x="2178050" y="3692004"/>
          <a:ext cx="6007100" cy="673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2" name="Equation" r:id="rId5" imgW="6006960" imgH="672840" progId="Equation.DSMT4">
                  <p:embed/>
                </p:oleObj>
              </mc:Choice>
              <mc:Fallback>
                <p:oleObj name="Equation" r:id="rId5" imgW="6006960" imgH="67284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8050" y="3692004"/>
                        <a:ext cx="6007100" cy="673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3825654"/>
              </p:ext>
            </p:extLst>
          </p:nvPr>
        </p:nvGraphicFramePr>
        <p:xfrm>
          <a:off x="4413470" y="5661248"/>
          <a:ext cx="1485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03" name="Equation" r:id="rId7" imgW="1485720" imgH="342720" progId="Equation.DSMT4">
                  <p:embed/>
                </p:oleObj>
              </mc:Choice>
              <mc:Fallback>
                <p:oleObj name="Equation" r:id="rId7" imgW="1485720" imgH="34272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3470" y="5661248"/>
                        <a:ext cx="1485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0241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32856" y="5157192"/>
            <a:ext cx="7431632" cy="116955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buClr>
                <a:srgbClr val="33CC33"/>
              </a:buClr>
            </a:pPr>
            <a:r>
              <a:rPr lang="en-US" sz="1400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S. Yamada, K. </a:t>
            </a:r>
            <a:r>
              <a:rPr lang="en-US" sz="1400" dirty="0" err="1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Bessho</a:t>
            </a:r>
            <a:r>
              <a:rPr lang="en-US" sz="1400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, and J. Lu, “Harmonic balance finite </a:t>
            </a:r>
            <a:r>
              <a:rPr lang="en-US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element method </a:t>
            </a:r>
            <a:r>
              <a:rPr lang="en-US" sz="1400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applied to </a:t>
            </a:r>
            <a:r>
              <a:rPr lang="en-US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nonlinear </a:t>
            </a:r>
            <a:r>
              <a:rPr lang="en-US" sz="1400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AC magnetic analysis,” </a:t>
            </a:r>
            <a:r>
              <a:rPr lang="en-US" sz="1400" i="1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IEEE </a:t>
            </a:r>
            <a:r>
              <a:rPr lang="en-US" sz="1400" i="1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Trans. </a:t>
            </a:r>
            <a:r>
              <a:rPr lang="nl-NL" sz="1400" i="1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Magn</a:t>
            </a:r>
            <a:r>
              <a:rPr lang="nl-NL" sz="1400" i="1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nl-NL" sz="1400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nl-NL" sz="1400" b="1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MAG-25</a:t>
            </a:r>
            <a:r>
              <a:rPr lang="nl-NL" sz="1400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, no. 4, pp. 2971–2973, </a:t>
            </a:r>
            <a:r>
              <a:rPr lang="nl-NL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Jul</a:t>
            </a:r>
            <a:r>
              <a:rPr lang="nl-NL" sz="1400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nl-NL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1989</a:t>
            </a: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§"/>
            </a:pPr>
            <a:endParaRPr lang="nl-NL" sz="1400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33CC33"/>
              </a:buClr>
            </a:pPr>
            <a:r>
              <a:rPr lang="en-US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D</a:t>
            </a:r>
            <a:r>
              <a:rPr lang="en-US" sz="1400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. M. Copeland and U. Langer, “Domain decomposition solvers </a:t>
            </a:r>
            <a:r>
              <a:rPr lang="en-US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for nonlinear multiharmonic finite </a:t>
            </a:r>
            <a:r>
              <a:rPr lang="en-US" sz="1400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element equations,” </a:t>
            </a:r>
            <a:r>
              <a:rPr lang="en-US" sz="1400" i="1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J. </a:t>
            </a:r>
            <a:r>
              <a:rPr lang="en-US" sz="1400" i="1" dirty="0" err="1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Numer</a:t>
            </a:r>
            <a:r>
              <a:rPr lang="en-US" sz="1400" i="1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. Math</a:t>
            </a:r>
            <a:r>
              <a:rPr lang="en-US" sz="1400" i="1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, vol</a:t>
            </a:r>
            <a:r>
              <a:rPr lang="en-US" sz="1400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. 18, no. 3, pp. 157–175, Oct. </a:t>
            </a:r>
            <a:r>
              <a:rPr lang="en-US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2010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5656" y="1635765"/>
            <a:ext cx="748883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The electric field is expressed as a sum of harmonic functions:</a:t>
            </a: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33CC33"/>
              </a:buClr>
            </a:pPr>
            <a:r>
              <a:rPr lang="en-US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</a:p>
          <a:p>
            <a:pPr>
              <a:buClr>
                <a:srgbClr val="33CC33"/>
              </a:buClr>
            </a:pPr>
            <a:r>
              <a:rPr lang="en-US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   where</a:t>
            </a: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6767768"/>
              </p:ext>
            </p:extLst>
          </p:nvPr>
        </p:nvGraphicFramePr>
        <p:xfrm>
          <a:off x="2956396" y="2133228"/>
          <a:ext cx="4279900" cy="647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8" name="Equation" r:id="rId3" imgW="4279680" imgH="647640" progId="Equation.DSMT4">
                  <p:embed/>
                </p:oleObj>
              </mc:Choice>
              <mc:Fallback>
                <p:oleObj name="Equation" r:id="rId3" imgW="4279680" imgH="647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956396" y="2133228"/>
                        <a:ext cx="4279900" cy="647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CasellaDiTesto 9"/>
          <p:cNvSpPr txBox="1"/>
          <p:nvPr/>
        </p:nvSpPr>
        <p:spPr>
          <a:xfrm>
            <a:off x="1219200" y="1003300"/>
            <a:ext cx="7924800" cy="369332"/>
          </a:xfrm>
          <a:prstGeom prst="rect">
            <a:avLst/>
          </a:prstGeom>
          <a:solidFill>
            <a:srgbClr val="009900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800" b="1" cap="small" dirty="0" smtClean="0">
                <a:solidFill>
                  <a:srgbClr val="CCFF99"/>
                </a:solidFill>
              </a:rPr>
              <a:t>Formulation: </a:t>
            </a:r>
            <a:r>
              <a:rPr lang="en-GB" b="1" cap="small" dirty="0" smtClean="0">
                <a:solidFill>
                  <a:srgbClr val="CCFF99"/>
                </a:solidFill>
              </a:rPr>
              <a:t>Harmonic Balance </a:t>
            </a:r>
            <a:r>
              <a:rPr lang="en-GB" sz="1800" b="1" cap="small" dirty="0" smtClean="0">
                <a:solidFill>
                  <a:srgbClr val="CCFF99"/>
                </a:solidFill>
              </a:rPr>
              <a:t>FE (Multiple Harmonics)</a:t>
            </a:r>
            <a:endParaRPr lang="it-IT" sz="1800" b="1" cap="small" dirty="0">
              <a:solidFill>
                <a:srgbClr val="CCFF99"/>
              </a:solidFill>
            </a:endParaRPr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9765039"/>
              </p:ext>
            </p:extLst>
          </p:nvPr>
        </p:nvGraphicFramePr>
        <p:xfrm>
          <a:off x="3851920" y="3548236"/>
          <a:ext cx="21590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99" name="Equation" r:id="rId5" imgW="2158920" imgH="1104840" progId="Equation.DSMT4">
                  <p:embed/>
                </p:oleObj>
              </mc:Choice>
              <mc:Fallback>
                <p:oleObj name="Equation" r:id="rId5" imgW="2158920" imgH="11048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920" y="3548236"/>
                        <a:ext cx="21590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52580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03648" y="1668864"/>
            <a:ext cx="756084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r>
              <a:rPr lang="en-US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Materials permittivity or permeability is also expressed in terms of harmonic functions:</a:t>
            </a: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33CC33"/>
              </a:buClr>
            </a:pPr>
            <a:r>
              <a:rPr lang="en-US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33CC33"/>
              </a:buClr>
            </a:pP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  </a:t>
            </a:r>
          </a:p>
          <a:p>
            <a:pPr>
              <a:buClr>
                <a:srgbClr val="33CC33"/>
              </a:buClr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33CC33"/>
              </a:buClr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33CC33"/>
              </a:buClr>
            </a:pP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   with</a:t>
            </a: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3696760"/>
              </p:ext>
            </p:extLst>
          </p:nvPr>
        </p:nvGraphicFramePr>
        <p:xfrm>
          <a:off x="2627313" y="2484438"/>
          <a:ext cx="4584600" cy="634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7" name="Equation" r:id="rId3" imgW="4584600" imgH="634680" progId="Equation.DSMT4">
                  <p:embed/>
                </p:oleObj>
              </mc:Choice>
              <mc:Fallback>
                <p:oleObj name="Equation" r:id="rId3" imgW="4584600" imgH="63468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2484438"/>
                        <a:ext cx="4584600" cy="634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6420027"/>
              </p:ext>
            </p:extLst>
          </p:nvPr>
        </p:nvGraphicFramePr>
        <p:xfrm>
          <a:off x="3419872" y="4581128"/>
          <a:ext cx="3187700" cy="199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8" name="Equation" r:id="rId5" imgW="3187440" imgH="1993680" progId="Equation.DSMT4">
                  <p:embed/>
                </p:oleObj>
              </mc:Choice>
              <mc:Fallback>
                <p:oleObj name="Equation" r:id="rId5" imgW="3187440" imgH="199368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872" y="4581128"/>
                        <a:ext cx="3187700" cy="199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531346"/>
              </p:ext>
            </p:extLst>
          </p:nvPr>
        </p:nvGraphicFramePr>
        <p:xfrm>
          <a:off x="4427984" y="3379316"/>
          <a:ext cx="1117600" cy="54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9" name="Equation" r:id="rId7" imgW="1117440" imgH="545760" progId="Equation.DSMT4">
                  <p:embed/>
                </p:oleObj>
              </mc:Choice>
              <mc:Fallback>
                <p:oleObj name="Equation" r:id="rId7" imgW="1117440" imgH="5457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427984" y="3379316"/>
                        <a:ext cx="1117600" cy="546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llaDiTesto 9"/>
          <p:cNvSpPr txBox="1"/>
          <p:nvPr/>
        </p:nvSpPr>
        <p:spPr>
          <a:xfrm>
            <a:off x="1219200" y="1003300"/>
            <a:ext cx="7924800" cy="369332"/>
          </a:xfrm>
          <a:prstGeom prst="rect">
            <a:avLst/>
          </a:prstGeom>
          <a:solidFill>
            <a:srgbClr val="009900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800" b="1" cap="small" dirty="0" smtClean="0">
                <a:solidFill>
                  <a:srgbClr val="CCFF99"/>
                </a:solidFill>
              </a:rPr>
              <a:t>Formulation: </a:t>
            </a:r>
            <a:r>
              <a:rPr lang="en-GB" b="1" cap="small" dirty="0" smtClean="0">
                <a:solidFill>
                  <a:srgbClr val="CCFF99"/>
                </a:solidFill>
              </a:rPr>
              <a:t>Harmonic Balance </a:t>
            </a:r>
            <a:r>
              <a:rPr lang="en-GB" sz="1800" b="1" cap="small" dirty="0" smtClean="0">
                <a:solidFill>
                  <a:srgbClr val="CCFF99"/>
                </a:solidFill>
              </a:rPr>
              <a:t>FE (Multiple Harmonics)</a:t>
            </a:r>
            <a:endParaRPr lang="it-IT" sz="1800" b="1" cap="small" dirty="0">
              <a:solidFill>
                <a:srgbClr val="CC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356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63890" y="1772816"/>
            <a:ext cx="760059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With further Galerkin projection of the vector Helmholtz equation with the chosen harmonic functions (</a:t>
            </a:r>
            <a:r>
              <a:rPr lang="en-US" i="1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k</a:t>
            </a:r>
            <a:r>
              <a:rPr lang="en-US" i="1" baseline="-250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i="1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l-GR" i="1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it-IT" i="1" baseline="-250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p</a:t>
            </a:r>
            <a:r>
              <a:rPr lang="it-IT" i="1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/c</a:t>
            </a:r>
            <a:r>
              <a:rPr lang="it-IT" i="1" baseline="-250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), a large scale HBFE system is obtained</a:t>
            </a: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380947"/>
              </p:ext>
            </p:extLst>
          </p:nvPr>
        </p:nvGraphicFramePr>
        <p:xfrm>
          <a:off x="2169492" y="4653136"/>
          <a:ext cx="5930900" cy="1384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2" name="Equation" r:id="rId3" imgW="5930640" imgH="1384200" progId="Equation.DSMT4">
                  <p:embed/>
                </p:oleObj>
              </mc:Choice>
              <mc:Fallback>
                <p:oleObj name="Equation" r:id="rId3" imgW="5930640" imgH="1384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69492" y="4653136"/>
                        <a:ext cx="5930900" cy="1384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210475"/>
              </p:ext>
            </p:extLst>
          </p:nvPr>
        </p:nvGraphicFramePr>
        <p:xfrm>
          <a:off x="4355976" y="3014092"/>
          <a:ext cx="14859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43" name="Equation" r:id="rId5" imgW="1485720" imgH="342720" progId="Equation.DSMT4">
                  <p:embed/>
                </p:oleObj>
              </mc:Choice>
              <mc:Fallback>
                <p:oleObj name="Equation" r:id="rId5" imgW="1485720" imgH="34272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3014092"/>
                        <a:ext cx="14859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asellaDiTesto 9"/>
          <p:cNvSpPr txBox="1"/>
          <p:nvPr/>
        </p:nvSpPr>
        <p:spPr>
          <a:xfrm>
            <a:off x="1219200" y="1003300"/>
            <a:ext cx="7924800" cy="369332"/>
          </a:xfrm>
          <a:prstGeom prst="rect">
            <a:avLst/>
          </a:prstGeom>
          <a:solidFill>
            <a:srgbClr val="009900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800" b="1" cap="small" dirty="0" smtClean="0">
                <a:solidFill>
                  <a:srgbClr val="CCFF99"/>
                </a:solidFill>
              </a:rPr>
              <a:t>Formulation: </a:t>
            </a:r>
            <a:r>
              <a:rPr lang="en-GB" b="1" cap="small" dirty="0" smtClean="0">
                <a:solidFill>
                  <a:srgbClr val="CCFF99"/>
                </a:solidFill>
              </a:rPr>
              <a:t>Harmonic Balance </a:t>
            </a:r>
            <a:r>
              <a:rPr lang="en-GB" sz="1800" b="1" cap="small" dirty="0" smtClean="0">
                <a:solidFill>
                  <a:srgbClr val="CCFF99"/>
                </a:solidFill>
              </a:rPr>
              <a:t>FE (Multiple Harmonics)</a:t>
            </a:r>
            <a:endParaRPr lang="it-IT" sz="1800" b="1" cap="small" dirty="0">
              <a:solidFill>
                <a:srgbClr val="CCFF99"/>
              </a:solidFill>
            </a:endParaRPr>
          </a:p>
        </p:txBody>
      </p:sp>
      <p:sp>
        <p:nvSpPr>
          <p:cNvPr id="11" name="Down Arrow 10"/>
          <p:cNvSpPr/>
          <p:nvPr/>
        </p:nvSpPr>
        <p:spPr bwMode="auto">
          <a:xfrm>
            <a:off x="4860032" y="3717032"/>
            <a:ext cx="504056" cy="446585"/>
          </a:xfrm>
          <a:prstGeom prst="downArrow">
            <a:avLst/>
          </a:prstGeom>
          <a:solidFill>
            <a:srgbClr val="33CC33"/>
          </a:solidFill>
          <a:ln>
            <a:solidFill>
              <a:srgbClr val="006600"/>
            </a:solidFill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207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03648" y="2312258"/>
            <a:ext cx="748883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r>
              <a:rPr lang="en-US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The nonlinear solution is handled via a relaxed iteration, starting from a null solution vector to evaluate material properties</a:t>
            </a: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r>
              <a:rPr lang="en-US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The convergence criterion is chosen on the basis of </a:t>
            </a: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consecutive solutions</a:t>
            </a:r>
            <a:r>
              <a:rPr lang="en-US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9556269"/>
              </p:ext>
            </p:extLst>
          </p:nvPr>
        </p:nvGraphicFramePr>
        <p:xfrm>
          <a:off x="2451100" y="3218812"/>
          <a:ext cx="54610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4" name="Equation" r:id="rId3" imgW="5460840" imgH="393480" progId="Equation.DSMT4">
                  <p:embed/>
                </p:oleObj>
              </mc:Choice>
              <mc:Fallback>
                <p:oleObj name="Equation" r:id="rId3" imgW="5460840" imgH="39348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100" y="3218812"/>
                        <a:ext cx="54610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438211"/>
              </p:ext>
            </p:extLst>
          </p:nvPr>
        </p:nvGraphicFramePr>
        <p:xfrm>
          <a:off x="4314552" y="4941168"/>
          <a:ext cx="1625600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25" name="Equation" r:id="rId5" imgW="1625400" imgH="774360" progId="Equation.DSMT4">
                  <p:embed/>
                </p:oleObj>
              </mc:Choice>
              <mc:Fallback>
                <p:oleObj name="Equation" r:id="rId5" imgW="1625400" imgH="77436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4552" y="4941168"/>
                        <a:ext cx="1625600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asellaDiTesto 9"/>
          <p:cNvSpPr txBox="1"/>
          <p:nvPr/>
        </p:nvSpPr>
        <p:spPr>
          <a:xfrm>
            <a:off x="1219200" y="1003300"/>
            <a:ext cx="7924800" cy="369332"/>
          </a:xfrm>
          <a:prstGeom prst="rect">
            <a:avLst/>
          </a:prstGeom>
          <a:solidFill>
            <a:srgbClr val="009900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800" b="1" cap="small" dirty="0" smtClean="0">
                <a:solidFill>
                  <a:srgbClr val="CCFF99"/>
                </a:solidFill>
              </a:rPr>
              <a:t>Formulation: </a:t>
            </a:r>
            <a:r>
              <a:rPr lang="en-GB" b="1" cap="small" dirty="0" smtClean="0">
                <a:solidFill>
                  <a:srgbClr val="CCFF99"/>
                </a:solidFill>
              </a:rPr>
              <a:t>Harmonic Balance </a:t>
            </a:r>
            <a:r>
              <a:rPr lang="en-GB" sz="1800" b="1" cap="small" dirty="0" smtClean="0">
                <a:solidFill>
                  <a:srgbClr val="CCFF99"/>
                </a:solidFill>
              </a:rPr>
              <a:t>FE (Multiple Harmonics)</a:t>
            </a:r>
            <a:endParaRPr lang="it-IT" sz="1800" b="1" cap="small" dirty="0">
              <a:solidFill>
                <a:srgbClr val="CC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6229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1374619" y="2060848"/>
            <a:ext cx="748883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For </a:t>
            </a:r>
            <a:r>
              <a:rPr lang="en-US" i="1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-plane uniformity</a:t>
            </a: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33CC33"/>
              </a:buClr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33CC33"/>
              </a:buClr>
            </a:pP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Thus, vector formulation can be </a:t>
            </a:r>
            <a:b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treated as scalar:</a:t>
            </a: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6723277"/>
              </p:ext>
            </p:extLst>
          </p:nvPr>
        </p:nvGraphicFramePr>
        <p:xfrm>
          <a:off x="2253793" y="4797152"/>
          <a:ext cx="5765800" cy="172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5" name="Equation" r:id="rId3" imgW="5765760" imgH="1726920" progId="Equation.DSMT4">
                  <p:embed/>
                </p:oleObj>
              </mc:Choice>
              <mc:Fallback>
                <p:oleObj name="Equation" r:id="rId3" imgW="5765760" imgH="17269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3793" y="4797152"/>
                        <a:ext cx="5765800" cy="172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"/>
          <p:cNvGrpSpPr/>
          <p:nvPr/>
        </p:nvGrpSpPr>
        <p:grpSpPr>
          <a:xfrm>
            <a:off x="5364088" y="1645816"/>
            <a:ext cx="2831194" cy="2779284"/>
            <a:chOff x="5508103" y="3212976"/>
            <a:chExt cx="3417387" cy="3361796"/>
          </a:xfrm>
        </p:grpSpPr>
        <p:sp>
          <p:nvSpPr>
            <p:cNvPr id="8" name="Rectangle 7"/>
            <p:cNvSpPr/>
            <p:nvPr/>
          </p:nvSpPr>
          <p:spPr bwMode="auto">
            <a:xfrm>
              <a:off x="5508103" y="3212976"/>
              <a:ext cx="3417387" cy="3361796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449263" rtl="0" eaLnBrk="0" fontAlgn="base" latinLnBrk="0" hangingPunct="0">
                <a:lnSpc>
                  <a:spcPct val="74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tabLst/>
              </a:pPr>
              <a:endParaRPr kumimoji="0" lang="it-IT" sz="2400" b="0" i="0" u="none" strike="noStrike" cap="none" normalizeH="0" baseline="0" smtClean="0">
                <a:ln>
                  <a:noFill/>
                </a:ln>
                <a:solidFill>
                  <a:schemeClr val="bg1"/>
                </a:solidFill>
                <a:effectLst/>
                <a:latin typeface="Times New Roman" pitchFamily="18" charset="0"/>
                <a:cs typeface="Lucida Sans Unicode" pitchFamily="34" charset="0"/>
              </a:endParaRPr>
            </a:p>
          </p:txBody>
        </p:sp>
        <p:pic>
          <p:nvPicPr>
            <p:cNvPr id="10" name="Immagine 1" descr="circulator_v1_f1.wmf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29076" y="3316280"/>
              <a:ext cx="3119388" cy="3209064"/>
            </a:xfrm>
            <a:prstGeom prst="rect">
              <a:avLst/>
            </a:prstGeom>
          </p:spPr>
        </p:pic>
        <p:graphicFrame>
          <p:nvGraphicFramePr>
            <p:cNvPr id="13" name="Object 1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220139894"/>
                </p:ext>
              </p:extLst>
            </p:nvPr>
          </p:nvGraphicFramePr>
          <p:xfrm>
            <a:off x="6335713" y="5070475"/>
            <a:ext cx="889000" cy="292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506" name="Equation" r:id="rId6" imgW="888840" imgH="291960" progId="Equation.DSMT4">
                    <p:embed/>
                  </p:oleObj>
                </mc:Choice>
                <mc:Fallback>
                  <p:oleObj name="Equation" r:id="rId6" imgW="888840" imgH="291960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335713" y="5070475"/>
                          <a:ext cx="889000" cy="2921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CasellaDiTesto 9"/>
          <p:cNvSpPr txBox="1"/>
          <p:nvPr/>
        </p:nvSpPr>
        <p:spPr>
          <a:xfrm>
            <a:off x="1219200" y="1003300"/>
            <a:ext cx="7924800" cy="369332"/>
          </a:xfrm>
          <a:prstGeom prst="rect">
            <a:avLst/>
          </a:prstGeom>
          <a:solidFill>
            <a:srgbClr val="009900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800" b="1" cap="small" dirty="0" smtClean="0">
                <a:solidFill>
                  <a:srgbClr val="CCFF99"/>
                </a:solidFill>
              </a:rPr>
              <a:t>Numerical experiment: </a:t>
            </a:r>
            <a:r>
              <a:rPr lang="en-GB" b="1" cap="small" dirty="0">
                <a:solidFill>
                  <a:srgbClr val="CCFF99"/>
                </a:solidFill>
              </a:rPr>
              <a:t>L</a:t>
            </a:r>
            <a:r>
              <a:rPr lang="en-GB" b="1" cap="small" dirty="0" smtClean="0">
                <a:solidFill>
                  <a:srgbClr val="CCFF99"/>
                </a:solidFill>
              </a:rPr>
              <a:t>inear microwave </a:t>
            </a:r>
            <a:r>
              <a:rPr lang="en-GB" sz="1800" b="1" cap="small" dirty="0" smtClean="0">
                <a:solidFill>
                  <a:srgbClr val="CCFF99"/>
                </a:solidFill>
              </a:rPr>
              <a:t>ferrite circulator</a:t>
            </a:r>
            <a:endParaRPr lang="it-IT" sz="1800" b="1" cap="small" dirty="0">
              <a:solidFill>
                <a:srgbClr val="CCFF99"/>
              </a:solidFill>
            </a:endParaRP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1573762"/>
              </p:ext>
            </p:extLst>
          </p:nvPr>
        </p:nvGraphicFramePr>
        <p:xfrm>
          <a:off x="2078360" y="2878708"/>
          <a:ext cx="2133600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507" name="Equation" r:id="rId8" imgW="2133360" imgH="622080" progId="Equation.DSMT4">
                  <p:embed/>
                </p:oleObj>
              </mc:Choice>
              <mc:Fallback>
                <p:oleObj name="Equation" r:id="rId8" imgW="2133360" imgH="6220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78360" y="2878708"/>
                        <a:ext cx="2133600" cy="622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79904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5878089"/>
              </p:ext>
            </p:extLst>
          </p:nvPr>
        </p:nvGraphicFramePr>
        <p:xfrm>
          <a:off x="3491880" y="1916832"/>
          <a:ext cx="3035300" cy="341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10" name="Equation" r:id="rId3" imgW="3035160" imgH="3416040" progId="Equation.DSMT4">
                  <p:embed/>
                </p:oleObj>
              </mc:Choice>
              <mc:Fallback>
                <p:oleObj name="Equation" r:id="rId3" imgW="3035160" imgH="3416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1880" y="1916832"/>
                        <a:ext cx="3035300" cy="341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/>
          <p:cNvSpPr/>
          <p:nvPr/>
        </p:nvSpPr>
        <p:spPr>
          <a:xfrm>
            <a:off x="1331640" y="5949280"/>
            <a:ext cx="7675360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it-IT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M. </a:t>
            </a:r>
            <a:r>
              <a:rPr lang="it-IT" sz="1400" dirty="0" err="1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Koshiba</a:t>
            </a:r>
            <a:r>
              <a:rPr lang="it-IT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and M. Suzuki, “</a:t>
            </a:r>
            <a:r>
              <a:rPr lang="en-US" sz="1400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Finite-Element Analysis of </a:t>
            </a:r>
            <a:r>
              <a:rPr lang="en-US" sz="1400" i="1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-Plane Waveguide </a:t>
            </a:r>
            <a:r>
              <a:rPr lang="en-US" sz="1400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Junction with </a:t>
            </a:r>
            <a:r>
              <a:rPr lang="en-US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Arbitrarily Shaped </a:t>
            </a:r>
            <a:r>
              <a:rPr lang="en-US" sz="1400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Ferrite Post</a:t>
            </a:r>
            <a:r>
              <a:rPr lang="en-US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,” </a:t>
            </a:r>
            <a:r>
              <a:rPr lang="en-US" sz="1400" i="1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IEEE Trans. </a:t>
            </a:r>
            <a:r>
              <a:rPr lang="en-US" sz="1400" i="1" dirty="0" err="1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Microw</a:t>
            </a:r>
            <a:r>
              <a:rPr lang="en-US" sz="1400" i="1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. Theory Tech.</a:t>
            </a:r>
            <a:r>
              <a:rPr lang="en-US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400" b="1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MTT-34</a:t>
            </a:r>
            <a:r>
              <a:rPr lang="en-US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400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no. </a:t>
            </a:r>
            <a:r>
              <a:rPr lang="en-US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1, </a:t>
            </a:r>
            <a:r>
              <a:rPr lang="en-US" sz="1400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pp. </a:t>
            </a:r>
            <a:r>
              <a:rPr lang="en-US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103–109, Jan. 1986.</a:t>
            </a:r>
            <a:endParaRPr lang="en-US" sz="1400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asellaDiTesto 9"/>
          <p:cNvSpPr txBox="1"/>
          <p:nvPr/>
        </p:nvSpPr>
        <p:spPr>
          <a:xfrm>
            <a:off x="1219200" y="1003300"/>
            <a:ext cx="7924800" cy="369332"/>
          </a:xfrm>
          <a:prstGeom prst="rect">
            <a:avLst/>
          </a:prstGeom>
          <a:solidFill>
            <a:srgbClr val="009900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800" b="1" cap="small" dirty="0" smtClean="0">
                <a:solidFill>
                  <a:srgbClr val="CCFF99"/>
                </a:solidFill>
              </a:rPr>
              <a:t>Numerical experiment: </a:t>
            </a:r>
            <a:r>
              <a:rPr lang="en-GB" b="1" cap="small" dirty="0">
                <a:solidFill>
                  <a:srgbClr val="CCFF99"/>
                </a:solidFill>
              </a:rPr>
              <a:t>L</a:t>
            </a:r>
            <a:r>
              <a:rPr lang="en-GB" b="1" cap="small" dirty="0" smtClean="0">
                <a:solidFill>
                  <a:srgbClr val="CCFF99"/>
                </a:solidFill>
              </a:rPr>
              <a:t>inear microwave </a:t>
            </a:r>
            <a:r>
              <a:rPr lang="en-GB" sz="1800" b="1" cap="small" dirty="0" smtClean="0">
                <a:solidFill>
                  <a:srgbClr val="CCFF99"/>
                </a:solidFill>
              </a:rPr>
              <a:t>ferrite circulator</a:t>
            </a:r>
            <a:endParaRPr lang="it-IT" sz="1800" b="1" cap="small" dirty="0">
              <a:solidFill>
                <a:srgbClr val="CC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336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auto">
          <a:xfrm>
            <a:off x="4377221" y="3284984"/>
            <a:ext cx="3985406" cy="314773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it-IT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  <a:cs typeface="Lucida Sans Unicode" pitchFamily="34" charset="0"/>
            </a:endParaRPr>
          </a:p>
        </p:txBody>
      </p:sp>
      <p:pic>
        <p:nvPicPr>
          <p:cNvPr id="3" name="Immagine 7" descr="circulator_v1_f2.wmf"/>
          <p:cNvPicPr/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492029" y="3481587"/>
            <a:ext cx="3611774" cy="2826530"/>
          </a:xfrm>
          <a:prstGeom prst="rect">
            <a:avLst/>
          </a:prstGeom>
        </p:spPr>
      </p:pic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1925382"/>
              </p:ext>
            </p:extLst>
          </p:nvPr>
        </p:nvGraphicFramePr>
        <p:xfrm>
          <a:off x="1654175" y="2636838"/>
          <a:ext cx="2057400" cy="3086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33" name="Equation" r:id="rId4" imgW="2057400" imgH="3085920" progId="Equation.DSMT4">
                  <p:embed/>
                </p:oleObj>
              </mc:Choice>
              <mc:Fallback>
                <p:oleObj name="Equation" r:id="rId4" imgW="2057400" imgH="308592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4175" y="2636838"/>
                        <a:ext cx="2057400" cy="3086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/>
          <p:cNvSpPr/>
          <p:nvPr/>
        </p:nvSpPr>
        <p:spPr>
          <a:xfrm>
            <a:off x="1403648" y="1484784"/>
            <a:ext cx="76328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r>
              <a:rPr lang="en-US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The internal DC </a:t>
            </a: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magnetic </a:t>
            </a:r>
            <a:r>
              <a:rPr lang="en-US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field </a:t>
            </a:r>
            <a:r>
              <a:rPr lang="en-US" i="1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baseline="-25000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, out-of-plane directed, is considered uniform within the TT1-109 ferrite post</a:t>
            </a: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asellaDiTesto 9"/>
          <p:cNvSpPr txBox="1"/>
          <p:nvPr/>
        </p:nvSpPr>
        <p:spPr>
          <a:xfrm>
            <a:off x="1219200" y="1003300"/>
            <a:ext cx="7924800" cy="369332"/>
          </a:xfrm>
          <a:prstGeom prst="rect">
            <a:avLst/>
          </a:prstGeom>
          <a:solidFill>
            <a:srgbClr val="009900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800" b="1" cap="small" dirty="0" smtClean="0">
                <a:solidFill>
                  <a:srgbClr val="CCFF99"/>
                </a:solidFill>
              </a:rPr>
              <a:t>Numerical experiment: </a:t>
            </a:r>
            <a:r>
              <a:rPr lang="en-GB" b="1" cap="small" dirty="0" smtClean="0">
                <a:solidFill>
                  <a:srgbClr val="CCFF99"/>
                </a:solidFill>
              </a:rPr>
              <a:t>L</a:t>
            </a:r>
            <a:r>
              <a:rPr lang="en-GB" sz="1800" b="1" cap="small" dirty="0" smtClean="0">
                <a:solidFill>
                  <a:srgbClr val="CCFF99"/>
                </a:solidFill>
              </a:rPr>
              <a:t>inear microwave ferrite circulator</a:t>
            </a:r>
            <a:endParaRPr lang="it-IT" sz="1800" b="1" cap="small" dirty="0">
              <a:solidFill>
                <a:srgbClr val="CCFF99"/>
              </a:solidFill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441" t="8247" r="17470" b="14547"/>
          <a:stretch/>
        </p:blipFill>
        <p:spPr bwMode="auto">
          <a:xfrm>
            <a:off x="7524328" y="1881197"/>
            <a:ext cx="1343612" cy="1522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Oval 1"/>
          <p:cNvSpPr/>
          <p:nvPr/>
        </p:nvSpPr>
        <p:spPr bwMode="auto">
          <a:xfrm>
            <a:off x="6344158" y="3404075"/>
            <a:ext cx="316074" cy="316654"/>
          </a:xfrm>
          <a:prstGeom prst="ellipse">
            <a:avLst/>
          </a:prstGeom>
          <a:noFill/>
          <a:ln w="952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it-IT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  <a:cs typeface="Lucida Sans Unicode" pitchFamily="34" charset="0"/>
            </a:endParaRPr>
          </a:p>
        </p:txBody>
      </p:sp>
      <p:cxnSp>
        <p:nvCxnSpPr>
          <p:cNvPr id="10" name="Straight Arrow Connector 9"/>
          <p:cNvCxnSpPr/>
          <p:nvPr/>
        </p:nvCxnSpPr>
        <p:spPr bwMode="auto">
          <a:xfrm flipV="1">
            <a:off x="6643439" y="2924944"/>
            <a:ext cx="880889" cy="556643"/>
          </a:xfrm>
          <a:prstGeom prst="straightConnector1">
            <a:avLst/>
          </a:prstGeom>
          <a:solidFill>
            <a:srgbClr val="00B8FF"/>
          </a:solidFill>
          <a:ln w="9525" cap="flat" cmpd="sng" algn="ctr">
            <a:solidFill>
              <a:srgbClr val="0066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  <p:extLst>
      <p:ext uri="{BB962C8B-B14F-4D97-AF65-F5344CB8AC3E}">
        <p14:creationId xmlns:p14="http://schemas.microsoft.com/office/powerpoint/2010/main" val="2737177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401180" y="1657831"/>
            <a:ext cx="756084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To derive a nonlinear permeability of the ferrite at microwave frequencies, the total magnetic induction and field are given by:</a:t>
            </a: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The macroscopic equation of motion is</a:t>
            </a: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33CC33"/>
              </a:buClr>
            </a:pP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and expressing equation for each component of the magnetization in frequency domain: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11709274"/>
              </p:ext>
            </p:extLst>
          </p:nvPr>
        </p:nvGraphicFramePr>
        <p:xfrm>
          <a:off x="3911600" y="2489200"/>
          <a:ext cx="29972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8" name="Equation" r:id="rId3" imgW="2997000" imgH="291960" progId="Equation.DSMT4">
                  <p:embed/>
                </p:oleObj>
              </mc:Choice>
              <mc:Fallback>
                <p:oleObj name="Equation" r:id="rId3" imgW="2997000" imgH="2919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911600" y="2489200"/>
                        <a:ext cx="2997200" cy="292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6684078"/>
              </p:ext>
            </p:extLst>
          </p:nvPr>
        </p:nvGraphicFramePr>
        <p:xfrm>
          <a:off x="4427984" y="3429000"/>
          <a:ext cx="1778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99" name="Equation" r:id="rId5" imgW="1777680" imgH="571320" progId="Equation.DSMT4">
                  <p:embed/>
                </p:oleObj>
              </mc:Choice>
              <mc:Fallback>
                <p:oleObj name="Equation" r:id="rId5" imgW="1777680" imgH="57132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984" y="3429000"/>
                        <a:ext cx="1778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49096"/>
              </p:ext>
            </p:extLst>
          </p:nvPr>
        </p:nvGraphicFramePr>
        <p:xfrm>
          <a:off x="3347864" y="5085184"/>
          <a:ext cx="3949700" cy="1308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00" name="Equation" r:id="rId7" imgW="3949560" imgH="1307880" progId="Equation.DSMT4">
                  <p:embed/>
                </p:oleObj>
              </mc:Choice>
              <mc:Fallback>
                <p:oleObj name="Equation" r:id="rId7" imgW="3949560" imgH="130788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7864" y="5085184"/>
                        <a:ext cx="3949700" cy="1308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CasellaDiTesto 9"/>
          <p:cNvSpPr txBox="1"/>
          <p:nvPr/>
        </p:nvSpPr>
        <p:spPr>
          <a:xfrm>
            <a:off x="1219200" y="1003300"/>
            <a:ext cx="7924800" cy="369332"/>
          </a:xfrm>
          <a:prstGeom prst="rect">
            <a:avLst/>
          </a:prstGeom>
          <a:solidFill>
            <a:srgbClr val="009900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800" b="1" cap="small" dirty="0" smtClean="0">
                <a:solidFill>
                  <a:srgbClr val="CCFF99"/>
                </a:solidFill>
              </a:rPr>
              <a:t>Numerical experiment: </a:t>
            </a:r>
            <a:r>
              <a:rPr lang="en-GB" b="1" cap="small" dirty="0">
                <a:solidFill>
                  <a:srgbClr val="CCFF99"/>
                </a:solidFill>
              </a:rPr>
              <a:t>N</a:t>
            </a:r>
            <a:r>
              <a:rPr lang="en-GB" sz="1800" b="1" cap="small" dirty="0" smtClean="0">
                <a:solidFill>
                  <a:srgbClr val="CCFF99"/>
                </a:solidFill>
              </a:rPr>
              <a:t>onlinear microwave ferrite circulator</a:t>
            </a:r>
            <a:endParaRPr lang="it-IT" sz="1800" b="1" cap="small" dirty="0">
              <a:solidFill>
                <a:srgbClr val="CC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4790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389696" y="1774557"/>
            <a:ext cx="7560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By solving the previous system of equations, the following nonlinear relative permeability tensor is obtained:</a:t>
            </a:r>
          </a:p>
        </p:txBody>
      </p:sp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727299"/>
              </p:ext>
            </p:extLst>
          </p:nvPr>
        </p:nvGraphicFramePr>
        <p:xfrm>
          <a:off x="2654300" y="2840038"/>
          <a:ext cx="4889500" cy="295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8" name="Equation" r:id="rId3" imgW="4889160" imgH="2958840" progId="Equation.DSMT4">
                  <p:embed/>
                </p:oleObj>
              </mc:Choice>
              <mc:Fallback>
                <p:oleObj name="Equation" r:id="rId3" imgW="4889160" imgH="295884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54300" y="2840038"/>
                        <a:ext cx="4889500" cy="295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CasellaDiTesto 9"/>
          <p:cNvSpPr txBox="1"/>
          <p:nvPr/>
        </p:nvSpPr>
        <p:spPr>
          <a:xfrm>
            <a:off x="1219200" y="1003300"/>
            <a:ext cx="7924800" cy="369332"/>
          </a:xfrm>
          <a:prstGeom prst="rect">
            <a:avLst/>
          </a:prstGeom>
          <a:solidFill>
            <a:srgbClr val="009900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800" b="1" cap="small" dirty="0" smtClean="0">
                <a:solidFill>
                  <a:srgbClr val="CCFF99"/>
                </a:solidFill>
              </a:rPr>
              <a:t>Numerical experiment: Nonlinear microwave ferrite circulator</a:t>
            </a:r>
            <a:endParaRPr lang="it-IT" sz="1800" b="1" cap="small" dirty="0">
              <a:solidFill>
                <a:srgbClr val="CC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273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442818" y="1916832"/>
            <a:ext cx="752167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Two signals at </a:t>
            </a:r>
            <a:r>
              <a:rPr lang="el-GR" i="1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it-IT" baseline="-250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it-IT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l-GR" i="1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ω</a:t>
            </a:r>
            <a:r>
              <a:rPr lang="it-IT" baseline="-250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2  </a:t>
            </a: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impinging on the device are considered. The out-of-plane electric field is hence expressed in terms of harmonic functions as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 typeface="Arial" pitchFamily="34" charset="0"/>
              <a:buChar char="•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and so will be the magnetic in-plane components.</a:t>
            </a:r>
          </a:p>
          <a:p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8487587"/>
              </p:ext>
            </p:extLst>
          </p:nvPr>
        </p:nvGraphicFramePr>
        <p:xfrm>
          <a:off x="1416050" y="3059212"/>
          <a:ext cx="7531100" cy="158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69" name="Equation" r:id="rId3" imgW="7530840" imgH="1587240" progId="Equation.DSMT4">
                  <p:embed/>
                </p:oleObj>
              </mc:Choice>
              <mc:Fallback>
                <p:oleObj name="Equation" r:id="rId3" imgW="7530840" imgH="15872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416050" y="3059212"/>
                        <a:ext cx="7531100" cy="1587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asellaDiTesto 9"/>
          <p:cNvSpPr txBox="1"/>
          <p:nvPr/>
        </p:nvSpPr>
        <p:spPr>
          <a:xfrm>
            <a:off x="1219200" y="1003300"/>
            <a:ext cx="7924800" cy="369332"/>
          </a:xfrm>
          <a:prstGeom prst="rect">
            <a:avLst/>
          </a:prstGeom>
          <a:solidFill>
            <a:srgbClr val="009900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800" b="1" cap="small" dirty="0" smtClean="0">
                <a:solidFill>
                  <a:srgbClr val="CCFF99"/>
                </a:solidFill>
              </a:rPr>
              <a:t>Numerical experiment: Nonlinear microwave ferrite circulator</a:t>
            </a:r>
            <a:endParaRPr lang="it-IT" sz="1800" b="1" cap="small" dirty="0">
              <a:solidFill>
                <a:srgbClr val="CC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5809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03648" y="1556792"/>
            <a:ext cx="7416824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r>
              <a:rPr lang="en-US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Ferrite permeability is also expressed in terms of harmonic functions, with coefficients given by, for example for the diagonal ones of the permeability tensor</a:t>
            </a: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33CC33"/>
              </a:buClr>
            </a:pP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with</a:t>
            </a:r>
          </a:p>
          <a:p>
            <a:pPr>
              <a:buClr>
                <a:srgbClr val="33CC33"/>
              </a:buClr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33CC33"/>
              </a:buClr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33CC33"/>
              </a:buClr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33CC33"/>
              </a:buClr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33CC33"/>
              </a:buClr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33CC33"/>
              </a:buClr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33CC33"/>
              </a:buClr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33CC33"/>
              </a:buClr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33CC33"/>
              </a:buClr>
            </a:pPr>
            <a:endParaRPr lang="en-US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33CC33"/>
              </a:buClr>
            </a:pPr>
            <a:endParaRPr lang="en-US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buClr>
                <a:srgbClr val="33CC33"/>
              </a:buClr>
            </a:pPr>
            <a:r>
              <a:rPr lang="en-US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and</a:t>
            </a:r>
          </a:p>
        </p:txBody>
      </p:sp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97638519"/>
              </p:ext>
            </p:extLst>
          </p:nvPr>
        </p:nvGraphicFramePr>
        <p:xfrm>
          <a:off x="2797175" y="3405460"/>
          <a:ext cx="4762500" cy="326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1" name="Equation" r:id="rId3" imgW="4762440" imgH="3263760" progId="Equation.DSMT4">
                  <p:embed/>
                </p:oleObj>
              </mc:Choice>
              <mc:Fallback>
                <p:oleObj name="Equation" r:id="rId3" imgW="4762440" imgH="32637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7175" y="3405460"/>
                        <a:ext cx="4762500" cy="326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CasellaDiTesto 9"/>
          <p:cNvSpPr txBox="1"/>
          <p:nvPr/>
        </p:nvSpPr>
        <p:spPr>
          <a:xfrm>
            <a:off x="1219200" y="1003300"/>
            <a:ext cx="7924800" cy="369332"/>
          </a:xfrm>
          <a:prstGeom prst="rect">
            <a:avLst/>
          </a:prstGeom>
          <a:solidFill>
            <a:srgbClr val="009900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800" b="1" cap="small" dirty="0" smtClean="0">
                <a:solidFill>
                  <a:srgbClr val="CCFF99"/>
                </a:solidFill>
              </a:rPr>
              <a:t>Numerical experiment: Nonlinear microwave ferrite circulator</a:t>
            </a:r>
            <a:endParaRPr lang="it-IT" sz="1800" b="1" cap="small" dirty="0">
              <a:solidFill>
                <a:srgbClr val="CCFF99"/>
              </a:solidFill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3399083"/>
              </p:ext>
            </p:extLst>
          </p:nvPr>
        </p:nvGraphicFramePr>
        <p:xfrm>
          <a:off x="2207716" y="2573660"/>
          <a:ext cx="6108700" cy="495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62" name="Equation" r:id="rId5" imgW="6108480" imgH="495000" progId="Equation.DSMT4">
                  <p:embed/>
                </p:oleObj>
              </mc:Choice>
              <mc:Fallback>
                <p:oleObj name="Equation" r:id="rId5" imgW="6108480" imgH="4950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07716" y="2573660"/>
                        <a:ext cx="6108700" cy="495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386742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 bwMode="auto">
          <a:xfrm>
            <a:off x="2051720" y="2996952"/>
            <a:ext cx="4608512" cy="352839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it-IT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  <a:cs typeface="Lucida Sans Unicode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2771800" y="1634403"/>
            <a:ext cx="3117640" cy="1152128"/>
            <a:chOff x="-46163" y="1309836"/>
            <a:chExt cx="3389438" cy="1152128"/>
          </a:xfrm>
        </p:grpSpPr>
        <p:pic>
          <p:nvPicPr>
            <p:cNvPr id="17410" name="Picture 2" descr="C:\Users\Laurent\Desktop\circSimb.pn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58740" y="1389984"/>
              <a:ext cx="927100" cy="10699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5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48393208"/>
                </p:ext>
              </p:extLst>
            </p:nvPr>
          </p:nvGraphicFramePr>
          <p:xfrm>
            <a:off x="-46163" y="1575721"/>
            <a:ext cx="1983058" cy="6985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29" name="Equation" r:id="rId4" imgW="1981080" imgH="698400" progId="Equation.DSMT4">
                    <p:embed/>
                  </p:oleObj>
                </mc:Choice>
                <mc:Fallback>
                  <p:oleObj name="Equation" r:id="rId4" imgW="1981080" imgH="69840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46163" y="1575721"/>
                          <a:ext cx="1983058" cy="6985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171081861"/>
                </p:ext>
              </p:extLst>
            </p:nvPr>
          </p:nvGraphicFramePr>
          <p:xfrm>
            <a:off x="2258740" y="1924971"/>
            <a:ext cx="1143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30" name="Equation" r:id="rId6" imgW="114120" imgH="215640" progId="Equation.DSMT4">
                    <p:embed/>
                  </p:oleObj>
                </mc:Choice>
                <mc:Fallback>
                  <p:oleObj name="Equation" r:id="rId6" imgW="114120" imgH="215640" progId="Equation.DSMT4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58740" y="1924971"/>
                          <a:ext cx="1143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32142502"/>
                </p:ext>
              </p:extLst>
            </p:nvPr>
          </p:nvGraphicFramePr>
          <p:xfrm>
            <a:off x="3190875" y="1309836"/>
            <a:ext cx="152400" cy="215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31" name="Equation" r:id="rId8" imgW="152280" imgH="215640" progId="Equation.DSMT4">
                    <p:embed/>
                  </p:oleObj>
                </mc:Choice>
                <mc:Fallback>
                  <p:oleObj name="Equation" r:id="rId8" imgW="152280" imgH="215640" progId="Equation.DSMT4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0875" y="1309836"/>
                          <a:ext cx="152400" cy="2159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01236230"/>
                </p:ext>
              </p:extLst>
            </p:nvPr>
          </p:nvGraphicFramePr>
          <p:xfrm>
            <a:off x="3192463" y="2233364"/>
            <a:ext cx="139700" cy="2286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7932" name="Equation" r:id="rId10" imgW="139680" imgH="228600" progId="Equation.DSMT4">
                    <p:embed/>
                  </p:oleObj>
                </mc:Choice>
                <mc:Fallback>
                  <p:oleObj name="Equation" r:id="rId10" imgW="139680" imgH="228600" progId="Equation.DSMT4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92463" y="2233364"/>
                          <a:ext cx="139700" cy="2286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7" name="CasellaDiTesto 9"/>
          <p:cNvSpPr txBox="1"/>
          <p:nvPr/>
        </p:nvSpPr>
        <p:spPr>
          <a:xfrm>
            <a:off x="1219200" y="1003300"/>
            <a:ext cx="7924800" cy="369332"/>
          </a:xfrm>
          <a:prstGeom prst="rect">
            <a:avLst/>
          </a:prstGeom>
          <a:solidFill>
            <a:srgbClr val="009900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800" b="1" cap="small" dirty="0" smtClean="0">
                <a:solidFill>
                  <a:srgbClr val="CCFF99"/>
                </a:solidFill>
              </a:rPr>
              <a:t>Numerical experiment: Nonlinear microwave ferrite circulator</a:t>
            </a:r>
            <a:endParaRPr lang="it-IT" sz="1800" b="1" cap="small" dirty="0">
              <a:solidFill>
                <a:srgbClr val="CCFF99"/>
              </a:solidFill>
            </a:endParaRPr>
          </a:p>
        </p:txBody>
      </p:sp>
      <p:pic>
        <p:nvPicPr>
          <p:cNvPr id="29" name="Immagine 8" descr="circulator_v1_f3.wmf"/>
          <p:cNvPicPr/>
          <p:nvPr/>
        </p:nvPicPr>
        <p:blipFill>
          <a:blip r:embed="rId1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195736" y="3138309"/>
            <a:ext cx="4320480" cy="3312368"/>
          </a:xfrm>
          <a:prstGeom prst="rect">
            <a:avLst/>
          </a:prstGeom>
        </p:spPr>
      </p:pic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617869"/>
              </p:ext>
            </p:extLst>
          </p:nvPr>
        </p:nvGraphicFramePr>
        <p:xfrm>
          <a:off x="7164288" y="3645024"/>
          <a:ext cx="144780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33" name="Equation" r:id="rId13" imgW="1447560" imgH="1930320" progId="Equation.DSMT4">
                  <p:embed/>
                </p:oleObj>
              </mc:Choice>
              <mc:Fallback>
                <p:oleObj name="Equation" r:id="rId13" imgW="1447560" imgH="19303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164288" y="3645024"/>
                        <a:ext cx="1447800" cy="1930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9462354"/>
              </p:ext>
            </p:extLst>
          </p:nvPr>
        </p:nvGraphicFramePr>
        <p:xfrm>
          <a:off x="6876256" y="2084438"/>
          <a:ext cx="1614488" cy="330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934" name="Equation" r:id="rId15" imgW="1752480" imgH="330120" progId="Equation.DSMT4">
                  <p:embed/>
                </p:oleObj>
              </mc:Choice>
              <mc:Fallback>
                <p:oleObj name="Equation" r:id="rId15" imgW="17524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6876256" y="2084438"/>
                        <a:ext cx="1614488" cy="330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880961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 bwMode="auto">
          <a:xfrm>
            <a:off x="2627784" y="2996952"/>
            <a:ext cx="4176464" cy="309634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49263" rtl="0" eaLnBrk="0" fontAlgn="base" latinLnBrk="0" hangingPunct="0">
              <a:lnSpc>
                <a:spcPct val="74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tabLst/>
            </a:pPr>
            <a:endParaRPr kumimoji="0" lang="it-IT" sz="2400" b="0" i="0" u="none" strike="noStrike" cap="none" normalizeH="0" baseline="0" smtClean="0">
              <a:ln>
                <a:noFill/>
              </a:ln>
              <a:solidFill>
                <a:schemeClr val="bg1"/>
              </a:solidFill>
              <a:effectLst/>
              <a:latin typeface="Times New Roman" pitchFamily="18" charset="0"/>
              <a:cs typeface="Lucida Sans Unicode" pitchFamily="34" charset="0"/>
            </a:endParaRPr>
          </a:p>
        </p:txBody>
      </p:sp>
      <p:sp>
        <p:nvSpPr>
          <p:cNvPr id="2" name="CasellaDiTesto 9"/>
          <p:cNvSpPr txBox="1"/>
          <p:nvPr/>
        </p:nvSpPr>
        <p:spPr>
          <a:xfrm>
            <a:off x="1219200" y="1003300"/>
            <a:ext cx="7924800" cy="369332"/>
          </a:xfrm>
          <a:prstGeom prst="rect">
            <a:avLst/>
          </a:prstGeom>
          <a:solidFill>
            <a:srgbClr val="009900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800" b="1" cap="small" dirty="0" smtClean="0">
                <a:solidFill>
                  <a:srgbClr val="CCFF99"/>
                </a:solidFill>
              </a:rPr>
              <a:t>Numerical experiment: Nonlinear microwave ferrite circulator</a:t>
            </a:r>
            <a:endParaRPr lang="it-IT" sz="1800" b="1" cap="small" dirty="0">
              <a:solidFill>
                <a:srgbClr val="CCFF99"/>
              </a:solidFill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2735382" y="1484784"/>
            <a:ext cx="4720021" cy="1402180"/>
            <a:chOff x="1610021" y="1882804"/>
            <a:chExt cx="5131516" cy="1402180"/>
          </a:xfrm>
        </p:grpSpPr>
        <p:grpSp>
          <p:nvGrpSpPr>
            <p:cNvPr id="4" name="Group 3"/>
            <p:cNvGrpSpPr/>
            <p:nvPr/>
          </p:nvGrpSpPr>
          <p:grpSpPr>
            <a:xfrm>
              <a:off x="1610021" y="2132856"/>
              <a:ext cx="3389438" cy="1152128"/>
              <a:chOff x="-46163" y="1309836"/>
              <a:chExt cx="3389438" cy="1152128"/>
            </a:xfrm>
          </p:grpSpPr>
          <p:pic>
            <p:nvPicPr>
              <p:cNvPr id="6" name="Picture 2" descr="C:\Users\Laurent\Desktop\circSimb.png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258740" y="1389984"/>
                <a:ext cx="927100" cy="106997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aphicFrame>
            <p:nvGraphicFramePr>
              <p:cNvPr id="7" name="Object 6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97673476"/>
                  </p:ext>
                </p:extLst>
              </p:nvPr>
            </p:nvGraphicFramePr>
            <p:xfrm>
              <a:off x="-46163" y="1575721"/>
              <a:ext cx="1983058" cy="6985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614" name="Equation" r:id="rId4" imgW="1981080" imgH="698400" progId="Equation.DSMT4">
                      <p:embed/>
                    </p:oleObj>
                  </mc:Choice>
                  <mc:Fallback>
                    <p:oleObj name="Equation" r:id="rId4" imgW="1981080" imgH="698400" progId="Equation.DSMT4">
                      <p:embed/>
                      <p:pic>
                        <p:nvPicPr>
                          <p:cNvPr id="0" name=""/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-46163" y="1575721"/>
                            <a:ext cx="1983058" cy="698500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" name="Object 7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479712420"/>
                  </p:ext>
                </p:extLst>
              </p:nvPr>
            </p:nvGraphicFramePr>
            <p:xfrm>
              <a:off x="2258740" y="1924971"/>
              <a:ext cx="114300" cy="215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615" name="Equation" r:id="rId6" imgW="114120" imgH="215640" progId="Equation.DSMT4">
                      <p:embed/>
                    </p:oleObj>
                  </mc:Choice>
                  <mc:Fallback>
                    <p:oleObj name="Equation" r:id="rId6" imgW="114120" imgH="2156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258740" y="1924971"/>
                            <a:ext cx="114300" cy="215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" name="Object 8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566372060"/>
                  </p:ext>
                </p:extLst>
              </p:nvPr>
            </p:nvGraphicFramePr>
            <p:xfrm>
              <a:off x="3190875" y="1309836"/>
              <a:ext cx="152400" cy="2159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616" name="Equation" r:id="rId8" imgW="152280" imgH="215640" progId="Equation.DSMT4">
                      <p:embed/>
                    </p:oleObj>
                  </mc:Choice>
                  <mc:Fallback>
                    <p:oleObj name="Equation" r:id="rId8" imgW="152280" imgH="21564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9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90875" y="1309836"/>
                            <a:ext cx="152400" cy="2159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0" name="Object 9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58539689"/>
                  </p:ext>
                </p:extLst>
              </p:nvPr>
            </p:nvGraphicFramePr>
            <p:xfrm>
              <a:off x="3192463" y="2233364"/>
              <a:ext cx="139700" cy="22860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3617" name="Equation" r:id="rId10" imgW="139680" imgH="228600" progId="Equation.DSMT4">
                      <p:embed/>
                    </p:oleObj>
                  </mc:Choice>
                  <mc:Fallback>
                    <p:oleObj name="Equation" r:id="rId10" imgW="139680" imgH="2286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92463" y="2233364"/>
                            <a:ext cx="139700" cy="22860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5" name="Object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119809612"/>
                </p:ext>
              </p:extLst>
            </p:nvPr>
          </p:nvGraphicFramePr>
          <p:xfrm>
            <a:off x="5293507" y="1882804"/>
            <a:ext cx="1448030" cy="330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618" name="Equation" r:id="rId12" imgW="1447560" imgH="330120" progId="Equation.DSMT4">
                    <p:embed/>
                  </p:oleObj>
                </mc:Choice>
                <mc:Fallback>
                  <p:oleObj name="Equation" r:id="rId12" imgW="1447560" imgH="33012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5293507" y="1882804"/>
                          <a:ext cx="1448030" cy="3302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1" name="Rectangle 10"/>
          <p:cNvSpPr/>
          <p:nvPr/>
        </p:nvSpPr>
        <p:spPr>
          <a:xfrm>
            <a:off x="1277558" y="6237312"/>
            <a:ext cx="7787800" cy="523220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it-IT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H. How, C. Vittoria and R. Schmidt, “</a:t>
            </a:r>
            <a:r>
              <a:rPr lang="en-US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Nonlinear intermodulation </a:t>
            </a:r>
            <a:r>
              <a:rPr lang="en-US" sz="1400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oupling in ferrite </a:t>
            </a:r>
            <a:r>
              <a:rPr lang="en-US" sz="1400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irculator </a:t>
            </a:r>
            <a:r>
              <a:rPr lang="en-US" sz="1400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j</a:t>
            </a:r>
            <a:r>
              <a:rPr lang="en-US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unctions,” </a:t>
            </a:r>
            <a:r>
              <a:rPr lang="en-US" sz="1400" i="1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IEEE Trans. </a:t>
            </a:r>
            <a:r>
              <a:rPr lang="en-US" sz="1400" i="1" dirty="0" err="1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Microw</a:t>
            </a:r>
            <a:r>
              <a:rPr lang="en-US" sz="1400" i="1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. Theory Tech.</a:t>
            </a:r>
            <a:r>
              <a:rPr lang="en-US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, MTT-45, </a:t>
            </a:r>
            <a:r>
              <a:rPr lang="en-US" sz="1400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no. 3</a:t>
            </a:r>
            <a:r>
              <a:rPr lang="en-US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US" sz="1400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pp. </a:t>
            </a:r>
            <a:r>
              <a:rPr lang="en-US" sz="1400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245–252, Feb. 1997.</a:t>
            </a:r>
            <a:endParaRPr lang="en-US" sz="1400" dirty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3" name="Immagine 9" descr="circulator_v4.wmf"/>
          <p:cNvPicPr/>
          <p:nvPr/>
        </p:nvPicPr>
        <p:blipFill>
          <a:blip r:embed="rId1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771800" y="3140968"/>
            <a:ext cx="3783091" cy="2880320"/>
          </a:xfrm>
          <a:prstGeom prst="rect">
            <a:avLst/>
          </a:prstGeom>
        </p:spPr>
      </p:pic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65958"/>
              </p:ext>
            </p:extLst>
          </p:nvPr>
        </p:nvGraphicFramePr>
        <p:xfrm>
          <a:off x="7164288" y="3405188"/>
          <a:ext cx="1447800" cy="193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9" name="Equation" r:id="rId15" imgW="1447560" imgH="1930320" progId="Equation.DSMT4">
                  <p:embed/>
                </p:oleObj>
              </mc:Choice>
              <mc:Fallback>
                <p:oleObj name="Equation" r:id="rId15" imgW="1447560" imgH="193032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288" y="3405188"/>
                        <a:ext cx="1447800" cy="193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4226846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75656" y="2744053"/>
            <a:ext cx="727280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r>
              <a:rPr lang="it-IT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A </a:t>
            </a:r>
            <a:r>
              <a:rPr lang="en-US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Harmonic</a:t>
            </a:r>
            <a:r>
              <a:rPr lang="it-IT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Balance Finite </a:t>
            </a:r>
            <a:r>
              <a:rPr lang="it-IT" dirty="0" err="1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Element</a:t>
            </a:r>
            <a:r>
              <a:rPr lang="it-IT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t-IT" dirty="0" err="1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technique</a:t>
            </a:r>
            <a:r>
              <a:rPr lang="it-IT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t-IT" dirty="0" err="1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has</a:t>
            </a:r>
            <a:r>
              <a:rPr lang="it-IT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t-IT" dirty="0" err="1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been</a:t>
            </a:r>
            <a:r>
              <a:rPr lang="it-IT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t-IT" dirty="0" err="1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presented</a:t>
            </a:r>
            <a:r>
              <a:rPr lang="it-IT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for </a:t>
            </a:r>
            <a:r>
              <a:rPr lang="it-IT" dirty="0" err="1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solving</a:t>
            </a:r>
            <a:r>
              <a:rPr lang="it-IT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the </a:t>
            </a:r>
            <a:r>
              <a:rPr lang="it-IT" dirty="0" err="1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wave</a:t>
            </a:r>
            <a:r>
              <a:rPr lang="it-IT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t-IT" dirty="0" err="1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equation</a:t>
            </a:r>
            <a:r>
              <a:rPr lang="it-IT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it-IT" dirty="0" err="1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presence</a:t>
            </a:r>
            <a:r>
              <a:rPr lang="it-IT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of </a:t>
            </a:r>
            <a:r>
              <a:rPr lang="en-US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nonlinear</a:t>
            </a:r>
            <a:r>
              <a:rPr lang="it-IT" dirty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t-IT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media</a:t>
            </a: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it-IT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endParaRPr lang="it-IT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Clr>
                <a:srgbClr val="33CC33"/>
              </a:buClr>
              <a:buFont typeface="Wingdings" pitchFamily="2" charset="2"/>
              <a:buChar char="v"/>
            </a:pPr>
            <a:r>
              <a:rPr lang="it-IT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Third </a:t>
            </a:r>
            <a:r>
              <a:rPr lang="it-IT" dirty="0" err="1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order</a:t>
            </a:r>
            <a:r>
              <a:rPr lang="it-IT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intermodulation </a:t>
            </a:r>
            <a:r>
              <a:rPr lang="it-IT" dirty="0" err="1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products</a:t>
            </a:r>
            <a:r>
              <a:rPr lang="it-IT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t-IT" dirty="0" err="1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within</a:t>
            </a:r>
            <a:r>
              <a:rPr lang="it-IT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a </a:t>
            </a:r>
            <a:r>
              <a:rPr lang="it-IT" dirty="0" err="1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nonlinear</a:t>
            </a:r>
            <a:r>
              <a:rPr lang="it-IT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ferrite </a:t>
            </a:r>
            <a:r>
              <a:rPr lang="it-IT" dirty="0" err="1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circulator</a:t>
            </a:r>
            <a:r>
              <a:rPr lang="it-IT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t-IT" dirty="0" err="1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have</a:t>
            </a:r>
            <a:r>
              <a:rPr lang="it-IT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t-IT" dirty="0" err="1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been</a:t>
            </a:r>
            <a:r>
              <a:rPr lang="it-IT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t-IT" dirty="0" err="1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evaluated</a:t>
            </a:r>
            <a:r>
              <a:rPr lang="it-IT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, in </a:t>
            </a:r>
            <a:r>
              <a:rPr lang="it-IT" dirty="0" err="1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good</a:t>
            </a:r>
            <a:r>
              <a:rPr lang="it-IT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t-IT" dirty="0" err="1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agreement</a:t>
            </a:r>
            <a:r>
              <a:rPr lang="it-IT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with the </a:t>
            </a:r>
            <a:r>
              <a:rPr lang="it-IT" dirty="0" err="1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reported</a:t>
            </a:r>
            <a:r>
              <a:rPr lang="it-IT" dirty="0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it-IT" dirty="0" err="1" smtClean="0">
                <a:solidFill>
                  <a:srgbClr val="006600"/>
                </a:solidFill>
                <a:latin typeface="Times New Roman" pitchFamily="18" charset="0"/>
                <a:cs typeface="Times New Roman" pitchFamily="18" charset="0"/>
              </a:rPr>
              <a:t>litterature</a:t>
            </a:r>
            <a:endParaRPr lang="it-IT" dirty="0" smtClean="0">
              <a:solidFill>
                <a:srgbClr val="0066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CasellaDiTesto 9"/>
          <p:cNvSpPr txBox="1"/>
          <p:nvPr/>
        </p:nvSpPr>
        <p:spPr>
          <a:xfrm>
            <a:off x="1219200" y="1003300"/>
            <a:ext cx="7924800" cy="369332"/>
          </a:xfrm>
          <a:prstGeom prst="rect">
            <a:avLst/>
          </a:prstGeom>
          <a:solidFill>
            <a:srgbClr val="009900"/>
          </a:solidFill>
        </p:spPr>
        <p:txBody>
          <a:bodyPr>
            <a:spAutoFit/>
          </a:bodyPr>
          <a:lstStyle/>
          <a:p>
            <a:pPr algn="ctr">
              <a:defRPr/>
            </a:pPr>
            <a:r>
              <a:rPr lang="en-GB" sz="1800" b="1" cap="small" dirty="0" smtClean="0">
                <a:solidFill>
                  <a:srgbClr val="CCFF99"/>
                </a:solidFill>
              </a:rPr>
              <a:t>Conclusions</a:t>
            </a:r>
            <a:endParaRPr lang="it-IT" sz="1800" b="1" cap="small" dirty="0">
              <a:solidFill>
                <a:srgbClr val="CCFF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4520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ruttura predefinita">
  <a:themeElements>
    <a:clrScheme name="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Times New Roman"/>
        <a:ea typeface=""/>
        <a:cs typeface="Lucida Sans Unicode"/>
      </a:majorFont>
      <a:minorFont>
        <a:latin typeface="Times New Roman"/>
        <a:ea typeface=""/>
        <a:cs typeface="Lucida Sans Unicode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74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cs typeface="Lucida Sans Unicode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0" fontAlgn="base" latinLnBrk="0" hangingPunct="0">
          <a:lnSpc>
            <a:spcPct val="74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cs typeface="Lucida Sans Unicode" pitchFamily="34" charset="0"/>
          </a:defRPr>
        </a:defPPr>
      </a:lstStyle>
    </a:lnDef>
  </a:objectDefaults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4771</TotalTime>
  <Words>776</Words>
  <Application>Microsoft Office PowerPoint</Application>
  <PresentationFormat>On-screen Show (4:3)</PresentationFormat>
  <Paragraphs>148</Paragraphs>
  <Slides>20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Struttura predefinita</vt:lpstr>
      <vt:lpstr>Equation</vt:lpstr>
      <vt:lpstr>MathType 6.0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Laurent</dc:creator>
  <cp:lastModifiedBy>Laurent Ntibarikure</cp:lastModifiedBy>
  <cp:revision>163</cp:revision>
  <cp:lastPrinted>2012-06-01T09:38:02Z</cp:lastPrinted>
  <dcterms:created xsi:type="dcterms:W3CDTF">2012-04-19T09:41:03Z</dcterms:created>
  <dcterms:modified xsi:type="dcterms:W3CDTF">2012-09-10T16:54:52Z</dcterms:modified>
</cp:coreProperties>
</file>