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4"/>
  </p:notesMasterIdLst>
  <p:handoutMasterIdLst>
    <p:handoutMasterId r:id="rId25"/>
  </p:handoutMasterIdLst>
  <p:sldIdLst>
    <p:sldId id="256" r:id="rId2"/>
    <p:sldId id="257" r:id="rId3"/>
    <p:sldId id="258" r:id="rId4"/>
    <p:sldId id="259" r:id="rId5"/>
    <p:sldId id="260" r:id="rId6"/>
    <p:sldId id="261" r:id="rId7"/>
    <p:sldId id="262" r:id="rId8"/>
    <p:sldId id="263" r:id="rId9"/>
    <p:sldId id="264" r:id="rId10"/>
    <p:sldId id="267" r:id="rId11"/>
    <p:sldId id="268" r:id="rId12"/>
    <p:sldId id="265" r:id="rId13"/>
    <p:sldId id="269" r:id="rId14"/>
    <p:sldId id="270" r:id="rId15"/>
    <p:sldId id="271" r:id="rId16"/>
    <p:sldId id="272" r:id="rId17"/>
    <p:sldId id="266" r:id="rId18"/>
    <p:sldId id="274" r:id="rId19"/>
    <p:sldId id="273" r:id="rId20"/>
    <p:sldId id="275" r:id="rId21"/>
    <p:sldId id="276" r:id="rId22"/>
    <p:sldId id="277" r:id="rId23"/>
  </p:sldIdLst>
  <p:sldSz cx="9144000" cy="6858000" type="screen4x3"/>
  <p:notesSz cx="6797675" cy="9928225"/>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40" y="-102"/>
      </p:cViewPr>
      <p:guideLst>
        <p:guide orient="horz" pos="2160"/>
        <p:guide pos="2880"/>
      </p:guideLst>
    </p:cSldViewPr>
  </p:slideViewPr>
  <p:notesTextViewPr>
    <p:cViewPr>
      <p:scale>
        <a:sx n="100" d="100"/>
        <a:sy n="100" d="100"/>
      </p:scale>
      <p:origin x="0" y="0"/>
    </p:cViewPr>
  </p:notesTextViewPr>
  <p:notesViewPr>
    <p:cSldViewPr>
      <p:cViewPr varScale="1">
        <p:scale>
          <a:sx n="49" d="100"/>
          <a:sy n="49" d="100"/>
        </p:scale>
        <p:origin x="-2970" y="-9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36.wmf"/><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image" Target="../media/image49.wmf"/><Relationship Id="rId7" Type="http://schemas.openxmlformats.org/officeDocument/2006/relationships/image" Target="../media/image53.wmf"/><Relationship Id="rId12" Type="http://schemas.openxmlformats.org/officeDocument/2006/relationships/image" Target="../media/image58.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11" Type="http://schemas.openxmlformats.org/officeDocument/2006/relationships/image" Target="../media/image57.wmf"/><Relationship Id="rId5" Type="http://schemas.openxmlformats.org/officeDocument/2006/relationships/image" Target="../media/image51.wmf"/><Relationship Id="rId10" Type="http://schemas.openxmlformats.org/officeDocument/2006/relationships/image" Target="../media/image56.wmf"/><Relationship Id="rId4" Type="http://schemas.openxmlformats.org/officeDocument/2006/relationships/image" Target="../media/image50.wmf"/><Relationship Id="rId9" Type="http://schemas.openxmlformats.org/officeDocument/2006/relationships/image" Target="../media/image5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0FDD3FA9-DFD2-4D34-A75A-C1143E6B99C9}" type="datetimeFigureOut">
              <a:rPr lang="en-US" smtClean="0"/>
              <a:t>6/1/2012</a:t>
            </a:fld>
            <a:endParaRPr lang="en-US"/>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3919CE07-F47D-4B2E-B053-47E33EF6C3D2}" type="slidenum">
              <a:rPr lang="en-US" smtClean="0"/>
              <a:t>‹#›</a:t>
            </a:fld>
            <a:endParaRPr lang="en-US"/>
          </a:p>
        </p:txBody>
      </p:sp>
    </p:spTree>
    <p:extLst>
      <p:ext uri="{BB962C8B-B14F-4D97-AF65-F5344CB8AC3E}">
        <p14:creationId xmlns:p14="http://schemas.microsoft.com/office/powerpoint/2010/main" val="26571721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2075947D-39B1-486E-9CB0-D39554F571DD}" type="datetimeFigureOut">
              <a:rPr lang="en-US" smtClean="0"/>
              <a:t>6/1/2012</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DC7341B9-D748-43CA-86E3-3067C714E433}" type="slidenum">
              <a:rPr lang="en-US" smtClean="0"/>
              <a:t>‹#›</a:t>
            </a:fld>
            <a:endParaRPr lang="en-US"/>
          </a:p>
        </p:txBody>
      </p:sp>
    </p:spTree>
    <p:extLst>
      <p:ext uri="{BB962C8B-B14F-4D97-AF65-F5344CB8AC3E}">
        <p14:creationId xmlns:p14="http://schemas.microsoft.com/office/powerpoint/2010/main" val="116098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Vuota">
    <p:spTree>
      <p:nvGrpSpPr>
        <p:cNvPr id="1" name=""/>
        <p:cNvGrpSpPr/>
        <p:nvPr/>
      </p:nvGrpSpPr>
      <p:grpSpPr>
        <a:xfrm>
          <a:off x="0" y="0"/>
          <a:ext cx="0" cy="0"/>
          <a:chOff x="0" y="0"/>
          <a:chExt cx="0" cy="0"/>
        </a:xfrm>
      </p:grpSpPr>
      <p:sp>
        <p:nvSpPr>
          <p:cNvPr id="3" name="Segnaposto contenuto 2"/>
          <p:cNvSpPr>
            <a:spLocks noGrp="1"/>
          </p:cNvSpPr>
          <p:nvPr>
            <p:ph idx="1"/>
          </p:nvPr>
        </p:nvSpPr>
        <p:spPr>
          <a:xfrm>
            <a:off x="783273" y="54272"/>
            <a:ext cx="7577457" cy="422405"/>
          </a:xfrm>
          <a:prstGeom prst="rect">
            <a:avLst/>
          </a:prstGeom>
          <a:noFill/>
        </p:spPr>
        <p:txBody>
          <a:bodyPr wrap="square" lIns="180000" tIns="72000" rIns="180000" bIns="72000">
            <a:spAutoFit/>
          </a:bodyPr>
          <a:lstStyle>
            <a:lvl1pPr marL="0" indent="0" algn="ctr">
              <a:buFont typeface="Calibri" pitchFamily="34" charset="0"/>
              <a:buNone/>
              <a:defRPr sz="1800" b="1" i="0" cap="small" baseline="0">
                <a:solidFill>
                  <a:schemeClr val="tx1"/>
                </a:solidFill>
                <a:latin typeface="Times New Roman" pitchFamily="18" charset="0"/>
                <a:cs typeface="Times New Roman" pitchFamily="18" charset="0"/>
              </a:defRPr>
            </a:lvl1pPr>
            <a:lvl2pPr marL="182563" indent="0" algn="just">
              <a:buFont typeface="Calibri" pitchFamily="34" charset="0"/>
              <a:buChar char=" "/>
              <a:defRPr sz="1600">
                <a:solidFill>
                  <a:schemeClr val="bg1"/>
                </a:solidFill>
                <a:latin typeface="Times New Roman" pitchFamily="18" charset="0"/>
                <a:cs typeface="Times New Roman" pitchFamily="18" charset="0"/>
              </a:defRPr>
            </a:lvl2pPr>
          </a:lstStyle>
          <a:p>
            <a:pPr lvl="0"/>
            <a:r>
              <a:rPr lang="it-IT" dirty="0" smtClean="0"/>
              <a:t>Fare clic per modificare stili del testo dello</a:t>
            </a:r>
          </a:p>
        </p:txBody>
      </p:sp>
    </p:spTree>
    <p:extLst>
      <p:ext uri="{BB962C8B-B14F-4D97-AF65-F5344CB8AC3E}">
        <p14:creationId xmlns:p14="http://schemas.microsoft.com/office/powerpoint/2010/main" val="8817773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a:spLocks noChangeArrowheads="1"/>
          </p:cNvSpPr>
          <p:nvPr userDrawn="1"/>
        </p:nvSpPr>
        <p:spPr bwMode="auto">
          <a:xfrm>
            <a:off x="0" y="5"/>
            <a:ext cx="9144000" cy="548680"/>
          </a:xfrm>
          <a:prstGeom prst="rect">
            <a:avLst/>
          </a:prstGeom>
          <a:solidFill>
            <a:schemeClr val="accent2">
              <a:lumMod val="40000"/>
              <a:lumOff val="60000"/>
            </a:schemeClr>
          </a:solidFill>
          <a:ln w="9525">
            <a:noFill/>
            <a:miter lim="800000"/>
            <a:headEnd/>
            <a:tailEnd/>
          </a:ln>
        </p:spPr>
        <p:txBody>
          <a:bodyPr wrap="none" anchor="ctr"/>
          <a:lstStyle/>
          <a:p>
            <a:pPr>
              <a:defRPr/>
            </a:pPr>
            <a:endParaRPr lang="en-US">
              <a:latin typeface="Calibri" pitchFamily="34" charset="0"/>
            </a:endParaRPr>
          </a:p>
        </p:txBody>
      </p:sp>
      <p:pic>
        <p:nvPicPr>
          <p:cNvPr id="14" name="Immagine 3"/>
          <p:cNvPicPr>
            <a:picLocks noChangeAspect="1"/>
          </p:cNvPicPr>
          <p:nvPr userDrawn="1"/>
        </p:nvPicPr>
        <p:blipFill>
          <a:blip r:embed="rId3" cstate="print">
            <a:lum bright="-40000" contrast="-40000"/>
            <a:extLst>
              <a:ext uri="{28A0092B-C50C-407E-A947-70E740481C1C}">
                <a14:useLocalDpi xmlns:a14="http://schemas.microsoft.com/office/drawing/2010/main" val="0"/>
              </a:ext>
            </a:extLst>
          </a:blip>
          <a:stretch>
            <a:fillRect/>
          </a:stretch>
        </p:blipFill>
        <p:spPr>
          <a:xfrm>
            <a:off x="99235" y="19596"/>
            <a:ext cx="470298" cy="509489"/>
          </a:xfrm>
          <a:prstGeom prst="rect">
            <a:avLst/>
          </a:prstGeom>
        </p:spPr>
      </p:pic>
      <p:pic>
        <p:nvPicPr>
          <p:cNvPr id="15" name="Immagine 4"/>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60729" y="6304"/>
            <a:ext cx="662424" cy="535036"/>
          </a:xfrm>
          <a:prstGeom prst="rect">
            <a:avLst/>
          </a:prstGeom>
        </p:spPr>
      </p:pic>
      <p:sp>
        <p:nvSpPr>
          <p:cNvPr id="16" name="CasellaDiTesto 2"/>
          <p:cNvSpPr txBox="1"/>
          <p:nvPr userDrawn="1"/>
        </p:nvSpPr>
        <p:spPr>
          <a:xfrm>
            <a:off x="0" y="6572092"/>
            <a:ext cx="9144000" cy="338554"/>
          </a:xfrm>
          <a:prstGeom prst="rect">
            <a:avLst/>
          </a:prstGeom>
          <a:solidFill>
            <a:schemeClr val="accent2">
              <a:lumMod val="50000"/>
            </a:schemeClr>
          </a:solidFill>
          <a:ln>
            <a:noFill/>
          </a:ln>
        </p:spPr>
        <p:txBody>
          <a:bodyPr wrap="square" rtlCol="0" anchor="ctr">
            <a:spAutoFit/>
          </a:bodyPr>
          <a:lstStyle/>
          <a:p>
            <a:pPr algn="ctr"/>
            <a:r>
              <a:rPr lang="en-US" sz="1600" u="none" kern="0" baseline="0" dirty="0" smtClean="0">
                <a:solidFill>
                  <a:schemeClr val="bg1"/>
                </a:solidFill>
                <a:effectLst>
                  <a:outerShdw blurRad="38100" dist="38100" dir="2700000" algn="tl">
                    <a:srgbClr val="000000">
                      <a:alpha val="43137"/>
                    </a:srgbClr>
                  </a:outerShdw>
                </a:effectLst>
                <a:latin typeface="Times New Roman" pitchFamily="18" charset="0"/>
                <a:ea typeface="+mn-ea"/>
                <a:cs typeface="Times New Roman" pitchFamily="18" charset="0"/>
              </a:rPr>
              <a:t>HB DD FE for Nonlinear Microwave Passive Devices</a:t>
            </a:r>
            <a:endParaRPr lang="en-US" sz="1600" u="none" kern="0" baseline="0" dirty="0">
              <a:solidFill>
                <a:schemeClr val="bg1"/>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
        <p:nvSpPr>
          <p:cNvPr id="7" name="TextBox 6"/>
          <p:cNvSpPr txBox="1"/>
          <p:nvPr userDrawn="1"/>
        </p:nvSpPr>
        <p:spPr>
          <a:xfrm>
            <a:off x="8440622" y="6566288"/>
            <a:ext cx="705485" cy="338554"/>
          </a:xfrm>
          <a:prstGeom prst="rect">
            <a:avLst/>
          </a:prstGeom>
          <a:noFill/>
        </p:spPr>
        <p:txBody>
          <a:bodyPr wrap="square" rtlCol="0">
            <a:spAutoFit/>
          </a:bodyPr>
          <a:lstStyle/>
          <a:p>
            <a:pPr marL="0" marR="0" indent="0" algn="r" defTabSz="914400" rtl="0" eaLnBrk="1" fontAlgn="base" latinLnBrk="0" hangingPunct="1">
              <a:lnSpc>
                <a:spcPct val="100000"/>
              </a:lnSpc>
              <a:spcBef>
                <a:spcPct val="0"/>
              </a:spcBef>
              <a:spcAft>
                <a:spcPct val="0"/>
              </a:spcAft>
              <a:buClrTx/>
              <a:buSzTx/>
              <a:buFontTx/>
              <a:buNone/>
              <a:tabLst/>
              <a:defRPr/>
            </a:pPr>
            <a:fld id="{7854DCE1-82B9-457D-880A-9A34368A0971}" type="slidenum">
              <a:rPr lang="en-US" sz="1600" smtClean="0">
                <a:solidFill>
                  <a:schemeClr val="bg1"/>
                </a:solidFill>
                <a:latin typeface="Times New Roman" pitchFamily="18" charset="0"/>
                <a:cs typeface="Times New Roman" pitchFamily="18" charset="0"/>
              </a:rPr>
              <a:pPr marL="0" marR="0" indent="0" algn="r" defTabSz="914400" rtl="0" eaLnBrk="1" fontAlgn="base" latinLnBrk="0" hangingPunct="1">
                <a:lnSpc>
                  <a:spcPct val="100000"/>
                </a:lnSpc>
                <a:spcBef>
                  <a:spcPct val="0"/>
                </a:spcBef>
                <a:spcAft>
                  <a:spcPct val="0"/>
                </a:spcAft>
                <a:buClrTx/>
                <a:buSzTx/>
                <a:buFontTx/>
                <a:buNone/>
                <a:tabLst/>
                <a:defRPr/>
              </a:pPr>
              <a:t>‹#›</a:t>
            </a:fld>
            <a:r>
              <a:rPr lang="en-US" sz="1600" dirty="0" smtClean="0">
                <a:solidFill>
                  <a:schemeClr val="bg1"/>
                </a:solidFill>
                <a:latin typeface="Times New Roman" pitchFamily="18" charset="0"/>
                <a:cs typeface="Times New Roman" pitchFamily="18" charset="0"/>
              </a:rPr>
              <a:t>/</a:t>
            </a:r>
            <a:r>
              <a:rPr lang="en-US" sz="1600" dirty="0" smtClean="0">
                <a:solidFill>
                  <a:schemeClr val="bg1"/>
                </a:solidFill>
                <a:latin typeface="Times New Roman" pitchFamily="18" charset="0"/>
                <a:cs typeface="Times New Roman" pitchFamily="18" charset="0"/>
              </a:rPr>
              <a:t>22</a:t>
            </a:r>
            <a:endParaRPr lang="en-US" sz="1600" dirty="0" smtClean="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910929697"/>
      </p:ext>
    </p:extLst>
  </p:cSld>
  <p:clrMap bg1="lt1" tx1="dk1" bg2="lt2" tx2="dk2" accent1="accent1" accent2="accent2" accent3="accent3" accent4="accent4" accent5="accent5" accent6="accent6" hlink="hlink" folHlink="folHlink"/>
  <p:sldLayoutIdLst>
    <p:sldLayoutId id="2147483663" r:id="rId1"/>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9.wmf"/></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8.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19.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21.wmf"/><Relationship Id="rId5" Type="http://schemas.openxmlformats.org/officeDocument/2006/relationships/oleObject" Target="../embeddings/oleObject14.bin"/><Relationship Id="rId4" Type="http://schemas.openxmlformats.org/officeDocument/2006/relationships/image" Target="../media/image20.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oleObject" Target="../embeddings/oleObject15.bin"/><Relationship Id="rId7" Type="http://schemas.openxmlformats.org/officeDocument/2006/relationships/image" Target="../media/image25.png"/><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23.wmf"/><Relationship Id="rId5" Type="http://schemas.openxmlformats.org/officeDocument/2006/relationships/oleObject" Target="../embeddings/oleObject16.bin"/><Relationship Id="rId4" Type="http://schemas.openxmlformats.org/officeDocument/2006/relationships/image" Target="../media/image22.wmf"/><Relationship Id="rId9" Type="http://schemas.openxmlformats.org/officeDocument/2006/relationships/image" Target="../media/image24.wmf"/></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vmlDrawing" Target="../drawings/vmlDrawing9.vml"/><Relationship Id="rId5" Type="http://schemas.openxmlformats.org/officeDocument/2006/relationships/image" Target="../media/image31.wmf"/><Relationship Id="rId4"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xml"/><Relationship Id="rId1" Type="http://schemas.openxmlformats.org/officeDocument/2006/relationships/vmlDrawing" Target="../drawings/vmlDrawing10.vml"/><Relationship Id="rId5" Type="http://schemas.openxmlformats.org/officeDocument/2006/relationships/image" Target="../media/image34.png"/><Relationship Id="rId4" Type="http://schemas.openxmlformats.org/officeDocument/2006/relationships/image" Target="../media/image33.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oleObject" Target="../embeddings/oleObject20.bin"/><Relationship Id="rId7" Type="http://schemas.openxmlformats.org/officeDocument/2006/relationships/image" Target="../media/image37.png"/><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36.wmf"/><Relationship Id="rId5" Type="http://schemas.openxmlformats.org/officeDocument/2006/relationships/oleObject" Target="../embeddings/oleObject21.bin"/><Relationship Id="rId4" Type="http://schemas.openxmlformats.org/officeDocument/2006/relationships/image" Target="../media/image35.wmf"/><Relationship Id="rId9" Type="http://schemas.openxmlformats.org/officeDocument/2006/relationships/image" Target="../media/image24.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4.png"/><Relationship Id="rId5" Type="http://schemas.openxmlformats.org/officeDocument/2006/relationships/image" Target="../media/image39.png"/><Relationship Id="rId4" Type="http://schemas.openxmlformats.org/officeDocument/2006/relationships/image" Target="../media/image38.wmf"/></Relationships>
</file>

<file path=ppt/slides/_rels/slide17.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25.bin"/><Relationship Id="rId4" Type="http://schemas.openxmlformats.org/officeDocument/2006/relationships/image" Target="../media/image40.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image" Target="../media/image44.wmf"/><Relationship Id="rId5" Type="http://schemas.openxmlformats.org/officeDocument/2006/relationships/oleObject" Target="../embeddings/oleObject28.bin"/><Relationship Id="rId4" Type="http://schemas.openxmlformats.org/officeDocument/2006/relationships/image" Target="../media/image43.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image" Target="../media/image46.wmf"/><Relationship Id="rId5" Type="http://schemas.openxmlformats.org/officeDocument/2006/relationships/oleObject" Target="../embeddings/oleObject30.bin"/><Relationship Id="rId4" Type="http://schemas.openxmlformats.org/officeDocument/2006/relationships/image" Target="../media/image45.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51.wmf"/><Relationship Id="rId18" Type="http://schemas.openxmlformats.org/officeDocument/2006/relationships/oleObject" Target="../embeddings/oleObject38.bin"/><Relationship Id="rId26" Type="http://schemas.openxmlformats.org/officeDocument/2006/relationships/image" Target="../media/image57.wmf"/><Relationship Id="rId3" Type="http://schemas.openxmlformats.org/officeDocument/2006/relationships/image" Target="../media/image59.png"/><Relationship Id="rId21" Type="http://schemas.openxmlformats.org/officeDocument/2006/relationships/oleObject" Target="../embeddings/oleObject39.bin"/><Relationship Id="rId7" Type="http://schemas.openxmlformats.org/officeDocument/2006/relationships/image" Target="../media/image48.wmf"/><Relationship Id="rId12" Type="http://schemas.openxmlformats.org/officeDocument/2006/relationships/oleObject" Target="../embeddings/oleObject35.bin"/><Relationship Id="rId17" Type="http://schemas.openxmlformats.org/officeDocument/2006/relationships/image" Target="../media/image53.wmf"/><Relationship Id="rId25" Type="http://schemas.openxmlformats.org/officeDocument/2006/relationships/oleObject" Target="../embeddings/oleObject41.bin"/><Relationship Id="rId2" Type="http://schemas.openxmlformats.org/officeDocument/2006/relationships/slideLayout" Target="../slideLayouts/slideLayout1.xml"/><Relationship Id="rId16" Type="http://schemas.openxmlformats.org/officeDocument/2006/relationships/oleObject" Target="../embeddings/oleObject37.bin"/><Relationship Id="rId20" Type="http://schemas.openxmlformats.org/officeDocument/2006/relationships/image" Target="../media/image60.png"/><Relationship Id="rId29" Type="http://schemas.openxmlformats.org/officeDocument/2006/relationships/image" Target="../media/image61.png"/><Relationship Id="rId1" Type="http://schemas.openxmlformats.org/officeDocument/2006/relationships/vmlDrawing" Target="../drawings/vmlDrawing16.vml"/><Relationship Id="rId6" Type="http://schemas.openxmlformats.org/officeDocument/2006/relationships/oleObject" Target="../embeddings/oleObject32.bin"/><Relationship Id="rId11" Type="http://schemas.openxmlformats.org/officeDocument/2006/relationships/image" Target="../media/image50.wmf"/><Relationship Id="rId24" Type="http://schemas.openxmlformats.org/officeDocument/2006/relationships/image" Target="../media/image56.wmf"/><Relationship Id="rId5" Type="http://schemas.openxmlformats.org/officeDocument/2006/relationships/image" Target="../media/image47.wmf"/><Relationship Id="rId15" Type="http://schemas.openxmlformats.org/officeDocument/2006/relationships/image" Target="../media/image52.wmf"/><Relationship Id="rId23" Type="http://schemas.openxmlformats.org/officeDocument/2006/relationships/oleObject" Target="../embeddings/oleObject40.bin"/><Relationship Id="rId28" Type="http://schemas.openxmlformats.org/officeDocument/2006/relationships/image" Target="../media/image58.wmf"/><Relationship Id="rId10" Type="http://schemas.openxmlformats.org/officeDocument/2006/relationships/oleObject" Target="../embeddings/oleObject34.bin"/><Relationship Id="rId19" Type="http://schemas.openxmlformats.org/officeDocument/2006/relationships/image" Target="../media/image54.wmf"/><Relationship Id="rId4" Type="http://schemas.openxmlformats.org/officeDocument/2006/relationships/oleObject" Target="../embeddings/oleObject31.bin"/><Relationship Id="rId9" Type="http://schemas.openxmlformats.org/officeDocument/2006/relationships/image" Target="../media/image49.wmf"/><Relationship Id="rId14" Type="http://schemas.openxmlformats.org/officeDocument/2006/relationships/oleObject" Target="../embeddings/oleObject36.bin"/><Relationship Id="rId22" Type="http://schemas.openxmlformats.org/officeDocument/2006/relationships/image" Target="../media/image55.wmf"/><Relationship Id="rId27" Type="http://schemas.openxmlformats.org/officeDocument/2006/relationships/oleObject" Target="../embeddings/oleObject42.bin"/><Relationship Id="rId30" Type="http://schemas.openxmlformats.org/officeDocument/2006/relationships/image" Target="../media/image62.png"/></Relationships>
</file>

<file path=ppt/slides/_rels/slide2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p:cNvSpPr txBox="1"/>
          <p:nvPr/>
        </p:nvSpPr>
        <p:spPr>
          <a:xfrm>
            <a:off x="0" y="3573016"/>
            <a:ext cx="9144000" cy="2677656"/>
          </a:xfrm>
          <a:prstGeom prst="rect">
            <a:avLst/>
          </a:prstGeom>
          <a:noFill/>
          <a:ln cap="rnd">
            <a:noFill/>
          </a:ln>
        </p:spPr>
        <p:style>
          <a:lnRef idx="2">
            <a:schemeClr val="accent2"/>
          </a:lnRef>
          <a:fillRef idx="1">
            <a:schemeClr val="lt1"/>
          </a:fillRef>
          <a:effectRef idx="0">
            <a:schemeClr val="accent2"/>
          </a:effectRef>
          <a:fontRef idx="minor">
            <a:schemeClr val="dk1"/>
          </a:fontRef>
        </p:style>
        <p:txBody>
          <a:bodyPr wrap="square">
            <a:spAutoFit/>
          </a:bodyPr>
          <a:lstStyle/>
          <a:p>
            <a:pPr algn="ctr" eaLnBrk="0" hangingPunct="0">
              <a:defRPr/>
            </a:pPr>
            <a:r>
              <a:rPr lang="en-US" sz="2400" dirty="0" smtClean="0">
                <a:solidFill>
                  <a:schemeClr val="tx1"/>
                </a:solidFill>
                <a:effectLst>
                  <a:outerShdw blurRad="38100" dist="38100" dir="2700000" algn="tl">
                    <a:srgbClr val="C0C0C0"/>
                  </a:outerShdw>
                </a:effectLst>
                <a:latin typeface="Times New Roman" pitchFamily="18" charset="0"/>
                <a:cs typeface="Times New Roman" pitchFamily="18" charset="0"/>
              </a:rPr>
              <a:t>Laurent </a:t>
            </a:r>
            <a:r>
              <a:rPr lang="en-US" sz="2400" dirty="0" err="1" smtClean="0">
                <a:solidFill>
                  <a:schemeClr val="tx1"/>
                </a:solidFill>
                <a:effectLst>
                  <a:outerShdw blurRad="38100" dist="38100" dir="2700000" algn="tl">
                    <a:srgbClr val="C0C0C0"/>
                  </a:outerShdw>
                </a:effectLst>
                <a:latin typeface="Times New Roman" pitchFamily="18" charset="0"/>
                <a:cs typeface="Times New Roman" pitchFamily="18" charset="0"/>
              </a:rPr>
              <a:t>Ntibarikure</a:t>
            </a:r>
            <a:r>
              <a:rPr lang="en-US" sz="2400" dirty="0" smtClean="0">
                <a:solidFill>
                  <a:schemeClr val="tx1"/>
                </a:solidFill>
                <a:effectLst>
                  <a:outerShdw blurRad="38100" dist="38100" dir="2700000" algn="tl">
                    <a:srgbClr val="C0C0C0"/>
                  </a:outerShdw>
                </a:effectLst>
                <a:latin typeface="Times New Roman" pitchFamily="18" charset="0"/>
                <a:cs typeface="Times New Roman" pitchFamily="18" charset="0"/>
              </a:rPr>
              <a:t>, Giuseppe Pelosi, Stefano </a:t>
            </a:r>
            <a:r>
              <a:rPr lang="en-US" sz="2400" dirty="0" err="1" smtClean="0">
                <a:solidFill>
                  <a:schemeClr val="tx1"/>
                </a:solidFill>
                <a:effectLst>
                  <a:outerShdw blurRad="38100" dist="38100" dir="2700000" algn="tl">
                    <a:srgbClr val="C0C0C0"/>
                  </a:outerShdw>
                </a:effectLst>
                <a:latin typeface="Times New Roman" pitchFamily="18" charset="0"/>
                <a:cs typeface="Times New Roman" pitchFamily="18" charset="0"/>
              </a:rPr>
              <a:t>Selleri</a:t>
            </a:r>
            <a:endParaRPr lang="en-US" sz="2400" dirty="0" smtClean="0">
              <a:solidFill>
                <a:schemeClr val="tx1"/>
              </a:solidFill>
              <a:effectLst>
                <a:outerShdw blurRad="38100" dist="38100" dir="2700000" algn="tl">
                  <a:srgbClr val="C0C0C0"/>
                </a:outerShdw>
              </a:effectLst>
              <a:latin typeface="Times New Roman" pitchFamily="18" charset="0"/>
              <a:cs typeface="Times New Roman" pitchFamily="18" charset="0"/>
            </a:endParaRPr>
          </a:p>
          <a:p>
            <a:pPr algn="ctr" eaLnBrk="0" hangingPunct="0">
              <a:defRPr/>
            </a:pPr>
            <a:endParaRPr lang="en-US" dirty="0" smtClean="0">
              <a:solidFill>
                <a:srgbClr val="660066"/>
              </a:solidFill>
              <a:effectLst>
                <a:outerShdw blurRad="38100" dist="38100" dir="2700000" algn="tl">
                  <a:srgbClr val="C0C0C0"/>
                </a:outerShdw>
              </a:effectLst>
              <a:latin typeface="Times New Roman" pitchFamily="18" charset="0"/>
              <a:cs typeface="Times New Roman" pitchFamily="18" charset="0"/>
            </a:endParaRPr>
          </a:p>
          <a:p>
            <a:pPr algn="ctr" eaLnBrk="0" hangingPunct="0">
              <a:defRPr/>
            </a:pPr>
            <a:endParaRPr lang="en-US" dirty="0" smtClean="0">
              <a:solidFill>
                <a:srgbClr val="660066"/>
              </a:solidFill>
              <a:effectLst>
                <a:outerShdw blurRad="38100" dist="38100" dir="2700000" algn="tl">
                  <a:srgbClr val="C0C0C0"/>
                </a:outerShdw>
              </a:effectLst>
              <a:latin typeface="Times New Roman" pitchFamily="18" charset="0"/>
              <a:cs typeface="Times New Roman" pitchFamily="18" charset="0"/>
            </a:endParaRPr>
          </a:p>
          <a:p>
            <a:pPr algn="ctr" eaLnBrk="0" hangingPunct="0">
              <a:defRPr/>
            </a:pPr>
            <a:r>
              <a:rPr lang="en-US" dirty="0" smtClean="0">
                <a:solidFill>
                  <a:schemeClr val="tx1"/>
                </a:solidFill>
                <a:effectLst>
                  <a:outerShdw blurRad="38100" dist="38100" dir="2700000" algn="tl">
                    <a:srgbClr val="C0C0C0"/>
                  </a:outerShdw>
                </a:effectLst>
                <a:latin typeface="Times New Roman" pitchFamily="18" charset="0"/>
                <a:cs typeface="Times New Roman" pitchFamily="18" charset="0"/>
              </a:rPr>
              <a:t>Department of Electronics and Telecommunications</a:t>
            </a:r>
          </a:p>
          <a:p>
            <a:pPr algn="ctr" eaLnBrk="0" hangingPunct="0">
              <a:defRPr/>
            </a:pPr>
            <a:r>
              <a:rPr lang="en-US" dirty="0" smtClean="0">
                <a:solidFill>
                  <a:schemeClr val="tx1"/>
                </a:solidFill>
                <a:effectLst>
                  <a:outerShdw blurRad="38100" dist="38100" dir="2700000" algn="tl">
                    <a:srgbClr val="C0C0C0"/>
                  </a:outerShdw>
                </a:effectLst>
                <a:latin typeface="Times New Roman" pitchFamily="18" charset="0"/>
                <a:cs typeface="Times New Roman" pitchFamily="18" charset="0"/>
              </a:rPr>
              <a:t>University of </a:t>
            </a:r>
            <a:r>
              <a:rPr lang="en-US" dirty="0" smtClean="0">
                <a:solidFill>
                  <a:schemeClr val="tx1"/>
                </a:solidFill>
                <a:effectLst>
                  <a:outerShdw blurRad="38100" dist="38100" dir="2700000" algn="tl">
                    <a:srgbClr val="C0C0C0"/>
                  </a:outerShdw>
                </a:effectLst>
                <a:latin typeface="Times New Roman" pitchFamily="18" charset="0"/>
                <a:cs typeface="Times New Roman" pitchFamily="18" charset="0"/>
              </a:rPr>
              <a:t>Florence</a:t>
            </a:r>
          </a:p>
          <a:p>
            <a:pPr algn="ctr" eaLnBrk="0" hangingPunct="0">
              <a:defRPr/>
            </a:pPr>
            <a:r>
              <a:rPr lang="en-US" dirty="0" smtClean="0">
                <a:solidFill>
                  <a:schemeClr val="tx1"/>
                </a:solidFill>
                <a:effectLst>
                  <a:outerShdw blurRad="38100" dist="38100" dir="2700000" algn="tl">
                    <a:srgbClr val="C0C0C0"/>
                  </a:outerShdw>
                </a:effectLst>
                <a:latin typeface="Times New Roman" pitchFamily="18" charset="0"/>
                <a:cs typeface="Times New Roman" pitchFamily="18" charset="0"/>
              </a:rPr>
              <a:t>Via di S. Marta 3, Florence, I-50133, Italy</a:t>
            </a:r>
            <a:endParaRPr lang="en-US" dirty="0" smtClean="0">
              <a:solidFill>
                <a:schemeClr val="tx1"/>
              </a:solidFill>
              <a:effectLst>
                <a:outerShdw blurRad="38100" dist="38100" dir="2700000" algn="tl">
                  <a:srgbClr val="C0C0C0"/>
                </a:outerShdw>
              </a:effectLst>
              <a:latin typeface="Times New Roman" pitchFamily="18" charset="0"/>
              <a:cs typeface="Times New Roman" pitchFamily="18" charset="0"/>
            </a:endParaRPr>
          </a:p>
          <a:p>
            <a:pPr algn="ctr" eaLnBrk="0" hangingPunct="0">
              <a:defRPr/>
            </a:pPr>
            <a:endParaRPr lang="en-US"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a:p>
            <a:pPr algn="ctr" fontAlgn="auto">
              <a:spcBef>
                <a:spcPts val="0"/>
              </a:spcBef>
              <a:spcAft>
                <a:spcPts val="0"/>
              </a:spcAft>
              <a:defRPr/>
            </a:pPr>
            <a:r>
              <a:rPr lang="en-US" dirty="0" smtClean="0">
                <a:effectLst>
                  <a:outerShdw blurRad="38100" dist="38100" dir="2700000" algn="tl">
                    <a:srgbClr val="000000">
                      <a:alpha val="43137"/>
                    </a:srgbClr>
                  </a:outerShdw>
                </a:effectLst>
                <a:latin typeface="Times New Roman" pitchFamily="18" charset="0"/>
                <a:cs typeface="Times New Roman" pitchFamily="18" charset="0"/>
              </a:rPr>
              <a:t>11th </a:t>
            </a:r>
            <a:r>
              <a:rPr lang="en-US" dirty="0">
                <a:effectLst>
                  <a:outerShdw blurRad="38100" dist="38100" dir="2700000" algn="tl">
                    <a:srgbClr val="000000">
                      <a:alpha val="43137"/>
                    </a:srgbClr>
                  </a:outerShdw>
                </a:effectLst>
                <a:latin typeface="Times New Roman" pitchFamily="18" charset="0"/>
                <a:cs typeface="Times New Roman" pitchFamily="18" charset="0"/>
              </a:rPr>
              <a:t>International Workshop on Finite Elements for Microwave Engineering – FEM2012</a:t>
            </a:r>
          </a:p>
          <a:p>
            <a:pPr algn="ctr" fontAlgn="auto">
              <a:spcBef>
                <a:spcPts val="0"/>
              </a:spcBef>
              <a:spcAft>
                <a:spcPts val="0"/>
              </a:spcAft>
              <a:defRPr/>
            </a:pPr>
            <a:r>
              <a:rPr lang="en-US" dirty="0">
                <a:effectLst>
                  <a:outerShdw blurRad="38100" dist="38100" dir="2700000" algn="tl">
                    <a:srgbClr val="000000">
                      <a:alpha val="43137"/>
                    </a:srgbClr>
                  </a:outerShdw>
                </a:effectLst>
                <a:latin typeface="Times New Roman" pitchFamily="18" charset="0"/>
                <a:cs typeface="Times New Roman" pitchFamily="18" charset="0"/>
              </a:rPr>
              <a:t>June 4-6, 2012, Estes Park, Colorado, USA</a:t>
            </a:r>
            <a:endParaRPr lang="it-IT"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7" name="Segnaposto testo 2"/>
          <p:cNvSpPr txBox="1">
            <a:spLocks/>
          </p:cNvSpPr>
          <p:nvPr/>
        </p:nvSpPr>
        <p:spPr>
          <a:xfrm>
            <a:off x="0" y="1663641"/>
            <a:ext cx="9144000" cy="1477328"/>
          </a:xfrm>
          <a:prstGeom prst="rect">
            <a:avLst/>
          </a:prstGeom>
        </p:spPr>
        <p:txBody>
          <a:bodyPr lIns="0" tIns="0" rIns="0" bIns="0" anchor="ctr">
            <a:spAutoFit/>
          </a:bodyPr>
          <a:lstStyle/>
          <a:p>
            <a:pPr marL="342900" indent="-342900" algn="ctr">
              <a:spcBef>
                <a:spcPct val="20000"/>
              </a:spcBef>
              <a:defRPr/>
            </a:pPr>
            <a:r>
              <a:rPr lang="en-US" sz="3200" kern="0"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Harmonic Balance Domain Decomposition</a:t>
            </a:r>
            <a:br>
              <a:rPr lang="en-US" sz="3200" kern="0"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br>
            <a:r>
              <a:rPr lang="en-US" sz="3200" kern="0"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Finite Elements for Nonlinear Passive</a:t>
            </a:r>
            <a:br>
              <a:rPr lang="en-US" sz="3200" kern="0"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br>
            <a:r>
              <a:rPr lang="en-US" sz="3200" kern="0" dirty="0" smtClean="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Microwave Devices Analysis</a:t>
            </a:r>
            <a:endParaRPr lang="en-US" kern="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 name="Content Placeholder 1"/>
          <p:cNvSpPr>
            <a:spLocks noGrp="1"/>
          </p:cNvSpPr>
          <p:nvPr>
            <p:ph idx="1"/>
          </p:nvPr>
        </p:nvSpPr>
        <p:spPr/>
        <p:txBody>
          <a:bodyPr/>
          <a:lstStyle/>
          <a:p>
            <a:endParaRPr lang="en-US" dirty="0"/>
          </a:p>
        </p:txBody>
      </p:sp>
    </p:spTree>
    <p:extLst>
      <p:ext uri="{BB962C8B-B14F-4D97-AF65-F5344CB8AC3E}">
        <p14:creationId xmlns:p14="http://schemas.microsoft.com/office/powerpoint/2010/main" val="17644917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Outline</a:t>
            </a:r>
            <a:endParaRPr lang="en-US" dirty="0"/>
          </a:p>
        </p:txBody>
      </p:sp>
      <p:sp>
        <p:nvSpPr>
          <p:cNvPr id="3" name="TextBox 2"/>
          <p:cNvSpPr txBox="1"/>
          <p:nvPr/>
        </p:nvSpPr>
        <p:spPr>
          <a:xfrm>
            <a:off x="755576" y="1340772"/>
            <a:ext cx="7560840" cy="4370427"/>
          </a:xfrm>
          <a:prstGeom prst="rect">
            <a:avLst/>
          </a:prstGeom>
          <a:noFill/>
        </p:spPr>
        <p:txBody>
          <a:bodyPr wrap="square" rtlCol="0">
            <a:spAutoFit/>
          </a:bodyPr>
          <a:lstStyle/>
          <a:p>
            <a:pPr marL="285750" indent="-285750">
              <a:buFont typeface="Arial" pitchFamily="34" charset="0"/>
              <a:buChar char="•"/>
            </a:pPr>
            <a:r>
              <a:rPr lang="en-US" sz="2000" dirty="0" smtClean="0">
                <a:latin typeface="Times New Roman" pitchFamily="18" charset="0"/>
                <a:cs typeface="Times New Roman" pitchFamily="18" charset="0"/>
              </a:rPr>
              <a:t>Motivation</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sz="2000" dirty="0" smtClean="0">
                <a:latin typeface="Times New Roman" pitchFamily="18" charset="0"/>
                <a:cs typeface="Times New Roman" pitchFamily="18" charset="0"/>
              </a:rPr>
              <a:t>Formulation</a:t>
            </a:r>
          </a:p>
          <a:p>
            <a:pPr marL="285750" indent="-285750">
              <a:buFont typeface="Arial" pitchFamily="34" charset="0"/>
              <a:buChar char="•"/>
            </a:pPr>
            <a:endParaRPr lang="en-US" dirty="0">
              <a:latin typeface="Times New Roman" pitchFamily="18" charset="0"/>
              <a:cs typeface="Times New Roman" pitchFamily="18" charset="0"/>
            </a:endParaRPr>
          </a:p>
          <a:p>
            <a:pPr marL="742950" lvl="1" indent="-285750">
              <a:buFont typeface="Arial" pitchFamily="34" charset="0"/>
              <a:buChar char="•"/>
            </a:pPr>
            <a:r>
              <a:rPr lang="en-US" dirty="0" smtClean="0">
                <a:latin typeface="Times New Roman" pitchFamily="18" charset="0"/>
                <a:cs typeface="Times New Roman" pitchFamily="18" charset="0"/>
              </a:rPr>
              <a:t>Harmonic Balance</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a:p>
            <a:pPr marL="742950" lvl="1" indent="-285750">
              <a:buFont typeface="Arial" pitchFamily="34" charset="0"/>
              <a:buChar char="•"/>
            </a:pPr>
            <a:r>
              <a:rPr lang="en-US" dirty="0" smtClean="0">
                <a:latin typeface="Times New Roman" pitchFamily="18" charset="0"/>
                <a:cs typeface="Times New Roman" pitchFamily="18" charset="0"/>
              </a:rPr>
              <a:t> Domain decomposition</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sz="2000" dirty="0" smtClean="0">
                <a:latin typeface="Times New Roman" pitchFamily="18" charset="0"/>
                <a:cs typeface="Times New Roman" pitchFamily="18" charset="0"/>
              </a:rPr>
              <a:t>Numerical experiments</a:t>
            </a:r>
          </a:p>
          <a:p>
            <a:pPr marL="285750" indent="-285750">
              <a:buFont typeface="Arial" pitchFamily="34" charset="0"/>
              <a:buChar char="•"/>
            </a:pPr>
            <a:endParaRPr lang="en-US" dirty="0">
              <a:latin typeface="Times New Roman" pitchFamily="18" charset="0"/>
              <a:cs typeface="Times New Roman" pitchFamily="18" charset="0"/>
            </a:endParaRPr>
          </a:p>
          <a:p>
            <a:pPr marL="742950" lvl="1" indent="-285750">
              <a:buFont typeface="Arial" pitchFamily="34" charset="0"/>
              <a:buChar char="•"/>
            </a:pPr>
            <a:r>
              <a:rPr lang="en-US" dirty="0" smtClean="0">
                <a:latin typeface="Times New Roman" pitchFamily="18" charset="0"/>
                <a:cs typeface="Times New Roman" pitchFamily="18" charset="0"/>
              </a:rPr>
              <a:t>Nonlinear permittivity</a:t>
            </a:r>
          </a:p>
          <a:p>
            <a:pPr marL="742950" lvl="1" indent="-285750">
              <a:buFont typeface="Arial" pitchFamily="34" charset="0"/>
              <a:buChar char="•"/>
            </a:pPr>
            <a:endParaRPr lang="en-US" dirty="0">
              <a:latin typeface="Times New Roman" pitchFamily="18" charset="0"/>
              <a:cs typeface="Times New Roman" pitchFamily="18" charset="0"/>
            </a:endParaRPr>
          </a:p>
          <a:p>
            <a:pPr marL="742950" lvl="1" indent="-285750">
              <a:buFont typeface="Arial" pitchFamily="34" charset="0"/>
              <a:buChar char="•"/>
            </a:pPr>
            <a:r>
              <a:rPr lang="en-US" dirty="0" smtClean="0">
                <a:latin typeface="Times New Roman" pitchFamily="18" charset="0"/>
                <a:cs typeface="Times New Roman" pitchFamily="18" charset="0"/>
              </a:rPr>
              <a:t>Nonlinear permeability</a:t>
            </a:r>
          </a:p>
          <a:p>
            <a:pPr marL="742950" lvl="1"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sz="2000" dirty="0" smtClean="0">
                <a:latin typeface="Times New Roman" pitchFamily="18" charset="0"/>
                <a:cs typeface="Times New Roman" pitchFamily="18" charset="0"/>
              </a:rPr>
              <a:t>Conclusion</a:t>
            </a:r>
          </a:p>
        </p:txBody>
      </p:sp>
      <p:pic>
        <p:nvPicPr>
          <p:cNvPr id="1026"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4774" t="13484" r="16322" b="14774"/>
          <a:stretch/>
        </p:blipFill>
        <p:spPr bwMode="auto">
          <a:xfrm>
            <a:off x="4283974" y="692695"/>
            <a:ext cx="3648293" cy="2848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9097" t="7291" r="14967" b="14000"/>
          <a:stretch/>
        </p:blipFill>
        <p:spPr bwMode="auto">
          <a:xfrm>
            <a:off x="5436096" y="3140969"/>
            <a:ext cx="2880320" cy="303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31636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Motivation: The problem</a:t>
            </a:r>
            <a:endParaRPr lang="en-US" dirty="0"/>
          </a:p>
        </p:txBody>
      </p:sp>
      <p:sp>
        <p:nvSpPr>
          <p:cNvPr id="3" name="TextBox 2"/>
          <p:cNvSpPr txBox="1"/>
          <p:nvPr/>
        </p:nvSpPr>
        <p:spPr>
          <a:xfrm>
            <a:off x="683568" y="1208944"/>
            <a:ext cx="7776864" cy="4524315"/>
          </a:xfrm>
          <a:prstGeom prst="rect">
            <a:avLst/>
          </a:prstGeom>
          <a:noFill/>
        </p:spPr>
        <p:txBody>
          <a:bodyPr wrap="square" rtlCol="0">
            <a:spAutoFit/>
          </a:bodyPr>
          <a:lstStyle/>
          <a:p>
            <a:pPr marL="285750" indent="-285750">
              <a:buFont typeface="Arial" pitchFamily="34" charset="0"/>
              <a:buChar char="•"/>
            </a:pPr>
            <a:r>
              <a:rPr lang="en-US" dirty="0" smtClean="0">
                <a:latin typeface="Times New Roman" pitchFamily="18" charset="0"/>
                <a:cs typeface="Times New Roman" pitchFamily="18" charset="0"/>
              </a:rPr>
              <a:t>When high power densities are involved within microwave devices, materials exhibit a significant nonlinear behavior:</a:t>
            </a: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If steady state fields are aimed at for a finite set of frequencies, a frequency domain analysis might be preferable to a time domain analysis</a:t>
            </a: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Frequency domain methods for solving nonlinear PDEs require an iterative solution and the inclusion of higher order harmonic to improve accuracy</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Depending on the field intensities and the nonlinear operator that describes the material behavior, the nonlinear solving loop might be computationally expensive and, for extreme conditions, convergence might not be guaranteed</a:t>
            </a:r>
          </a:p>
        </p:txBody>
      </p:sp>
      <p:graphicFrame>
        <p:nvGraphicFramePr>
          <p:cNvPr id="7" name="Object 6"/>
          <p:cNvGraphicFramePr>
            <a:graphicFrameLocks noChangeAspect="1"/>
          </p:cNvGraphicFramePr>
          <p:nvPr>
            <p:extLst>
              <p:ext uri="{D42A27DB-BD31-4B8C-83A1-F6EECF244321}">
                <p14:modId xmlns:p14="http://schemas.microsoft.com/office/powerpoint/2010/main" val="511020502"/>
              </p:ext>
            </p:extLst>
          </p:nvPr>
        </p:nvGraphicFramePr>
        <p:xfrm>
          <a:off x="3835400" y="2060848"/>
          <a:ext cx="1473200" cy="673100"/>
        </p:xfrm>
        <a:graphic>
          <a:graphicData uri="http://schemas.openxmlformats.org/presentationml/2006/ole">
            <mc:AlternateContent xmlns:mc="http://schemas.openxmlformats.org/markup-compatibility/2006">
              <mc:Choice xmlns:v="urn:schemas-microsoft-com:vml" Requires="v">
                <p:oleObj spid="_x0000_s1062" name="Equation" r:id="rId3" imgW="1473120" imgH="672840" progId="Equation.DSMT4">
                  <p:embed/>
                </p:oleObj>
              </mc:Choice>
              <mc:Fallback>
                <p:oleObj name="Equation" r:id="rId3" imgW="1473120" imgH="672840" progId="Equation.DSMT4">
                  <p:embed/>
                  <p:pic>
                    <p:nvPicPr>
                      <p:cNvPr id="0" name=""/>
                      <p:cNvPicPr/>
                      <p:nvPr/>
                    </p:nvPicPr>
                    <p:blipFill>
                      <a:blip r:embed="rId4"/>
                      <a:stretch>
                        <a:fillRect/>
                      </a:stretch>
                    </p:blipFill>
                    <p:spPr>
                      <a:xfrm>
                        <a:off x="3835400" y="2060848"/>
                        <a:ext cx="1473200" cy="673100"/>
                      </a:xfrm>
                      <a:prstGeom prst="rect">
                        <a:avLst/>
                      </a:prstGeom>
                    </p:spPr>
                  </p:pic>
                </p:oleObj>
              </mc:Fallback>
            </mc:AlternateContent>
          </a:graphicData>
        </a:graphic>
      </p:graphicFrame>
    </p:spTree>
    <p:extLst>
      <p:ext uri="{BB962C8B-B14F-4D97-AF65-F5344CB8AC3E}">
        <p14:creationId xmlns:p14="http://schemas.microsoft.com/office/powerpoint/2010/main" val="28409565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Motivation: Proposed methodology</a:t>
            </a:r>
            <a:endParaRPr lang="en-US" dirty="0"/>
          </a:p>
        </p:txBody>
      </p:sp>
      <p:sp>
        <p:nvSpPr>
          <p:cNvPr id="3" name="TextBox 2"/>
          <p:cNvSpPr txBox="1"/>
          <p:nvPr/>
        </p:nvSpPr>
        <p:spPr>
          <a:xfrm>
            <a:off x="683568" y="1380210"/>
            <a:ext cx="7776864" cy="4339650"/>
          </a:xfrm>
          <a:prstGeom prst="rect">
            <a:avLst/>
          </a:prstGeom>
          <a:noFill/>
        </p:spPr>
        <p:txBody>
          <a:bodyPr wrap="square" rtlCol="0">
            <a:spAutoFit/>
          </a:bodyPr>
          <a:lstStyle/>
          <a:p>
            <a:r>
              <a:rPr lang="en-US" sz="2000" dirty="0" smtClean="0">
                <a:latin typeface="Times New Roman" pitchFamily="18" charset="0"/>
                <a:cs typeface="Times New Roman" pitchFamily="18" charset="0"/>
              </a:rPr>
              <a:t>Harmonic Balance</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A multiharmonic finite elements formulation, the Harmonic Balance Finite Elements (HBFE), allows for the inclusion of higher order harmonics which are coupled by means of material characteristics</a:t>
            </a: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The HBFE approach also allows for passive intermodulation analysis (3</a:t>
            </a:r>
            <a:r>
              <a:rPr lang="en-US" baseline="30000" dirty="0" smtClean="0">
                <a:latin typeface="Times New Roman" pitchFamily="18" charset="0"/>
                <a:cs typeface="Times New Roman" pitchFamily="18" charset="0"/>
              </a:rPr>
              <a:t>rd</a:t>
            </a:r>
            <a:r>
              <a:rPr lang="en-US" dirty="0" smtClean="0">
                <a:latin typeface="Times New Roman" pitchFamily="18" charset="0"/>
                <a:cs typeface="Times New Roman" pitchFamily="18" charset="0"/>
              </a:rPr>
              <a:t> order intermodulation products)</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Domain Decomposition</a:t>
            </a:r>
          </a:p>
          <a:p>
            <a:endParaRPr lang="en-US" sz="2000"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For designs that include small parts of materials that present significant nonlinear behavior at high intensity fields, domain decompositions techniques might be used to restrict the nonlinear solving loop to fewer </a:t>
            </a:r>
            <a:r>
              <a:rPr lang="en-US" dirty="0" err="1" smtClean="0">
                <a:latin typeface="Times New Roman" pitchFamily="18" charset="0"/>
                <a:cs typeface="Times New Roman" pitchFamily="18" charset="0"/>
              </a:rPr>
              <a:t>DoFs</a:t>
            </a:r>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9756193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83568" y="635550"/>
            <a:ext cx="7776864" cy="2923877"/>
          </a:xfrm>
          <a:prstGeom prst="rect">
            <a:avLst/>
          </a:prstGeom>
          <a:noFill/>
        </p:spPr>
        <p:txBody>
          <a:bodyPr wrap="square" rtlCol="0">
            <a:spAutoFit/>
          </a:bodyPr>
          <a:lstStyle/>
          <a:p>
            <a:r>
              <a:rPr lang="en-US" sz="2000" dirty="0" smtClean="0">
                <a:latin typeface="Times New Roman" pitchFamily="18" charset="0"/>
                <a:cs typeface="Times New Roman" pitchFamily="18" charset="0"/>
              </a:rPr>
              <a:t>Conventional FE (single harmonic)</a:t>
            </a:r>
          </a:p>
          <a:p>
            <a:endParaRPr lang="en-US" sz="2000" dirty="0">
              <a:latin typeface="Times New Roman" pitchFamily="18" charset="0"/>
              <a:cs typeface="Times New Roman" pitchFamily="18" charset="0"/>
            </a:endParaRPr>
          </a:p>
          <a:p>
            <a:r>
              <a:rPr lang="en-US" dirty="0" smtClean="0">
                <a:latin typeface="Times New Roman" pitchFamily="18" charset="0"/>
                <a:cs typeface="Times New Roman" pitchFamily="18" charset="0"/>
              </a:rPr>
              <a:t>We wish to solve the vector Helmholtz equation</a:t>
            </a: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with perfect electric conditions on  </a:t>
            </a:r>
            <a:r>
              <a:rPr lang="el-GR" dirty="0" smtClean="0">
                <a:latin typeface="Times New Roman" pitchFamily="18" charset="0"/>
                <a:cs typeface="Times New Roman" pitchFamily="18" charset="0"/>
              </a:rPr>
              <a:t>Γ</a:t>
            </a:r>
            <a:r>
              <a:rPr lang="it-IT" baseline="-25000" dirty="0" smtClean="0">
                <a:latin typeface="Times New Roman" pitchFamily="18" charset="0"/>
                <a:cs typeface="Times New Roman" pitchFamily="18" charset="0"/>
              </a:rPr>
              <a:t>0</a:t>
            </a:r>
            <a:r>
              <a:rPr lang="it-IT"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and modal port expansions </a:t>
            </a:r>
            <a:r>
              <a:rPr lang="it-IT" dirty="0" smtClean="0">
                <a:latin typeface="Times New Roman" pitchFamily="18" charset="0"/>
                <a:cs typeface="Times New Roman" pitchFamily="18" charset="0"/>
              </a:rPr>
              <a:t>on </a:t>
            </a:r>
            <a:r>
              <a:rPr lang="el-GR" dirty="0" smtClean="0">
                <a:latin typeface="Times New Roman" pitchFamily="18" charset="0"/>
                <a:cs typeface="Times New Roman" pitchFamily="18" charset="0"/>
              </a:rPr>
              <a:t>Γ</a:t>
            </a:r>
            <a:r>
              <a:rPr lang="it-IT" i="1" baseline="-25000" dirty="0" smtClean="0">
                <a:latin typeface="Times New Roman" pitchFamily="18" charset="0"/>
                <a:cs typeface="Times New Roman" pitchFamily="18" charset="0"/>
              </a:rPr>
              <a:t>l</a:t>
            </a:r>
            <a:r>
              <a:rPr lang="it-IT"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=1…L.</a:t>
            </a:r>
          </a:p>
          <a:p>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The electric field is expanded  in terms of basis functions and a Galerkin projection leads to a linear system of equations</a:t>
            </a:r>
          </a:p>
        </p:txBody>
      </p:sp>
      <p:sp>
        <p:nvSpPr>
          <p:cNvPr id="2" name="Content Placeholder 1"/>
          <p:cNvSpPr>
            <a:spLocks noGrp="1"/>
          </p:cNvSpPr>
          <p:nvPr>
            <p:ph idx="1"/>
          </p:nvPr>
        </p:nvSpPr>
        <p:spPr/>
        <p:txBody>
          <a:bodyPr/>
          <a:lstStyle/>
          <a:p>
            <a:r>
              <a:rPr lang="en-US" dirty="0" smtClean="0"/>
              <a:t>Formulation: Harmonic </a:t>
            </a:r>
            <a:r>
              <a:rPr lang="en-US" dirty="0" smtClean="0"/>
              <a:t>Balance </a:t>
            </a:r>
            <a:r>
              <a:rPr lang="en-US" dirty="0" smtClean="0"/>
              <a:t>Finite Elements</a:t>
            </a:r>
            <a:endParaRPr lang="en-US" dirty="0"/>
          </a:p>
        </p:txBody>
      </p:sp>
      <p:sp>
        <p:nvSpPr>
          <p:cNvPr id="3" name="TextBox 2"/>
          <p:cNvSpPr txBox="1"/>
          <p:nvPr/>
        </p:nvSpPr>
        <p:spPr>
          <a:xfrm>
            <a:off x="251520" y="635546"/>
            <a:ext cx="8640960" cy="338554"/>
          </a:xfrm>
          <a:prstGeom prst="rect">
            <a:avLst/>
          </a:prstGeom>
          <a:noFill/>
        </p:spPr>
        <p:txBody>
          <a:bodyPr wrap="square" rtlCol="0">
            <a:spAutoFit/>
          </a:bodyPr>
          <a:lstStyle/>
          <a:p>
            <a:pPr marL="285750" indent="-285750">
              <a:buFont typeface="Arial" pitchFamily="34" charset="0"/>
              <a:buChar char="•"/>
            </a:pPr>
            <a:endParaRPr lang="en-US" sz="1600" dirty="0" smtClean="0">
              <a:latin typeface="Times New Roman" pitchFamily="18" charset="0"/>
              <a:cs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017387086"/>
              </p:ext>
            </p:extLst>
          </p:nvPr>
        </p:nvGraphicFramePr>
        <p:xfrm>
          <a:off x="1608138" y="1670050"/>
          <a:ext cx="5956300" cy="647700"/>
        </p:xfrm>
        <a:graphic>
          <a:graphicData uri="http://schemas.openxmlformats.org/presentationml/2006/ole">
            <mc:AlternateContent xmlns:mc="http://schemas.openxmlformats.org/markup-compatibility/2006">
              <mc:Choice xmlns:v="urn:schemas-microsoft-com:vml" Requires="v">
                <p:oleObj spid="_x0000_s2130" name="Equation" r:id="rId3" imgW="5956200" imgH="647640" progId="Equation.DSMT4">
                  <p:embed/>
                </p:oleObj>
              </mc:Choice>
              <mc:Fallback>
                <p:oleObj name="Equation" r:id="rId3" imgW="5956200" imgH="647640" progId="Equation.DSMT4">
                  <p:embed/>
                  <p:pic>
                    <p:nvPicPr>
                      <p:cNvPr id="0" name=""/>
                      <p:cNvPicPr/>
                      <p:nvPr/>
                    </p:nvPicPr>
                    <p:blipFill>
                      <a:blip r:embed="rId4"/>
                      <a:stretch>
                        <a:fillRect/>
                      </a:stretch>
                    </p:blipFill>
                    <p:spPr>
                      <a:xfrm>
                        <a:off x="1608138" y="1670050"/>
                        <a:ext cx="5956300" cy="647700"/>
                      </a:xfrm>
                      <a:prstGeom prst="rect">
                        <a:avLst/>
                      </a:prstGeom>
                    </p:spPr>
                  </p:pic>
                </p:oleObj>
              </mc:Fallback>
            </mc:AlternateContent>
          </a:graphicData>
        </a:graphic>
      </p:graphicFrame>
      <p:sp>
        <p:nvSpPr>
          <p:cNvPr id="10" name="Rectangle 8"/>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p:cNvGraphicFramePr>
            <a:graphicFrameLocks noChangeAspect="1"/>
          </p:cNvGraphicFramePr>
          <p:nvPr>
            <p:extLst>
              <p:ext uri="{D42A27DB-BD31-4B8C-83A1-F6EECF244321}">
                <p14:modId xmlns:p14="http://schemas.microsoft.com/office/powerpoint/2010/main" val="11947386"/>
              </p:ext>
            </p:extLst>
          </p:nvPr>
        </p:nvGraphicFramePr>
        <p:xfrm>
          <a:off x="1848920" y="5258850"/>
          <a:ext cx="1485720" cy="342720"/>
        </p:xfrm>
        <a:graphic>
          <a:graphicData uri="http://schemas.openxmlformats.org/presentationml/2006/ole">
            <mc:AlternateContent xmlns:mc="http://schemas.openxmlformats.org/markup-compatibility/2006">
              <mc:Choice xmlns:v="urn:schemas-microsoft-com:vml" Requires="v">
                <p:oleObj spid="_x0000_s2131" name="Equation" r:id="rId5" imgW="1485720" imgH="342720" progId="Equation.DSMT4">
                  <p:embed/>
                </p:oleObj>
              </mc:Choice>
              <mc:Fallback>
                <p:oleObj name="Equation" r:id="rId5" imgW="1485720" imgH="342720" progId="Equation.DSMT4">
                  <p:embed/>
                  <p:pic>
                    <p:nvPicPr>
                      <p:cNvPr id="0" name="Object 7"/>
                      <p:cNvPicPr>
                        <a:picLocks noChangeAspect="1" noChangeArrowheads="1"/>
                      </p:cNvPicPr>
                      <p:nvPr/>
                    </p:nvPicPr>
                    <p:blipFill>
                      <a:blip r:embed="rId6"/>
                      <a:srcRect/>
                      <a:stretch>
                        <a:fillRect/>
                      </a:stretch>
                    </p:blipFill>
                    <p:spPr bwMode="auto">
                      <a:xfrm>
                        <a:off x="1848920" y="5258850"/>
                        <a:ext cx="1485720" cy="342720"/>
                      </a:xfrm>
                      <a:prstGeom prst="rect">
                        <a:avLst/>
                      </a:prstGeom>
                      <a:noFill/>
                    </p:spPr>
                  </p:pic>
                </p:oleObj>
              </mc:Fallback>
            </mc:AlternateContent>
          </a:graphicData>
        </a:graphic>
      </p:graphicFrame>
      <p:sp>
        <p:nvSpPr>
          <p:cNvPr id="12" name="Down Arrow 11"/>
          <p:cNvSpPr/>
          <p:nvPr/>
        </p:nvSpPr>
        <p:spPr bwMode="auto">
          <a:xfrm>
            <a:off x="2267744" y="4277562"/>
            <a:ext cx="648072" cy="432048"/>
          </a:xfrm>
          <a:prstGeom prst="downArrow">
            <a:avLst/>
          </a:prstGeom>
          <a:solidFill>
            <a:srgbClr val="A50021"/>
          </a:solidFill>
          <a:ln w="9525">
            <a:solidFill>
              <a:srgbClr val="A50021"/>
            </a:solidFill>
            <a:miter lim="800000"/>
            <a:headEnd/>
            <a:tailEnd/>
          </a:ln>
        </p:spPr>
        <p:txBody>
          <a:bodyPr wrap="none" rtlCol="0" anchor="ctr"/>
          <a:lstStyle/>
          <a:p>
            <a:pPr algn="ctr"/>
            <a:endParaRPr lang="en-US">
              <a:latin typeface="Calibri" pitchFamily="34" charset="0"/>
            </a:endParaRPr>
          </a:p>
        </p:txBody>
      </p:sp>
      <p:pic>
        <p:nvPicPr>
          <p:cNvPr id="14" name="Picture 74" descr="C:\Users\Laurent\Desktop\img\device.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67949" y="3832768"/>
            <a:ext cx="4804621" cy="2260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508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520" y="5571237"/>
            <a:ext cx="8640960" cy="954107"/>
          </a:xfrm>
          <a:prstGeom prst="rect">
            <a:avLst/>
          </a:prstGeom>
          <a:noFill/>
          <a:ln>
            <a:solidFill>
              <a:schemeClr val="tx1"/>
            </a:solidFill>
          </a:ln>
        </p:spPr>
        <p:txBody>
          <a:bodyPr wrap="square" rtlCol="0">
            <a:spAutoFit/>
          </a:bodyPr>
          <a:lstStyle/>
          <a:p>
            <a:pPr marL="285750" indent="-285750">
              <a:buFont typeface="Arial" pitchFamily="34" charset="0"/>
              <a:buChar char="•"/>
            </a:pPr>
            <a:r>
              <a:rPr lang="en-US" sz="1400" dirty="0">
                <a:latin typeface="Times New Roman" pitchFamily="18" charset="0"/>
                <a:cs typeface="Times New Roman" pitchFamily="18" charset="0"/>
              </a:rPr>
              <a:t>S. Yamada, K. </a:t>
            </a:r>
            <a:r>
              <a:rPr lang="en-US" sz="1400" dirty="0" err="1">
                <a:latin typeface="Times New Roman" pitchFamily="18" charset="0"/>
                <a:cs typeface="Times New Roman" pitchFamily="18" charset="0"/>
              </a:rPr>
              <a:t>Bessho</a:t>
            </a:r>
            <a:r>
              <a:rPr lang="en-US" sz="1400" dirty="0">
                <a:latin typeface="Times New Roman" pitchFamily="18" charset="0"/>
                <a:cs typeface="Times New Roman" pitchFamily="18" charset="0"/>
              </a:rPr>
              <a:t>, and J. Lu, “Harmonic balance finite </a:t>
            </a:r>
            <a:r>
              <a:rPr lang="en-US" sz="1400" dirty="0" smtClean="0">
                <a:latin typeface="Times New Roman" pitchFamily="18" charset="0"/>
                <a:cs typeface="Times New Roman" pitchFamily="18" charset="0"/>
              </a:rPr>
              <a:t>element method </a:t>
            </a:r>
            <a:r>
              <a:rPr lang="en-US" sz="1400" dirty="0">
                <a:latin typeface="Times New Roman" pitchFamily="18" charset="0"/>
                <a:cs typeface="Times New Roman" pitchFamily="18" charset="0"/>
              </a:rPr>
              <a:t>applied to </a:t>
            </a:r>
            <a:r>
              <a:rPr lang="en-US" sz="1400" dirty="0" smtClean="0">
                <a:latin typeface="Times New Roman" pitchFamily="18" charset="0"/>
                <a:cs typeface="Times New Roman" pitchFamily="18" charset="0"/>
              </a:rPr>
              <a:t>nonlinear </a:t>
            </a:r>
            <a:r>
              <a:rPr lang="en-US" sz="1400" dirty="0">
                <a:latin typeface="Times New Roman" pitchFamily="18" charset="0"/>
                <a:cs typeface="Times New Roman" pitchFamily="18" charset="0"/>
              </a:rPr>
              <a:t>AC magnetic analysis,” </a:t>
            </a:r>
            <a:r>
              <a:rPr lang="en-US" sz="1400" i="1" dirty="0">
                <a:latin typeface="Times New Roman" pitchFamily="18" charset="0"/>
                <a:cs typeface="Times New Roman" pitchFamily="18" charset="0"/>
              </a:rPr>
              <a:t>IEEE </a:t>
            </a:r>
            <a:r>
              <a:rPr lang="en-US" sz="1400" i="1" dirty="0" smtClean="0">
                <a:latin typeface="Times New Roman" pitchFamily="18" charset="0"/>
                <a:cs typeface="Times New Roman" pitchFamily="18" charset="0"/>
              </a:rPr>
              <a:t>Trans. </a:t>
            </a:r>
            <a:r>
              <a:rPr lang="nl-NL" sz="1400" i="1" dirty="0" smtClean="0">
                <a:latin typeface="Times New Roman" pitchFamily="18" charset="0"/>
                <a:cs typeface="Times New Roman" pitchFamily="18" charset="0"/>
              </a:rPr>
              <a:t>Magn</a:t>
            </a:r>
            <a:r>
              <a:rPr lang="nl-NL" sz="1400" i="1" dirty="0">
                <a:latin typeface="Times New Roman" pitchFamily="18" charset="0"/>
                <a:cs typeface="Times New Roman" pitchFamily="18" charset="0"/>
              </a:rPr>
              <a:t>.</a:t>
            </a:r>
            <a:r>
              <a:rPr lang="nl-NL" sz="1400" dirty="0">
                <a:latin typeface="Times New Roman" pitchFamily="18" charset="0"/>
                <a:cs typeface="Times New Roman" pitchFamily="18" charset="0"/>
              </a:rPr>
              <a:t>, vol. MAG-25, no. 4, pp. 2971–2973, </a:t>
            </a:r>
            <a:r>
              <a:rPr lang="nl-NL" sz="1400" dirty="0" smtClean="0">
                <a:latin typeface="Times New Roman" pitchFamily="18" charset="0"/>
                <a:cs typeface="Times New Roman" pitchFamily="18" charset="0"/>
              </a:rPr>
              <a:t>Jul</a:t>
            </a:r>
            <a:r>
              <a:rPr lang="nl-NL" sz="1400" dirty="0">
                <a:latin typeface="Times New Roman" pitchFamily="18" charset="0"/>
                <a:cs typeface="Times New Roman" pitchFamily="18" charset="0"/>
              </a:rPr>
              <a:t>. </a:t>
            </a:r>
            <a:r>
              <a:rPr lang="nl-NL" sz="1400" dirty="0" smtClean="0">
                <a:latin typeface="Times New Roman" pitchFamily="18" charset="0"/>
                <a:cs typeface="Times New Roman" pitchFamily="18" charset="0"/>
              </a:rPr>
              <a:t>1989</a:t>
            </a:r>
          </a:p>
          <a:p>
            <a:pPr marL="285750" indent="-285750">
              <a:buFont typeface="Arial" pitchFamily="34" charset="0"/>
              <a:buChar char="•"/>
            </a:pPr>
            <a:r>
              <a:rPr lang="en-US" sz="1400" dirty="0" smtClean="0">
                <a:latin typeface="Times New Roman" pitchFamily="18" charset="0"/>
                <a:cs typeface="Times New Roman" pitchFamily="18" charset="0"/>
              </a:rPr>
              <a:t>D</a:t>
            </a:r>
            <a:r>
              <a:rPr lang="en-US" sz="1400" dirty="0">
                <a:latin typeface="Times New Roman" pitchFamily="18" charset="0"/>
                <a:cs typeface="Times New Roman" pitchFamily="18" charset="0"/>
              </a:rPr>
              <a:t>. M. Copeland and U. Langer, “Domain decomposition solvers </a:t>
            </a:r>
            <a:r>
              <a:rPr lang="en-US" sz="1400" dirty="0" smtClean="0">
                <a:latin typeface="Times New Roman" pitchFamily="18" charset="0"/>
                <a:cs typeface="Times New Roman" pitchFamily="18" charset="0"/>
              </a:rPr>
              <a:t>for nonlinear multiharmonic finite </a:t>
            </a:r>
            <a:r>
              <a:rPr lang="en-US" sz="1400" dirty="0">
                <a:latin typeface="Times New Roman" pitchFamily="18" charset="0"/>
                <a:cs typeface="Times New Roman" pitchFamily="18" charset="0"/>
              </a:rPr>
              <a:t>element equations,” </a:t>
            </a:r>
            <a:r>
              <a:rPr lang="en-US" sz="1400" i="1" dirty="0">
                <a:latin typeface="Times New Roman" pitchFamily="18" charset="0"/>
                <a:cs typeface="Times New Roman" pitchFamily="18" charset="0"/>
              </a:rPr>
              <a:t>J. </a:t>
            </a:r>
            <a:r>
              <a:rPr lang="en-US" sz="1400" i="1" dirty="0" err="1">
                <a:latin typeface="Times New Roman" pitchFamily="18" charset="0"/>
                <a:cs typeface="Times New Roman" pitchFamily="18" charset="0"/>
              </a:rPr>
              <a:t>Numer</a:t>
            </a:r>
            <a:r>
              <a:rPr lang="en-US" sz="1400" i="1" dirty="0">
                <a:latin typeface="Times New Roman" pitchFamily="18" charset="0"/>
                <a:cs typeface="Times New Roman" pitchFamily="18" charset="0"/>
              </a:rPr>
              <a:t>. Math</a:t>
            </a:r>
            <a:r>
              <a:rPr lang="en-US" sz="1400" i="1" dirty="0" smtClean="0">
                <a:latin typeface="Times New Roman" pitchFamily="18" charset="0"/>
                <a:cs typeface="Times New Roman" pitchFamily="18" charset="0"/>
              </a:rPr>
              <a:t>.</a:t>
            </a:r>
            <a:r>
              <a:rPr lang="en-US" sz="1400" dirty="0" smtClean="0">
                <a:latin typeface="Times New Roman" pitchFamily="18" charset="0"/>
                <a:cs typeface="Times New Roman" pitchFamily="18" charset="0"/>
              </a:rPr>
              <a:t>, vol</a:t>
            </a:r>
            <a:r>
              <a:rPr lang="en-US" sz="1400" dirty="0">
                <a:latin typeface="Times New Roman" pitchFamily="18" charset="0"/>
                <a:cs typeface="Times New Roman" pitchFamily="18" charset="0"/>
              </a:rPr>
              <a:t>. 18, no. 3, pp. 157–175, Oct. </a:t>
            </a:r>
            <a:r>
              <a:rPr lang="en-US" sz="1400" dirty="0" smtClean="0">
                <a:latin typeface="Times New Roman" pitchFamily="18" charset="0"/>
                <a:cs typeface="Times New Roman" pitchFamily="18" charset="0"/>
              </a:rPr>
              <a:t>2010</a:t>
            </a:r>
          </a:p>
        </p:txBody>
      </p:sp>
      <p:sp>
        <p:nvSpPr>
          <p:cNvPr id="6" name="TextBox 5"/>
          <p:cNvSpPr txBox="1"/>
          <p:nvPr/>
        </p:nvSpPr>
        <p:spPr>
          <a:xfrm>
            <a:off x="683568" y="620692"/>
            <a:ext cx="7776864" cy="4031873"/>
          </a:xfrm>
          <a:prstGeom prst="rect">
            <a:avLst/>
          </a:prstGeom>
          <a:noFill/>
        </p:spPr>
        <p:txBody>
          <a:bodyPr wrap="square" rtlCol="0">
            <a:spAutoFit/>
          </a:bodyPr>
          <a:lstStyle/>
          <a:p>
            <a:r>
              <a:rPr lang="en-US" sz="2000" dirty="0" smtClean="0">
                <a:latin typeface="Times New Roman" pitchFamily="18" charset="0"/>
                <a:cs typeface="Times New Roman" pitchFamily="18" charset="0"/>
              </a:rPr>
              <a:t>Harmonic Balance FE (multiple harmonics)</a:t>
            </a:r>
          </a:p>
          <a:p>
            <a:endParaRPr lang="en-US" sz="2000"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The electric field is expressed as a sum of harmonic functions:</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Materials permittivity or permeability is also expressed in terms of harmonic functions:</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with</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p:txBody>
      </p:sp>
      <p:sp>
        <p:nvSpPr>
          <p:cNvPr id="7" name="Content Placeholder 1"/>
          <p:cNvSpPr txBox="1">
            <a:spLocks/>
          </p:cNvSpPr>
          <p:nvPr/>
        </p:nvSpPr>
        <p:spPr>
          <a:xfrm>
            <a:off x="783273" y="54272"/>
            <a:ext cx="7577457" cy="422405"/>
          </a:xfrm>
          <a:prstGeom prst="rect">
            <a:avLst/>
          </a:prstGeom>
          <a:noFill/>
        </p:spPr>
        <p:txBody>
          <a:bodyPr wrap="square" lIns="180000" tIns="72000" rIns="180000" bIns="72000">
            <a:spAutoFit/>
          </a:bodyPr>
          <a:lstStyle>
            <a:lvl1pPr marL="0" indent="0" algn="ctr" rtl="0" eaLnBrk="0" fontAlgn="base" hangingPunct="0">
              <a:spcBef>
                <a:spcPct val="20000"/>
              </a:spcBef>
              <a:spcAft>
                <a:spcPct val="0"/>
              </a:spcAft>
              <a:buFont typeface="Calibri" pitchFamily="34" charset="0"/>
              <a:buNone/>
              <a:defRPr sz="1800" b="1" i="0" kern="1200" cap="small" baseline="0">
                <a:solidFill>
                  <a:schemeClr val="tx1"/>
                </a:solidFill>
                <a:latin typeface="Times New Roman" pitchFamily="18" charset="0"/>
                <a:ea typeface="+mn-ea"/>
                <a:cs typeface="Times New Roman" pitchFamily="18" charset="0"/>
              </a:defRPr>
            </a:lvl1pPr>
            <a:lvl2pPr marL="182563" indent="0" algn="just" rtl="0" eaLnBrk="0" fontAlgn="base" hangingPunct="0">
              <a:spcBef>
                <a:spcPct val="20000"/>
              </a:spcBef>
              <a:spcAft>
                <a:spcPct val="0"/>
              </a:spcAft>
              <a:buFont typeface="Calibri" pitchFamily="34" charset="0"/>
              <a:buChar char=" "/>
              <a:defRPr sz="1600" kern="1200">
                <a:solidFill>
                  <a:schemeClr val="bg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Formulation: Harmonic Balance Finite Elements</a:t>
            </a:r>
            <a:endParaRPr lang="en-US" dirty="0"/>
          </a:p>
        </p:txBody>
      </p:sp>
      <p:graphicFrame>
        <p:nvGraphicFramePr>
          <p:cNvPr id="15" name="Object 14"/>
          <p:cNvGraphicFramePr>
            <a:graphicFrameLocks noChangeAspect="1"/>
          </p:cNvGraphicFramePr>
          <p:nvPr>
            <p:extLst>
              <p:ext uri="{D42A27DB-BD31-4B8C-83A1-F6EECF244321}">
                <p14:modId xmlns:p14="http://schemas.microsoft.com/office/powerpoint/2010/main" val="1202614401"/>
              </p:ext>
            </p:extLst>
          </p:nvPr>
        </p:nvGraphicFramePr>
        <p:xfrm>
          <a:off x="2430810" y="1629172"/>
          <a:ext cx="4254500" cy="647700"/>
        </p:xfrm>
        <a:graphic>
          <a:graphicData uri="http://schemas.openxmlformats.org/presentationml/2006/ole">
            <mc:AlternateContent xmlns:mc="http://schemas.openxmlformats.org/markup-compatibility/2006">
              <mc:Choice xmlns:v="urn:schemas-microsoft-com:vml" Requires="v">
                <p:oleObj spid="_x0000_s3194" name="Equation" r:id="rId3" imgW="4254480" imgH="647640" progId="Equation.DSMT4">
                  <p:embed/>
                </p:oleObj>
              </mc:Choice>
              <mc:Fallback>
                <p:oleObj name="Equation" r:id="rId3" imgW="4254480" imgH="647640" progId="Equation.DSMT4">
                  <p:embed/>
                  <p:pic>
                    <p:nvPicPr>
                      <p:cNvPr id="0" name=""/>
                      <p:cNvPicPr/>
                      <p:nvPr/>
                    </p:nvPicPr>
                    <p:blipFill>
                      <a:blip r:embed="rId4"/>
                      <a:stretch>
                        <a:fillRect/>
                      </a:stretch>
                    </p:blipFill>
                    <p:spPr>
                      <a:xfrm>
                        <a:off x="2430810" y="1629172"/>
                        <a:ext cx="4254500" cy="647700"/>
                      </a:xfrm>
                      <a:prstGeom prst="rect">
                        <a:avLst/>
                      </a:prstGeom>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1742620144"/>
              </p:ext>
            </p:extLst>
          </p:nvPr>
        </p:nvGraphicFramePr>
        <p:xfrm>
          <a:off x="1466850" y="2925763"/>
          <a:ext cx="6159500" cy="647700"/>
        </p:xfrm>
        <a:graphic>
          <a:graphicData uri="http://schemas.openxmlformats.org/presentationml/2006/ole">
            <mc:AlternateContent xmlns:mc="http://schemas.openxmlformats.org/markup-compatibility/2006">
              <mc:Choice xmlns:v="urn:schemas-microsoft-com:vml" Requires="v">
                <p:oleObj spid="_x0000_s3195" name="Equation" r:id="rId5" imgW="6159240" imgH="647640" progId="Equation.DSMT4">
                  <p:embed/>
                </p:oleObj>
              </mc:Choice>
              <mc:Fallback>
                <p:oleObj name="Equation" r:id="rId5" imgW="6159240" imgH="647640" progId="Equation.DSMT4">
                  <p:embed/>
                  <p:pic>
                    <p:nvPicPr>
                      <p:cNvPr id="0" name=""/>
                      <p:cNvPicPr/>
                      <p:nvPr/>
                    </p:nvPicPr>
                    <p:blipFill>
                      <a:blip r:embed="rId6"/>
                      <a:stretch>
                        <a:fillRect/>
                      </a:stretch>
                    </p:blipFill>
                    <p:spPr>
                      <a:xfrm>
                        <a:off x="1466850" y="2925763"/>
                        <a:ext cx="6159500" cy="647700"/>
                      </a:xfrm>
                      <a:prstGeom prst="rect">
                        <a:avLst/>
                      </a:prstGeom>
                    </p:spPr>
                  </p:pic>
                </p:oleObj>
              </mc:Fallback>
            </mc:AlternateContent>
          </a:graphicData>
        </a:graphic>
      </p:graphicFrame>
      <p:graphicFrame>
        <p:nvGraphicFramePr>
          <p:cNvPr id="18" name="Object 17"/>
          <p:cNvGraphicFramePr>
            <a:graphicFrameLocks noChangeAspect="1"/>
          </p:cNvGraphicFramePr>
          <p:nvPr>
            <p:extLst>
              <p:ext uri="{D42A27DB-BD31-4B8C-83A1-F6EECF244321}">
                <p14:modId xmlns:p14="http://schemas.microsoft.com/office/powerpoint/2010/main" val="2290844209"/>
              </p:ext>
            </p:extLst>
          </p:nvPr>
        </p:nvGraphicFramePr>
        <p:xfrm>
          <a:off x="3036168" y="3573016"/>
          <a:ext cx="3048000" cy="1892300"/>
        </p:xfrm>
        <a:graphic>
          <a:graphicData uri="http://schemas.openxmlformats.org/presentationml/2006/ole">
            <mc:AlternateContent xmlns:mc="http://schemas.openxmlformats.org/markup-compatibility/2006">
              <mc:Choice xmlns:v="urn:schemas-microsoft-com:vml" Requires="v">
                <p:oleObj spid="_x0000_s3196" name="Equation" r:id="rId7" imgW="3047760" imgH="1892160" progId="Equation.DSMT4">
                  <p:embed/>
                </p:oleObj>
              </mc:Choice>
              <mc:Fallback>
                <p:oleObj name="Equation" r:id="rId7" imgW="3047760" imgH="1892160" progId="Equation.DSMT4">
                  <p:embed/>
                  <p:pic>
                    <p:nvPicPr>
                      <p:cNvPr id="0" name=""/>
                      <p:cNvPicPr/>
                      <p:nvPr/>
                    </p:nvPicPr>
                    <p:blipFill>
                      <a:blip r:embed="rId8"/>
                      <a:stretch>
                        <a:fillRect/>
                      </a:stretch>
                    </p:blipFill>
                    <p:spPr>
                      <a:xfrm>
                        <a:off x="3036168" y="3573016"/>
                        <a:ext cx="3048000" cy="1892300"/>
                      </a:xfrm>
                      <a:prstGeom prst="rect">
                        <a:avLst/>
                      </a:prstGeom>
                    </p:spPr>
                  </p:pic>
                </p:oleObj>
              </mc:Fallback>
            </mc:AlternateContent>
          </a:graphicData>
        </a:graphic>
      </p:graphicFrame>
    </p:spTree>
    <p:extLst>
      <p:ext uri="{BB962C8B-B14F-4D97-AF65-F5344CB8AC3E}">
        <p14:creationId xmlns:p14="http://schemas.microsoft.com/office/powerpoint/2010/main" val="40752580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Formulation: Harmonic Balance Finite Elements</a:t>
            </a:r>
            <a:endParaRPr lang="en-US" dirty="0"/>
          </a:p>
        </p:txBody>
      </p:sp>
      <p:sp>
        <p:nvSpPr>
          <p:cNvPr id="4" name="TextBox 3"/>
          <p:cNvSpPr txBox="1"/>
          <p:nvPr/>
        </p:nvSpPr>
        <p:spPr>
          <a:xfrm>
            <a:off x="683568" y="620688"/>
            <a:ext cx="7776864" cy="4862870"/>
          </a:xfrm>
          <a:prstGeom prst="rect">
            <a:avLst/>
          </a:prstGeom>
          <a:noFill/>
        </p:spPr>
        <p:txBody>
          <a:bodyPr wrap="square" rtlCol="0">
            <a:spAutoFit/>
          </a:bodyPr>
          <a:lstStyle/>
          <a:p>
            <a:r>
              <a:rPr lang="en-US" sz="2000" dirty="0" smtClean="0">
                <a:latin typeface="Times New Roman" pitchFamily="18" charset="0"/>
                <a:cs typeface="Times New Roman" pitchFamily="18" charset="0"/>
              </a:rPr>
              <a:t>Harmonic Balance FE (multiple harmonics)</a:t>
            </a:r>
          </a:p>
          <a:p>
            <a:endParaRPr lang="en-US" sz="2000"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With further Galerkin projection of the vector Helmholtz equation with the chosen harmonic functions (</a:t>
            </a:r>
            <a:r>
              <a:rPr lang="en-US" i="1" dirty="0" smtClean="0">
                <a:latin typeface="Times New Roman" pitchFamily="18" charset="0"/>
                <a:cs typeface="Times New Roman" pitchFamily="18" charset="0"/>
              </a:rPr>
              <a:t>k</a:t>
            </a:r>
            <a:r>
              <a:rPr lang="en-US" i="1" baseline="-25000" dirty="0" smtClean="0">
                <a:latin typeface="Times New Roman" pitchFamily="18" charset="0"/>
                <a:cs typeface="Times New Roman" pitchFamily="18" charset="0"/>
              </a:rPr>
              <a:t>0</a:t>
            </a:r>
            <a:r>
              <a:rPr lang="en-US" i="1" dirty="0" smtClean="0">
                <a:latin typeface="Times New Roman" pitchFamily="18" charset="0"/>
                <a:cs typeface="Times New Roman" pitchFamily="18" charset="0"/>
              </a:rPr>
              <a:t>=</a:t>
            </a:r>
            <a:r>
              <a:rPr lang="el-GR" i="1" dirty="0" smtClean="0">
                <a:latin typeface="Times New Roman" pitchFamily="18" charset="0"/>
                <a:cs typeface="Times New Roman" pitchFamily="18" charset="0"/>
              </a:rPr>
              <a:t>ω</a:t>
            </a:r>
            <a:r>
              <a:rPr lang="it-IT" i="1" baseline="-25000" dirty="0" smtClean="0">
                <a:latin typeface="Times New Roman" pitchFamily="18" charset="0"/>
                <a:cs typeface="Times New Roman" pitchFamily="18" charset="0"/>
              </a:rPr>
              <a:t>p</a:t>
            </a:r>
            <a:r>
              <a:rPr lang="it-IT" i="1" dirty="0" smtClean="0">
                <a:latin typeface="Times New Roman" pitchFamily="18" charset="0"/>
                <a:cs typeface="Times New Roman" pitchFamily="18" charset="0"/>
              </a:rPr>
              <a:t>/c</a:t>
            </a:r>
            <a:r>
              <a:rPr lang="it-IT" i="1"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a large scale HBFE system is obtained</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The nonlinear solution is handled via a relaxed iteration, starting from a null solution vector to evaluate material properties</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The convergence criterion is chosen on the basis of consecutive solutions:</a:t>
            </a:r>
            <a:endParaRPr lang="en-US" dirty="0">
              <a:latin typeface="Times New Roman" pitchFamily="18" charset="0"/>
              <a:cs typeface="Times New Roman" pitchFamily="18" charset="0"/>
            </a:endParaRPr>
          </a:p>
        </p:txBody>
      </p:sp>
      <p:sp>
        <p:nvSpPr>
          <p:cNvPr id="8" name="Down Arrow 7"/>
          <p:cNvSpPr/>
          <p:nvPr/>
        </p:nvSpPr>
        <p:spPr bwMode="auto">
          <a:xfrm rot="16200000">
            <a:off x="2087727" y="2643420"/>
            <a:ext cx="576064" cy="360040"/>
          </a:xfrm>
          <a:prstGeom prst="downArrow">
            <a:avLst/>
          </a:prstGeom>
          <a:solidFill>
            <a:srgbClr val="A50021"/>
          </a:solidFill>
          <a:ln w="9525">
            <a:solidFill>
              <a:srgbClr val="A50021"/>
            </a:solidFill>
            <a:miter lim="800000"/>
            <a:headEnd/>
            <a:tailEnd/>
          </a:ln>
        </p:spPr>
        <p:txBody>
          <a:bodyPr wrap="none" rtlCol="0" anchor="ctr"/>
          <a:lstStyle/>
          <a:p>
            <a:pPr algn="ctr"/>
            <a:endParaRPr lang="en-US">
              <a:latin typeface="Calibri" pitchFamily="34"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1175498131"/>
              </p:ext>
            </p:extLst>
          </p:nvPr>
        </p:nvGraphicFramePr>
        <p:xfrm>
          <a:off x="2843808" y="2116709"/>
          <a:ext cx="5930900" cy="1384300"/>
        </p:xfrm>
        <a:graphic>
          <a:graphicData uri="http://schemas.openxmlformats.org/presentationml/2006/ole">
            <mc:AlternateContent xmlns:mc="http://schemas.openxmlformats.org/markup-compatibility/2006">
              <mc:Choice xmlns:v="urn:schemas-microsoft-com:vml" Requires="v">
                <p:oleObj spid="_x0000_s4231" name="Equation" r:id="rId3" imgW="5930640" imgH="1384200" progId="Equation.DSMT4">
                  <p:embed/>
                </p:oleObj>
              </mc:Choice>
              <mc:Fallback>
                <p:oleObj name="Equation" r:id="rId3" imgW="5930640" imgH="1384200" progId="Equation.DSMT4">
                  <p:embed/>
                  <p:pic>
                    <p:nvPicPr>
                      <p:cNvPr id="0" name=""/>
                      <p:cNvPicPr/>
                      <p:nvPr/>
                    </p:nvPicPr>
                    <p:blipFill>
                      <a:blip r:embed="rId4"/>
                      <a:stretch>
                        <a:fillRect/>
                      </a:stretch>
                    </p:blipFill>
                    <p:spPr>
                      <a:xfrm>
                        <a:off x="2843808" y="2116709"/>
                        <a:ext cx="5930900" cy="1384300"/>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884213802"/>
              </p:ext>
            </p:extLst>
          </p:nvPr>
        </p:nvGraphicFramePr>
        <p:xfrm>
          <a:off x="412016" y="2651660"/>
          <a:ext cx="1485900" cy="342900"/>
        </p:xfrm>
        <a:graphic>
          <a:graphicData uri="http://schemas.openxmlformats.org/presentationml/2006/ole">
            <mc:AlternateContent xmlns:mc="http://schemas.openxmlformats.org/markup-compatibility/2006">
              <mc:Choice xmlns:v="urn:schemas-microsoft-com:vml" Requires="v">
                <p:oleObj spid="_x0000_s4232" name="Equation" r:id="rId5" imgW="1485720" imgH="342720" progId="Equation.DSMT4">
                  <p:embed/>
                </p:oleObj>
              </mc:Choice>
              <mc:Fallback>
                <p:oleObj name="Equation" r:id="rId5" imgW="1485720" imgH="34272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016" y="2651660"/>
                        <a:ext cx="1485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789199196"/>
              </p:ext>
            </p:extLst>
          </p:nvPr>
        </p:nvGraphicFramePr>
        <p:xfrm>
          <a:off x="1841500" y="4509120"/>
          <a:ext cx="5461000" cy="393700"/>
        </p:xfrm>
        <a:graphic>
          <a:graphicData uri="http://schemas.openxmlformats.org/presentationml/2006/ole">
            <mc:AlternateContent xmlns:mc="http://schemas.openxmlformats.org/markup-compatibility/2006">
              <mc:Choice xmlns:v="urn:schemas-microsoft-com:vml" Requires="v">
                <p:oleObj spid="_x0000_s4233" name="Equation" r:id="rId7" imgW="5460840" imgH="393480" progId="Equation.DSMT4">
                  <p:embed/>
                </p:oleObj>
              </mc:Choice>
              <mc:Fallback>
                <p:oleObj name="Equation" r:id="rId7" imgW="5460840" imgH="393480" progId="Equation.DSMT4">
                  <p:embed/>
                  <p:pic>
                    <p:nvPicPr>
                      <p:cNvPr id="0" name=""/>
                      <p:cNvPicPr/>
                      <p:nvPr/>
                    </p:nvPicPr>
                    <p:blipFill>
                      <a:blip r:embed="rId8"/>
                      <a:stretch>
                        <a:fillRect/>
                      </a:stretch>
                    </p:blipFill>
                    <p:spPr>
                      <a:xfrm>
                        <a:off x="1841500" y="4509120"/>
                        <a:ext cx="5461000" cy="393700"/>
                      </a:xfrm>
                      <a:prstGeom prst="rect">
                        <a:avLst/>
                      </a:prstGeom>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2514551403"/>
              </p:ext>
            </p:extLst>
          </p:nvPr>
        </p:nvGraphicFramePr>
        <p:xfrm>
          <a:off x="3752850" y="5607050"/>
          <a:ext cx="1600200" cy="774700"/>
        </p:xfrm>
        <a:graphic>
          <a:graphicData uri="http://schemas.openxmlformats.org/presentationml/2006/ole">
            <mc:AlternateContent xmlns:mc="http://schemas.openxmlformats.org/markup-compatibility/2006">
              <mc:Choice xmlns:v="urn:schemas-microsoft-com:vml" Requires="v">
                <p:oleObj spid="_x0000_s4234" name="Equation" r:id="rId9" imgW="1600200" imgH="774360" progId="Equation.DSMT4">
                  <p:embed/>
                </p:oleObj>
              </mc:Choice>
              <mc:Fallback>
                <p:oleObj name="Equation" r:id="rId9" imgW="1600200" imgH="774360" progId="Equation.DSMT4">
                  <p:embed/>
                  <p:pic>
                    <p:nvPicPr>
                      <p:cNvPr id="0" name=""/>
                      <p:cNvPicPr/>
                      <p:nvPr/>
                    </p:nvPicPr>
                    <p:blipFill>
                      <a:blip r:embed="rId10"/>
                      <a:stretch>
                        <a:fillRect/>
                      </a:stretch>
                    </p:blipFill>
                    <p:spPr>
                      <a:xfrm>
                        <a:off x="3752850" y="5607050"/>
                        <a:ext cx="1600200" cy="774700"/>
                      </a:xfrm>
                      <a:prstGeom prst="rect">
                        <a:avLst/>
                      </a:prstGeom>
                    </p:spPr>
                  </p:pic>
                </p:oleObj>
              </mc:Fallback>
            </mc:AlternateContent>
          </a:graphicData>
        </a:graphic>
      </p:graphicFrame>
    </p:spTree>
    <p:extLst>
      <p:ext uri="{BB962C8B-B14F-4D97-AF65-F5344CB8AC3E}">
        <p14:creationId xmlns:p14="http://schemas.microsoft.com/office/powerpoint/2010/main" val="28252074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15"/>
          <p:cNvSpPr txBox="1">
            <a:spLocks noChangeArrowheads="1"/>
          </p:cNvSpPr>
          <p:nvPr/>
        </p:nvSpPr>
        <p:spPr bwMode="auto">
          <a:xfrm>
            <a:off x="179514" y="1265997"/>
            <a:ext cx="8784975" cy="3603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5pPr>
            <a:lvl6pPr marL="25146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6pPr>
            <a:lvl7pPr marL="29718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7pPr>
            <a:lvl8pPr marL="34290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8pPr>
            <a:lvl9pPr marL="38862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9pPr>
          </a:lstStyle>
          <a:p>
            <a:pPr algn="l" eaLnBrk="1" hangingPunct="1">
              <a:lnSpc>
                <a:spcPct val="100000"/>
              </a:lnSpc>
              <a:buClr>
                <a:srgbClr val="33CC33"/>
              </a:buClr>
              <a:buFont typeface="Wingdings" pitchFamily="2" charset="2"/>
              <a:buNone/>
            </a:pPr>
            <a:r>
              <a:rPr lang="en-US" sz="1800" dirty="0" smtClean="0">
                <a:solidFill>
                  <a:schemeClr val="tx1"/>
                </a:solidFill>
              </a:rPr>
              <a:t>Let’s </a:t>
            </a:r>
            <a:r>
              <a:rPr lang="en-US" sz="1800" dirty="0">
                <a:solidFill>
                  <a:schemeClr val="tx1"/>
                </a:solidFill>
              </a:rPr>
              <a:t>assume that the device domain </a:t>
            </a:r>
            <a:r>
              <a:rPr lang="en-US" sz="1800" dirty="0">
                <a:solidFill>
                  <a:schemeClr val="tx1"/>
                </a:solidFill>
                <a:latin typeface="Symbol" pitchFamily="18" charset="2"/>
              </a:rPr>
              <a:t>W</a:t>
            </a:r>
            <a:r>
              <a:rPr lang="en-US" sz="1800" dirty="0">
                <a:solidFill>
                  <a:schemeClr val="tx1"/>
                </a:solidFill>
              </a:rPr>
              <a:t>  can be decomposed into a given number of non-overlapping sub-domains </a:t>
            </a:r>
            <a:r>
              <a:rPr lang="en-US" sz="1800" dirty="0" smtClean="0">
                <a:solidFill>
                  <a:schemeClr val="tx1"/>
                </a:solidFill>
                <a:latin typeface="Symbol" pitchFamily="18" charset="2"/>
              </a:rPr>
              <a:t>W</a:t>
            </a:r>
            <a:r>
              <a:rPr lang="en-US" sz="1800" i="1" baseline="-25000" dirty="0" smtClean="0">
                <a:solidFill>
                  <a:schemeClr val="tx1"/>
                </a:solidFill>
              </a:rPr>
              <a:t>i</a:t>
            </a: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buClr>
                <a:srgbClr val="33CC33"/>
              </a:buClr>
            </a:pPr>
            <a:endParaRPr lang="en-US" sz="1800" dirty="0" smtClean="0">
              <a:solidFill>
                <a:schemeClr val="tx1"/>
              </a:solidFill>
            </a:endParaRPr>
          </a:p>
          <a:p>
            <a:pPr>
              <a:buClr>
                <a:srgbClr val="33CC33"/>
              </a:buClr>
            </a:pPr>
            <a:r>
              <a:rPr lang="en-US" sz="1800" dirty="0" smtClean="0">
                <a:solidFill>
                  <a:schemeClr val="tx1"/>
                </a:solidFill>
              </a:rPr>
              <a:t>In </a:t>
            </a:r>
            <a:r>
              <a:rPr lang="en-US" sz="1800" dirty="0">
                <a:solidFill>
                  <a:schemeClr val="tx1"/>
                </a:solidFill>
              </a:rPr>
              <a:t>each of these subdomains the FE method can be applied </a:t>
            </a:r>
            <a:r>
              <a:rPr lang="en-US" sz="1800" dirty="0" smtClean="0">
                <a:solidFill>
                  <a:schemeClr val="tx1"/>
                </a:solidFill>
              </a:rPr>
              <a:t>separately.</a:t>
            </a:r>
            <a:endParaRPr lang="en-US" sz="1800" i="1" baseline="-25000" dirty="0">
              <a:solidFill>
                <a:schemeClr val="tx1"/>
              </a:solidFill>
            </a:endParaRPr>
          </a:p>
        </p:txBody>
      </p:sp>
      <p:sp>
        <p:nvSpPr>
          <p:cNvPr id="2" name="Content Placeholder 1"/>
          <p:cNvSpPr>
            <a:spLocks noGrp="1"/>
          </p:cNvSpPr>
          <p:nvPr>
            <p:ph idx="1"/>
          </p:nvPr>
        </p:nvSpPr>
        <p:spPr/>
        <p:txBody>
          <a:bodyPr/>
          <a:lstStyle/>
          <a:p>
            <a:r>
              <a:rPr lang="en-US" dirty="0" smtClean="0"/>
              <a:t>Formulation: Domain Decomposition</a:t>
            </a:r>
            <a:endParaRPr lang="en-US" dirty="0"/>
          </a:p>
        </p:txBody>
      </p:sp>
      <p:sp>
        <p:nvSpPr>
          <p:cNvPr id="3" name="TextBox 2"/>
          <p:cNvSpPr txBox="1"/>
          <p:nvPr/>
        </p:nvSpPr>
        <p:spPr>
          <a:xfrm>
            <a:off x="179512" y="5661252"/>
            <a:ext cx="8784976" cy="830997"/>
          </a:xfrm>
          <a:prstGeom prst="rect">
            <a:avLst/>
          </a:prstGeom>
          <a:noFill/>
          <a:ln>
            <a:solidFill>
              <a:schemeClr val="tx1"/>
            </a:solidFill>
          </a:ln>
        </p:spPr>
        <p:txBody>
          <a:bodyPr wrap="square" rtlCol="0">
            <a:spAutoFit/>
          </a:bodyPr>
          <a:lstStyle/>
          <a:p>
            <a:pPr marL="285750" indent="-285750">
              <a:buFont typeface="Arial" pitchFamily="34" charset="0"/>
              <a:buChar char="•"/>
            </a:pPr>
            <a:r>
              <a:rPr lang="en-US" sz="1600" dirty="0" smtClean="0">
                <a:latin typeface="Times New Roman" pitchFamily="18" charset="0"/>
                <a:cs typeface="Times New Roman" pitchFamily="18" charset="0"/>
              </a:rPr>
              <a:t>G</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Guarnieri</a:t>
            </a:r>
            <a:r>
              <a:rPr lang="en-US" sz="1600" dirty="0">
                <a:latin typeface="Times New Roman" pitchFamily="18" charset="0"/>
                <a:cs typeface="Times New Roman" pitchFamily="18" charset="0"/>
              </a:rPr>
              <a:t>, G. Pelosi, L. Rossi, S. </a:t>
            </a:r>
            <a:r>
              <a:rPr lang="en-US" sz="1600" dirty="0" err="1">
                <a:latin typeface="Times New Roman" pitchFamily="18" charset="0"/>
                <a:cs typeface="Times New Roman" pitchFamily="18" charset="0"/>
              </a:rPr>
              <a:t>Selleri</a:t>
            </a:r>
            <a:r>
              <a:rPr lang="en-US" sz="1600" dirty="0">
                <a:latin typeface="Times New Roman" pitchFamily="18" charset="0"/>
                <a:cs typeface="Times New Roman" pitchFamily="18" charset="0"/>
              </a:rPr>
              <a:t>, “A Domain Decomposition Technique for Finite Element Based Parametric Sweep and Tolerance Analyses of Microwave Passive Devices,” </a:t>
            </a:r>
            <a:r>
              <a:rPr lang="en-US" sz="1600" i="1" dirty="0">
                <a:latin typeface="Times New Roman" pitchFamily="18" charset="0"/>
                <a:cs typeface="Times New Roman" pitchFamily="18" charset="0"/>
              </a:rPr>
              <a:t>Int. J. RF </a:t>
            </a:r>
            <a:r>
              <a:rPr lang="en-US" sz="1600" i="1" dirty="0" err="1">
                <a:latin typeface="Times New Roman" pitchFamily="18" charset="0"/>
                <a:cs typeface="Times New Roman" pitchFamily="18" charset="0"/>
              </a:rPr>
              <a:t>Microw</a:t>
            </a:r>
            <a:r>
              <a:rPr lang="en-US" sz="1600" i="1" dirty="0">
                <a:latin typeface="Times New Roman" pitchFamily="18" charset="0"/>
                <a:cs typeface="Times New Roman" pitchFamily="18" charset="0"/>
              </a:rPr>
              <a:t>. Comp. </a:t>
            </a:r>
            <a:r>
              <a:rPr lang="en-US" sz="1600" i="1" dirty="0" smtClean="0">
                <a:latin typeface="Times New Roman" pitchFamily="18" charset="0"/>
                <a:cs typeface="Times New Roman" pitchFamily="18" charset="0"/>
              </a:rPr>
              <a:t>Aid. Eng</a:t>
            </a:r>
            <a:r>
              <a:rPr lang="en-US" sz="1600" i="1" dirty="0">
                <a:latin typeface="Times New Roman" pitchFamily="18" charset="0"/>
                <a:cs typeface="Times New Roman" pitchFamily="18" charset="0"/>
              </a:rPr>
              <a:t>.</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Vol. 19, No. 3, </a:t>
            </a:r>
            <a:r>
              <a:rPr lang="en-US" sz="1600" dirty="0">
                <a:latin typeface="Times New Roman" pitchFamily="18" charset="0"/>
                <a:cs typeface="Times New Roman" pitchFamily="18" charset="0"/>
              </a:rPr>
              <a:t>pp. </a:t>
            </a:r>
            <a:r>
              <a:rPr lang="en-US" sz="1600" dirty="0" smtClean="0">
                <a:latin typeface="Times New Roman" pitchFamily="18" charset="0"/>
                <a:cs typeface="Times New Roman" pitchFamily="18" charset="0"/>
              </a:rPr>
              <a:t>328-337, May </a:t>
            </a:r>
            <a:r>
              <a:rPr lang="en-US" sz="1600" dirty="0">
                <a:latin typeface="Times New Roman" pitchFamily="18" charset="0"/>
                <a:cs typeface="Times New Roman" pitchFamily="18" charset="0"/>
              </a:rPr>
              <a:t>2009.</a:t>
            </a:r>
            <a:endParaRPr lang="en-US" sz="1600" dirty="0">
              <a:latin typeface="Times New Roman" pitchFamily="18" charset="0"/>
              <a:cs typeface="Times New Roman" pitchFamily="18" charset="0"/>
            </a:endParaRPr>
          </a:p>
        </p:txBody>
      </p:sp>
      <p:sp>
        <p:nvSpPr>
          <p:cNvPr id="4" name="Rectangle 3"/>
          <p:cNvSpPr>
            <a:spLocks noChangeArrowheads="1"/>
          </p:cNvSpPr>
          <p:nvPr/>
        </p:nvSpPr>
        <p:spPr bwMode="auto">
          <a:xfrm>
            <a:off x="971600" y="2604407"/>
            <a:ext cx="7391400"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lgn="l"/>
            <a:endParaRPr lang="de-DE"/>
          </a:p>
        </p:txBody>
      </p:sp>
      <p:graphicFrame>
        <p:nvGraphicFramePr>
          <p:cNvPr id="11" name="Object 10"/>
          <p:cNvGraphicFramePr>
            <a:graphicFrameLocks noChangeAspect="1"/>
          </p:cNvGraphicFramePr>
          <p:nvPr>
            <p:extLst>
              <p:ext uri="{D42A27DB-BD31-4B8C-83A1-F6EECF244321}">
                <p14:modId xmlns:p14="http://schemas.microsoft.com/office/powerpoint/2010/main" val="2172285623"/>
              </p:ext>
            </p:extLst>
          </p:nvPr>
        </p:nvGraphicFramePr>
        <p:xfrm>
          <a:off x="3923928" y="2168837"/>
          <a:ext cx="939800" cy="622300"/>
        </p:xfrm>
        <a:graphic>
          <a:graphicData uri="http://schemas.openxmlformats.org/presentationml/2006/ole">
            <mc:AlternateContent xmlns:mc="http://schemas.openxmlformats.org/markup-compatibility/2006">
              <mc:Choice xmlns:v="urn:schemas-microsoft-com:vml" Requires="v">
                <p:oleObj spid="_x0000_s5203" name="Equation" r:id="rId3" imgW="939600" imgH="622080" progId="Equation.DSMT4">
                  <p:embed/>
                </p:oleObj>
              </mc:Choice>
              <mc:Fallback>
                <p:oleObj name="Equation" r:id="rId3" imgW="939600" imgH="622080" progId="Equation.DSMT4">
                  <p:embed/>
                  <p:pic>
                    <p:nvPicPr>
                      <p:cNvPr id="0" name=""/>
                      <p:cNvPicPr/>
                      <p:nvPr/>
                    </p:nvPicPr>
                    <p:blipFill>
                      <a:blip r:embed="rId4"/>
                      <a:stretch>
                        <a:fillRect/>
                      </a:stretch>
                    </p:blipFill>
                    <p:spPr>
                      <a:xfrm>
                        <a:off x="3923928" y="2168837"/>
                        <a:ext cx="939800" cy="622300"/>
                      </a:xfrm>
                      <a:prstGeom prst="rect">
                        <a:avLst/>
                      </a:prstGeom>
                    </p:spPr>
                  </p:pic>
                </p:oleObj>
              </mc:Fallback>
            </mc:AlternateContent>
          </a:graphicData>
        </a:graphic>
      </p:graphicFrame>
      <p:pic>
        <p:nvPicPr>
          <p:cNvPr id="5194" name="Picture 74" descr="C:\Users\Laurent\Desktop\img\devic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5536" y="2381616"/>
            <a:ext cx="3727349" cy="1753681"/>
          </a:xfrm>
          <a:prstGeom prst="rect">
            <a:avLst/>
          </a:prstGeom>
          <a:noFill/>
          <a:extLst>
            <a:ext uri="{909E8E84-426E-40DD-AFC4-6F175D3DCCD1}">
              <a14:hiddenFill xmlns:a14="http://schemas.microsoft.com/office/drawing/2010/main">
                <a:solidFill>
                  <a:srgbClr val="FFFFFF"/>
                </a:solidFill>
              </a14:hiddenFill>
            </a:ext>
          </a:extLst>
        </p:spPr>
      </p:pic>
      <p:pic>
        <p:nvPicPr>
          <p:cNvPr id="5197" name="Picture 77" descr="C:\Users\Laurent\Desktop\img\deviceDD.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61075" y="2440046"/>
            <a:ext cx="4103414" cy="1925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9111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Formulation: Domain Decomposition</a:t>
            </a:r>
          </a:p>
        </p:txBody>
      </p:sp>
      <p:sp>
        <p:nvSpPr>
          <p:cNvPr id="5" name="Text Box 8"/>
          <p:cNvSpPr txBox="1">
            <a:spLocks noChangeArrowheads="1"/>
          </p:cNvSpPr>
          <p:nvPr/>
        </p:nvSpPr>
        <p:spPr bwMode="auto">
          <a:xfrm>
            <a:off x="251520" y="1268760"/>
            <a:ext cx="8568951" cy="443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5pPr>
            <a:lvl6pPr marL="25146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6pPr>
            <a:lvl7pPr marL="29718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7pPr>
            <a:lvl8pPr marL="34290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8pPr>
            <a:lvl9pPr marL="38862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9pPr>
          </a:lstStyle>
          <a:p>
            <a:pPr algn="l" eaLnBrk="1" hangingPunct="1">
              <a:lnSpc>
                <a:spcPct val="100000"/>
              </a:lnSpc>
              <a:buClr>
                <a:srgbClr val="33CC33"/>
              </a:buClr>
              <a:buFont typeface="Wingdings" pitchFamily="2" charset="2"/>
              <a:buNone/>
            </a:pPr>
            <a:r>
              <a:rPr lang="en-US" sz="1800" dirty="0">
                <a:solidFill>
                  <a:schemeClr val="tx1"/>
                </a:solidFill>
              </a:rPr>
              <a:t>With an appropriate numbering scheme grouping all </a:t>
            </a:r>
            <a:r>
              <a:rPr lang="en-US" sz="1800" dirty="0" err="1" smtClean="0">
                <a:solidFill>
                  <a:schemeClr val="tx1"/>
                </a:solidFill>
              </a:rPr>
              <a:t>DoFs</a:t>
            </a:r>
            <a:r>
              <a:rPr lang="en-US" sz="1800" dirty="0" smtClean="0">
                <a:solidFill>
                  <a:schemeClr val="tx1"/>
                </a:solidFill>
              </a:rPr>
              <a:t> pertaining </a:t>
            </a:r>
            <a:r>
              <a:rPr lang="en-US" sz="1800" dirty="0">
                <a:solidFill>
                  <a:schemeClr val="tx1"/>
                </a:solidFill>
              </a:rPr>
              <a:t>to a given subdomain interior and altogether the </a:t>
            </a:r>
            <a:r>
              <a:rPr lang="en-US" sz="1800" dirty="0" err="1" smtClean="0">
                <a:solidFill>
                  <a:schemeClr val="tx1"/>
                </a:solidFill>
              </a:rPr>
              <a:t>DoFs</a:t>
            </a:r>
            <a:r>
              <a:rPr lang="en-US" sz="1800" dirty="0" smtClean="0">
                <a:solidFill>
                  <a:schemeClr val="tx1"/>
                </a:solidFill>
              </a:rPr>
              <a:t> belonging </a:t>
            </a:r>
            <a:r>
              <a:rPr lang="en-US" sz="1800" dirty="0">
                <a:solidFill>
                  <a:schemeClr val="tx1"/>
                </a:solidFill>
              </a:rPr>
              <a:t>to the domain boundaries the following linear system of equations can be attained: </a:t>
            </a:r>
            <a:endParaRPr lang="en-US" sz="18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583995673"/>
              </p:ext>
            </p:extLst>
          </p:nvPr>
        </p:nvGraphicFramePr>
        <p:xfrm>
          <a:off x="301625" y="2595563"/>
          <a:ext cx="8534400" cy="2374900"/>
        </p:xfrm>
        <a:graphic>
          <a:graphicData uri="http://schemas.openxmlformats.org/presentationml/2006/ole">
            <mc:AlternateContent xmlns:mc="http://schemas.openxmlformats.org/markup-compatibility/2006">
              <mc:Choice xmlns:v="urn:schemas-microsoft-com:vml" Requires="v">
                <p:oleObj spid="_x0000_s6175" name="Equation" r:id="rId3" imgW="8534160" imgH="2374560" progId="Equation.DSMT4">
                  <p:embed/>
                </p:oleObj>
              </mc:Choice>
              <mc:Fallback>
                <p:oleObj name="Equation" r:id="rId3" imgW="8534160" imgH="2374560" progId="Equation.DSMT4">
                  <p:embed/>
                  <p:pic>
                    <p:nvPicPr>
                      <p:cNvPr id="0" name=""/>
                      <p:cNvPicPr/>
                      <p:nvPr/>
                    </p:nvPicPr>
                    <p:blipFill>
                      <a:blip r:embed="rId4"/>
                      <a:stretch>
                        <a:fillRect/>
                      </a:stretch>
                    </p:blipFill>
                    <p:spPr>
                      <a:xfrm>
                        <a:off x="301625" y="2595563"/>
                        <a:ext cx="8534400" cy="2374900"/>
                      </a:xfrm>
                      <a:prstGeom prst="rect">
                        <a:avLst/>
                      </a:prstGeom>
                    </p:spPr>
                  </p:pic>
                </p:oleObj>
              </mc:Fallback>
            </mc:AlternateContent>
          </a:graphicData>
        </a:graphic>
      </p:graphicFrame>
    </p:spTree>
    <p:extLst>
      <p:ext uri="{BB962C8B-B14F-4D97-AF65-F5344CB8AC3E}">
        <p14:creationId xmlns:p14="http://schemas.microsoft.com/office/powerpoint/2010/main" val="31755594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Formulation: Domain </a:t>
            </a:r>
            <a:r>
              <a:rPr lang="en-US" dirty="0" smtClean="0"/>
              <a:t>Decomposition</a:t>
            </a:r>
            <a:endParaRPr lang="en-US" dirty="0"/>
          </a:p>
        </p:txBody>
      </p:sp>
      <p:sp>
        <p:nvSpPr>
          <p:cNvPr id="3" name="Text Box 4"/>
          <p:cNvSpPr txBox="1">
            <a:spLocks noChangeArrowheads="1"/>
          </p:cNvSpPr>
          <p:nvPr/>
        </p:nvSpPr>
        <p:spPr bwMode="auto">
          <a:xfrm>
            <a:off x="467544" y="1339742"/>
            <a:ext cx="8280919" cy="4249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5pPr>
            <a:lvl6pPr marL="25146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6pPr>
            <a:lvl7pPr marL="29718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7pPr>
            <a:lvl8pPr marL="34290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8pPr>
            <a:lvl9pPr marL="3886200" indent="-228600" algn="ctr" defTabSz="449263" eaLnBrk="0" fontAlgn="base" hangingPunct="0">
              <a:lnSpc>
                <a:spcPct val="74000"/>
              </a:lnSpc>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itchFamily="18" charset="0"/>
                <a:ea typeface="Lucida Sans Unicode" pitchFamily="34" charset="0"/>
                <a:cs typeface="Lucida Sans Unicode" pitchFamily="34" charset="0"/>
              </a:defRPr>
            </a:lvl9pPr>
          </a:lstStyle>
          <a:p>
            <a:pPr algn="l" eaLnBrk="1" hangingPunct="1">
              <a:lnSpc>
                <a:spcPct val="100000"/>
              </a:lnSpc>
              <a:buClr>
                <a:srgbClr val="33CC33"/>
              </a:buClr>
              <a:buFont typeface="Wingdings" pitchFamily="2" charset="2"/>
              <a:buNone/>
            </a:pPr>
            <a:r>
              <a:rPr lang="en-US" sz="1800" dirty="0">
                <a:solidFill>
                  <a:schemeClr val="tx1"/>
                </a:solidFill>
              </a:rPr>
              <a:t>The system can be solved as a whole or by resorting to the </a:t>
            </a:r>
            <a:r>
              <a:rPr lang="en-US" sz="1800" dirty="0" err="1">
                <a:solidFill>
                  <a:schemeClr val="tx1"/>
                </a:solidFill>
              </a:rPr>
              <a:t>Schur</a:t>
            </a:r>
            <a:r>
              <a:rPr lang="en-US" sz="1800" dirty="0">
                <a:solidFill>
                  <a:schemeClr val="tx1"/>
                </a:solidFill>
              </a:rPr>
              <a:t> complement concept</a:t>
            </a:r>
            <a:r>
              <a:rPr lang="en-US" sz="1800" dirty="0" smtClean="0">
                <a:solidFill>
                  <a:schemeClr val="tx1"/>
                </a:solidFill>
              </a:rPr>
              <a:t>:</a:t>
            </a: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buClr>
                <a:srgbClr val="33CC33"/>
              </a:buClr>
            </a:pPr>
            <a:r>
              <a:rPr lang="en-US" sz="1800" dirty="0" smtClean="0">
                <a:solidFill>
                  <a:schemeClr val="tx1"/>
                </a:solidFill>
              </a:rPr>
              <a:t>It </a:t>
            </a:r>
            <a:r>
              <a:rPr lang="en-US" sz="1800" dirty="0">
                <a:solidFill>
                  <a:schemeClr val="tx1"/>
                </a:solidFill>
              </a:rPr>
              <a:t>is important to </a:t>
            </a:r>
            <a:r>
              <a:rPr lang="en-US" sz="1800" dirty="0" smtClean="0">
                <a:solidFill>
                  <a:schemeClr val="tx1"/>
                </a:solidFill>
              </a:rPr>
              <a:t>notice </a:t>
            </a:r>
            <a:r>
              <a:rPr lang="en-US" sz="1800" dirty="0">
                <a:solidFill>
                  <a:schemeClr val="tx1"/>
                </a:solidFill>
              </a:rPr>
              <a:t>that the </a:t>
            </a:r>
            <a:r>
              <a:rPr lang="en-US" sz="1800" dirty="0" err="1">
                <a:solidFill>
                  <a:schemeClr val="tx1"/>
                </a:solidFill>
              </a:rPr>
              <a:t>Schur</a:t>
            </a:r>
            <a:r>
              <a:rPr lang="en-US" sz="1800" dirty="0">
                <a:solidFill>
                  <a:schemeClr val="tx1"/>
                </a:solidFill>
              </a:rPr>
              <a:t> complement can be computed on a domain-by-domain basis as</a:t>
            </a:r>
            <a:r>
              <a:rPr lang="en-US" sz="1800" dirty="0" smtClean="0">
                <a:solidFill>
                  <a:schemeClr val="tx1"/>
                </a:solidFill>
              </a:rPr>
              <a:t>:</a:t>
            </a:r>
          </a:p>
          <a:p>
            <a:pPr>
              <a:buClr>
                <a:srgbClr val="33CC33"/>
              </a:buClr>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lgn="l" eaLnBrk="1" hangingPunct="1">
              <a:lnSpc>
                <a:spcPct val="100000"/>
              </a:lnSpc>
              <a:buClr>
                <a:srgbClr val="33CC33"/>
              </a:buClr>
              <a:buFont typeface="Wingdings" pitchFamily="2" charset="2"/>
              <a:buNone/>
            </a:pPr>
            <a:endParaRPr lang="en-US" sz="1800" i="1" baseline="-25000" dirty="0">
              <a:solidFill>
                <a:schemeClr val="tx1"/>
              </a:solidFill>
            </a:endParaRPr>
          </a:p>
          <a:p>
            <a:pPr algn="l" eaLnBrk="1" hangingPunct="1">
              <a:lnSpc>
                <a:spcPct val="100000"/>
              </a:lnSpc>
              <a:buClr>
                <a:srgbClr val="33CC33"/>
              </a:buClr>
              <a:buFont typeface="Wingdings" pitchFamily="2" charset="2"/>
              <a:buNone/>
            </a:pPr>
            <a:endParaRPr lang="en-US" sz="1800" i="1" baseline="-25000" dirty="0" smtClean="0">
              <a:solidFill>
                <a:schemeClr val="tx1"/>
              </a:solidFill>
            </a:endParaRPr>
          </a:p>
          <a:p>
            <a:pPr>
              <a:buClr>
                <a:srgbClr val="33CC33"/>
              </a:buClr>
            </a:pPr>
            <a:r>
              <a:rPr lang="en-US" sz="1800" dirty="0" smtClean="0">
                <a:solidFill>
                  <a:schemeClr val="tx1"/>
                </a:solidFill>
              </a:rPr>
              <a:t>Thus, the </a:t>
            </a:r>
            <a:r>
              <a:rPr lang="en-US" sz="1800" dirty="0" err="1">
                <a:solidFill>
                  <a:schemeClr val="tx1"/>
                </a:solidFill>
              </a:rPr>
              <a:t>Schur</a:t>
            </a:r>
            <a:r>
              <a:rPr lang="en-US" sz="1800" dirty="0">
                <a:solidFill>
                  <a:schemeClr val="tx1"/>
                </a:solidFill>
              </a:rPr>
              <a:t> complement </a:t>
            </a:r>
            <a:r>
              <a:rPr lang="en-US" sz="1800" dirty="0" smtClean="0">
                <a:solidFill>
                  <a:schemeClr val="tx1"/>
                </a:solidFill>
              </a:rPr>
              <a:t>can </a:t>
            </a:r>
            <a:r>
              <a:rPr lang="en-US" sz="1800" dirty="0">
                <a:solidFill>
                  <a:schemeClr val="tx1"/>
                </a:solidFill>
              </a:rPr>
              <a:t>be computed only once for all sub-domains except for the one containing the non-linearity</a:t>
            </a:r>
            <a:r>
              <a:rPr lang="en-US" sz="1800" dirty="0" smtClean="0">
                <a:solidFill>
                  <a:schemeClr val="tx1"/>
                </a:solidFill>
              </a:rPr>
              <a:t>.</a:t>
            </a:r>
            <a:endParaRPr lang="en-US" sz="1800" i="1" baseline="-25000" dirty="0">
              <a:solidFill>
                <a:schemeClr val="tx1"/>
              </a:solidFill>
            </a:endParaRPr>
          </a:p>
        </p:txBody>
      </p:sp>
      <p:graphicFrame>
        <p:nvGraphicFramePr>
          <p:cNvPr id="4" name="Object 6"/>
          <p:cNvGraphicFramePr>
            <a:graphicFrameLocks noChangeAspect="1"/>
          </p:cNvGraphicFramePr>
          <p:nvPr>
            <p:extLst>
              <p:ext uri="{D42A27DB-BD31-4B8C-83A1-F6EECF244321}">
                <p14:modId xmlns:p14="http://schemas.microsoft.com/office/powerpoint/2010/main" val="2333065681"/>
              </p:ext>
            </p:extLst>
          </p:nvPr>
        </p:nvGraphicFramePr>
        <p:xfrm>
          <a:off x="2801938" y="1995281"/>
          <a:ext cx="3613150" cy="379414"/>
        </p:xfrm>
        <a:graphic>
          <a:graphicData uri="http://schemas.openxmlformats.org/presentationml/2006/ole">
            <mc:AlternateContent xmlns:mc="http://schemas.openxmlformats.org/markup-compatibility/2006">
              <mc:Choice xmlns:v="urn:schemas-microsoft-com:vml" Requires="v">
                <p:oleObj spid="_x0000_s7230" name="Equation" r:id="rId3" imgW="2654280" imgH="279360" progId="Equation.DSMT4">
                  <p:embed/>
                </p:oleObj>
              </mc:Choice>
              <mc:Fallback>
                <p:oleObj name="Equation" r:id="rId3" imgW="2654280" imgH="279360" progId="Equation.DSMT4">
                  <p:embed/>
                  <p:pic>
                    <p:nvPicPr>
                      <p:cNvPr id="0" name=""/>
                      <p:cNvPicPr>
                        <a:picLocks noChangeAspect="1" noChangeArrowheads="1"/>
                      </p:cNvPicPr>
                      <p:nvPr/>
                    </p:nvPicPr>
                    <p:blipFill>
                      <a:blip r:embed="rId4"/>
                      <a:srcRect/>
                      <a:stretch>
                        <a:fillRect/>
                      </a:stretch>
                    </p:blipFill>
                    <p:spPr bwMode="auto">
                      <a:xfrm>
                        <a:off x="2801938" y="1995281"/>
                        <a:ext cx="3613150" cy="379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7"/>
          <p:cNvGraphicFramePr>
            <a:graphicFrameLocks noChangeAspect="1"/>
          </p:cNvGraphicFramePr>
          <p:nvPr>
            <p:extLst>
              <p:ext uri="{D42A27DB-BD31-4B8C-83A1-F6EECF244321}">
                <p14:modId xmlns:p14="http://schemas.microsoft.com/office/powerpoint/2010/main" val="2281512724"/>
              </p:ext>
            </p:extLst>
          </p:nvPr>
        </p:nvGraphicFramePr>
        <p:xfrm>
          <a:off x="431800" y="3527425"/>
          <a:ext cx="8350250" cy="1196975"/>
        </p:xfrm>
        <a:graphic>
          <a:graphicData uri="http://schemas.openxmlformats.org/presentationml/2006/ole">
            <mc:AlternateContent xmlns:mc="http://schemas.openxmlformats.org/markup-compatibility/2006">
              <mc:Choice xmlns:v="urn:schemas-microsoft-com:vml" Requires="v">
                <p:oleObj spid="_x0000_s7231" name="Equation" r:id="rId5" imgW="6134040" imgH="876240" progId="Equation.DSMT4">
                  <p:embed/>
                </p:oleObj>
              </mc:Choice>
              <mc:Fallback>
                <p:oleObj name="Equation" r:id="rId5" imgW="6134040" imgH="876240" progId="Equation.DSMT4">
                  <p:embed/>
                  <p:pic>
                    <p:nvPicPr>
                      <p:cNvPr id="0" name=""/>
                      <p:cNvPicPr>
                        <a:picLocks noChangeAspect="1" noChangeArrowheads="1"/>
                      </p:cNvPicPr>
                      <p:nvPr/>
                    </p:nvPicPr>
                    <p:blipFill>
                      <a:blip r:embed="rId6"/>
                      <a:srcRect/>
                      <a:stretch>
                        <a:fillRect/>
                      </a:stretch>
                    </p:blipFill>
                    <p:spPr bwMode="auto">
                      <a:xfrm>
                        <a:off x="431800" y="3527425"/>
                        <a:ext cx="835025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092959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23976" y="3645024"/>
            <a:ext cx="8495326" cy="2031325"/>
          </a:xfrm>
          <a:prstGeom prst="rect">
            <a:avLst/>
          </a:prstGeom>
          <a:noFill/>
        </p:spPr>
        <p:txBody>
          <a:bodyPr wrap="square" rtlCol="0">
            <a:spAutoFit/>
          </a:bodyPr>
          <a:lstStyle/>
          <a:p>
            <a:pPr marL="285750" indent="-285750">
              <a:buFont typeface="Arial" pitchFamily="34" charset="0"/>
              <a:buChar char="•"/>
            </a:pPr>
            <a:r>
              <a:rPr lang="en-US" dirty="0" smtClean="0">
                <a:latin typeface="Times New Roman" pitchFamily="18" charset="0"/>
                <a:cs typeface="Times New Roman" pitchFamily="18" charset="0"/>
              </a:rPr>
              <a:t>Kerr-like permittivity of the dielectric slab:</a:t>
            </a: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Being the Helmholtz equation an elliptic PDE, no coupling between sine and cosine harmonic functions occurs. Either sine or cosine can be retained for field expansion of HBFE to halve matrices dimensions</a:t>
            </a:r>
          </a:p>
        </p:txBody>
      </p:sp>
      <p:sp>
        <p:nvSpPr>
          <p:cNvPr id="2" name="Content Placeholder 1"/>
          <p:cNvSpPr>
            <a:spLocks noGrp="1"/>
          </p:cNvSpPr>
          <p:nvPr>
            <p:ph idx="1"/>
          </p:nvPr>
        </p:nvSpPr>
        <p:spPr/>
        <p:txBody>
          <a:bodyPr/>
          <a:lstStyle/>
          <a:p>
            <a:r>
              <a:rPr lang="en-US" dirty="0" smtClean="0"/>
              <a:t>Numerical experiments: Nonlinear permittivity</a:t>
            </a:r>
            <a:endParaRPr lang="en-US" dirty="0"/>
          </a:p>
        </p:txBody>
      </p:sp>
      <p:sp>
        <p:nvSpPr>
          <p:cNvPr id="3" name="TextBox 2"/>
          <p:cNvSpPr txBox="1"/>
          <p:nvPr/>
        </p:nvSpPr>
        <p:spPr>
          <a:xfrm>
            <a:off x="683207"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Millimeter wave filter (revisited)</a:t>
            </a:r>
          </a:p>
        </p:txBody>
      </p:sp>
      <p:graphicFrame>
        <p:nvGraphicFramePr>
          <p:cNvPr id="4" name="Object 3"/>
          <p:cNvGraphicFramePr>
            <a:graphicFrameLocks noChangeAspect="1"/>
          </p:cNvGraphicFramePr>
          <p:nvPr>
            <p:extLst>
              <p:ext uri="{D42A27DB-BD31-4B8C-83A1-F6EECF244321}">
                <p14:modId xmlns:p14="http://schemas.microsoft.com/office/powerpoint/2010/main" val="7493017"/>
              </p:ext>
            </p:extLst>
          </p:nvPr>
        </p:nvGraphicFramePr>
        <p:xfrm>
          <a:off x="2259013" y="3959225"/>
          <a:ext cx="4597400" cy="800100"/>
        </p:xfrm>
        <a:graphic>
          <a:graphicData uri="http://schemas.openxmlformats.org/presentationml/2006/ole">
            <mc:AlternateContent xmlns:mc="http://schemas.openxmlformats.org/markup-compatibility/2006">
              <mc:Choice xmlns:v="urn:schemas-microsoft-com:vml" Requires="v">
                <p:oleObj spid="_x0000_s8274" name="Equation" r:id="rId3" imgW="4597200" imgH="799920" progId="Equation.DSMT4">
                  <p:embed/>
                </p:oleObj>
              </mc:Choice>
              <mc:Fallback>
                <p:oleObj name="Equation" r:id="rId3" imgW="4597200" imgH="799920" progId="Equation.DSMT4">
                  <p:embed/>
                  <p:pic>
                    <p:nvPicPr>
                      <p:cNvPr id="0" name=""/>
                      <p:cNvPicPr/>
                      <p:nvPr/>
                    </p:nvPicPr>
                    <p:blipFill>
                      <a:blip r:embed="rId4"/>
                      <a:stretch>
                        <a:fillRect/>
                      </a:stretch>
                    </p:blipFill>
                    <p:spPr>
                      <a:xfrm>
                        <a:off x="2259013" y="3959225"/>
                        <a:ext cx="4597400" cy="8001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235619900"/>
              </p:ext>
            </p:extLst>
          </p:nvPr>
        </p:nvGraphicFramePr>
        <p:xfrm>
          <a:off x="3203848" y="5805636"/>
          <a:ext cx="2590800" cy="647700"/>
        </p:xfrm>
        <a:graphic>
          <a:graphicData uri="http://schemas.openxmlformats.org/presentationml/2006/ole">
            <mc:AlternateContent xmlns:mc="http://schemas.openxmlformats.org/markup-compatibility/2006">
              <mc:Choice xmlns:v="urn:schemas-microsoft-com:vml" Requires="v">
                <p:oleObj spid="_x0000_s8275" name="Equation" r:id="rId5" imgW="2590560" imgH="647640" progId="Equation.DSMT4">
                  <p:embed/>
                </p:oleObj>
              </mc:Choice>
              <mc:Fallback>
                <p:oleObj name="Equation" r:id="rId5" imgW="2590560" imgH="647640" progId="Equation.DSMT4">
                  <p:embed/>
                  <p:pic>
                    <p:nvPicPr>
                      <p:cNvPr id="0" name="Object 14"/>
                      <p:cNvPicPr>
                        <a:picLocks noChangeAspect="1" noChangeArrowheads="1"/>
                      </p:cNvPicPr>
                      <p:nvPr/>
                    </p:nvPicPr>
                    <p:blipFill>
                      <a:blip r:embed="rId6"/>
                      <a:srcRect/>
                      <a:stretch>
                        <a:fillRect/>
                      </a:stretch>
                    </p:blipFill>
                    <p:spPr bwMode="auto">
                      <a:xfrm>
                        <a:off x="3203848" y="5805636"/>
                        <a:ext cx="25908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2"/>
          <p:cNvSpPr/>
          <p:nvPr/>
        </p:nvSpPr>
        <p:spPr>
          <a:xfrm>
            <a:off x="148873" y="1137517"/>
            <a:ext cx="8858127" cy="523220"/>
          </a:xfrm>
          <a:prstGeom prst="rect">
            <a:avLst/>
          </a:prstGeom>
          <a:ln>
            <a:solidFill>
              <a:schemeClr val="tx1"/>
            </a:solidFill>
          </a:ln>
        </p:spPr>
        <p:txBody>
          <a:bodyPr wrap="square">
            <a:spAutoFit/>
          </a:bodyPr>
          <a:lstStyle/>
          <a:p>
            <a:pPr marL="285750" indent="-285750">
              <a:buFont typeface="Arial" pitchFamily="34" charset="0"/>
              <a:buChar char="•"/>
            </a:pPr>
            <a:r>
              <a:rPr lang="it-IT" sz="1400" dirty="0">
                <a:latin typeface="Times New Roman" pitchFamily="18" charset="0"/>
                <a:cs typeface="Times New Roman" pitchFamily="18" charset="0"/>
              </a:rPr>
              <a:t>G. </a:t>
            </a:r>
            <a:r>
              <a:rPr lang="it-IT" sz="1400" dirty="0" err="1">
                <a:latin typeface="Times New Roman" pitchFamily="18" charset="0"/>
                <a:cs typeface="Times New Roman" pitchFamily="18" charset="0"/>
              </a:rPr>
              <a:t>Guarnieri</a:t>
            </a:r>
            <a:r>
              <a:rPr lang="it-IT" sz="1400" dirty="0">
                <a:latin typeface="Times New Roman" pitchFamily="18" charset="0"/>
                <a:cs typeface="Times New Roman" pitchFamily="18" charset="0"/>
              </a:rPr>
              <a:t>, G. Pelosi, L. Rossi, and S. Selleri, “A domain </a:t>
            </a:r>
            <a:r>
              <a:rPr lang="it-IT" sz="1400" dirty="0" err="1">
                <a:latin typeface="Times New Roman" pitchFamily="18" charset="0"/>
                <a:cs typeface="Times New Roman" pitchFamily="18" charset="0"/>
              </a:rPr>
              <a:t>decomposition</a:t>
            </a:r>
            <a:r>
              <a:rPr lang="it-IT" sz="1400" dirty="0">
                <a:latin typeface="Times New Roman" pitchFamily="18" charset="0"/>
                <a:cs typeface="Times New Roman" pitchFamily="18" charset="0"/>
              </a:rPr>
              <a:t> </a:t>
            </a:r>
            <a:r>
              <a:rPr lang="en-US" sz="1400" dirty="0">
                <a:latin typeface="Times New Roman" pitchFamily="18" charset="0"/>
                <a:cs typeface="Times New Roman" pitchFamily="18" charset="0"/>
              </a:rPr>
              <a:t>technique for efficient iterative solution of nonlinear electromagnetic problems,” </a:t>
            </a:r>
            <a:r>
              <a:rPr lang="en-US" sz="1400" i="1" dirty="0">
                <a:latin typeface="Times New Roman" pitchFamily="18" charset="0"/>
                <a:cs typeface="Times New Roman" pitchFamily="18" charset="0"/>
              </a:rPr>
              <a:t>IEEE Trans. Antennas </a:t>
            </a:r>
            <a:r>
              <a:rPr lang="en-US" sz="1400" i="1" dirty="0" err="1">
                <a:latin typeface="Times New Roman" pitchFamily="18" charset="0"/>
                <a:cs typeface="Times New Roman" pitchFamily="18" charset="0"/>
              </a:rPr>
              <a:t>Propag</a:t>
            </a:r>
            <a:r>
              <a:rPr lang="en-US" sz="1400" i="1" dirty="0">
                <a:latin typeface="Times New Roman" pitchFamily="18" charset="0"/>
                <a:cs typeface="Times New Roman" pitchFamily="18" charset="0"/>
              </a:rPr>
              <a:t>.</a:t>
            </a:r>
            <a:r>
              <a:rPr lang="en-US" sz="1400" dirty="0">
                <a:latin typeface="Times New Roman" pitchFamily="18" charset="0"/>
                <a:cs typeface="Times New Roman" pitchFamily="18" charset="0"/>
              </a:rPr>
              <a:t>, vol. 58, no. 12, pp. 4090–4095, Dec. 2010.</a:t>
            </a:r>
          </a:p>
        </p:txBody>
      </p:sp>
      <p:grpSp>
        <p:nvGrpSpPr>
          <p:cNvPr id="20" name="Group 19"/>
          <p:cNvGrpSpPr/>
          <p:nvPr/>
        </p:nvGrpSpPr>
        <p:grpSpPr>
          <a:xfrm>
            <a:off x="1701191" y="1988840"/>
            <a:ext cx="5740896" cy="1532730"/>
            <a:chOff x="1701191" y="2129205"/>
            <a:chExt cx="5740896" cy="1532730"/>
          </a:xfrm>
        </p:grpSpPr>
        <p:pic>
          <p:nvPicPr>
            <p:cNvPr id="8195" name="Picture 3" descr="C:\Users\Laurent\Desktop\bilat.png"/>
            <p:cNvPicPr>
              <a:picLocks noChangeAspect="1" noChangeArrowheads="1"/>
            </p:cNvPicPr>
            <p:nvPr/>
          </p:nvPicPr>
          <p:blipFill>
            <a:blip r:embed="rId7"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01191" y="2129205"/>
              <a:ext cx="5740896" cy="15327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Object 16"/>
            <p:cNvGraphicFramePr>
              <a:graphicFrameLocks noChangeAspect="1"/>
            </p:cNvGraphicFramePr>
            <p:nvPr>
              <p:extLst>
                <p:ext uri="{D42A27DB-BD31-4B8C-83A1-F6EECF244321}">
                  <p14:modId xmlns:p14="http://schemas.microsoft.com/office/powerpoint/2010/main" val="3183667598"/>
                </p:ext>
              </p:extLst>
            </p:nvPr>
          </p:nvGraphicFramePr>
          <p:xfrm>
            <a:off x="4571639" y="3140968"/>
            <a:ext cx="863600" cy="292100"/>
          </p:xfrm>
          <a:graphic>
            <a:graphicData uri="http://schemas.openxmlformats.org/presentationml/2006/ole">
              <mc:AlternateContent xmlns:mc="http://schemas.openxmlformats.org/markup-compatibility/2006">
                <mc:Choice xmlns:v="urn:schemas-microsoft-com:vml" Requires="v">
                  <p:oleObj spid="_x0000_s8276" name="Equation" r:id="rId8" imgW="863280" imgH="291960" progId="Equation.DSMT4">
                    <p:embed/>
                  </p:oleObj>
                </mc:Choice>
                <mc:Fallback>
                  <p:oleObj name="Equation" r:id="rId8" imgW="863280" imgH="29196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1639" y="3140968"/>
                          <a:ext cx="8636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4948254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permittivity</a:t>
            </a:r>
            <a:endParaRPr lang="en-US" dirty="0"/>
          </a:p>
        </p:txBody>
      </p:sp>
      <p:sp>
        <p:nvSpPr>
          <p:cNvPr id="14" name="TextBox 13"/>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Millimeter wave filter: linear and nonlinear frequency responses</a:t>
            </a:r>
          </a:p>
        </p:txBody>
      </p:sp>
      <p:pic>
        <p:nvPicPr>
          <p:cNvPr id="18" name="Picture 8" descr="C:\Users\Laurent\Desktop\freq.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9698" y="3395106"/>
            <a:ext cx="1106223" cy="144506"/>
          </a:xfrm>
          <a:prstGeom prst="rect">
            <a:avLst/>
          </a:prstGeom>
          <a:noFill/>
          <a:extLst>
            <a:ext uri="{909E8E84-426E-40DD-AFC4-6F175D3DCCD1}">
              <a14:hiddenFill xmlns:a14="http://schemas.microsoft.com/office/drawing/2010/main">
                <a:solidFill>
                  <a:srgbClr val="FFFFFF"/>
                </a:solidFill>
              </a14:hiddenFill>
            </a:ext>
          </a:extLst>
        </p:spPr>
      </p:pic>
      <p:pic>
        <p:nvPicPr>
          <p:cNvPr id="18435" name="Picture 3" descr="C:\Users\Laurent\Desktop\g349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367" y="1752057"/>
            <a:ext cx="4394463" cy="1584415"/>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C:\Users\Laurent\Desktop\g4804.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40247" y="1761399"/>
            <a:ext cx="4360753" cy="1765009"/>
          </a:xfrm>
          <a:prstGeom prst="rect">
            <a:avLst/>
          </a:prstGeom>
          <a:noFill/>
          <a:extLst>
            <a:ext uri="{909E8E84-426E-40DD-AFC4-6F175D3DCCD1}">
              <a14:hiddenFill xmlns:a14="http://schemas.microsoft.com/office/drawing/2010/main">
                <a:solidFill>
                  <a:srgbClr val="FFFFFF"/>
                </a:solidFill>
              </a14:hiddenFill>
            </a:ext>
          </a:extLst>
        </p:spPr>
      </p:pic>
      <p:pic>
        <p:nvPicPr>
          <p:cNvPr id="18437" name="Picture 5" descr="C:\Users\Laurent\Desktop\convCol.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4008" y="4195516"/>
            <a:ext cx="4404095" cy="169999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0" descr="C:\Users\Laurent\Desktop\SpecCol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8871" y="4195516"/>
            <a:ext cx="4351121" cy="1716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73385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permittivity</a:t>
            </a:r>
            <a:endParaRPr lang="en-US" dirty="0"/>
          </a:p>
        </p:txBody>
      </p:sp>
      <p:grpSp>
        <p:nvGrpSpPr>
          <p:cNvPr id="9" name="Group 8"/>
          <p:cNvGrpSpPr/>
          <p:nvPr/>
        </p:nvGrpSpPr>
        <p:grpSpPr>
          <a:xfrm>
            <a:off x="3563888" y="1417638"/>
            <a:ext cx="4616245" cy="4956675"/>
            <a:chOff x="3779912" y="1417638"/>
            <a:chExt cx="4616245" cy="4956675"/>
          </a:xfrm>
        </p:grpSpPr>
        <p:pic>
          <p:nvPicPr>
            <p:cNvPr id="11267" name="Picture 3" descr="C:\Users\Laurent\Desktop\fields.png"/>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0028" t="9324" r="9866" b="10826"/>
            <a:stretch/>
          </p:blipFill>
          <p:spPr bwMode="auto">
            <a:xfrm>
              <a:off x="3779912" y="1772816"/>
              <a:ext cx="4616245" cy="46014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Object 6"/>
            <p:cNvGraphicFramePr>
              <a:graphicFrameLocks noChangeAspect="1"/>
            </p:cNvGraphicFramePr>
            <p:nvPr>
              <p:extLst>
                <p:ext uri="{D42A27DB-BD31-4B8C-83A1-F6EECF244321}">
                  <p14:modId xmlns:p14="http://schemas.microsoft.com/office/powerpoint/2010/main" val="3700772254"/>
                </p:ext>
              </p:extLst>
            </p:nvPr>
          </p:nvGraphicFramePr>
          <p:xfrm>
            <a:off x="7651874" y="1417638"/>
            <a:ext cx="736600" cy="342900"/>
          </p:xfrm>
          <a:graphic>
            <a:graphicData uri="http://schemas.openxmlformats.org/presentationml/2006/ole">
              <mc:AlternateContent xmlns:mc="http://schemas.openxmlformats.org/markup-compatibility/2006">
                <mc:Choice xmlns:v="urn:schemas-microsoft-com:vml" Requires="v">
                  <p:oleObj spid="_x0000_s11290" name="Equation" r:id="rId4" imgW="736560" imgH="342720" progId="Equation.DSMT4">
                    <p:embed/>
                  </p:oleObj>
                </mc:Choice>
                <mc:Fallback>
                  <p:oleObj name="Equation" r:id="rId4" imgW="736560" imgH="342720" progId="Equation.DSMT4">
                    <p:embed/>
                    <p:pic>
                      <p:nvPicPr>
                        <p:cNvPr id="0" name=""/>
                        <p:cNvPicPr/>
                        <p:nvPr/>
                      </p:nvPicPr>
                      <p:blipFill>
                        <a:blip r:embed="rId5"/>
                        <a:stretch>
                          <a:fillRect/>
                        </a:stretch>
                      </p:blipFill>
                      <p:spPr>
                        <a:xfrm>
                          <a:off x="7651874" y="1417638"/>
                          <a:ext cx="736600" cy="342900"/>
                        </a:xfrm>
                        <a:prstGeom prst="rect">
                          <a:avLst/>
                        </a:prstGeom>
                      </p:spPr>
                    </p:pic>
                  </p:oleObj>
                </mc:Fallback>
              </mc:AlternateContent>
            </a:graphicData>
          </a:graphic>
        </p:graphicFrame>
      </p:grpSp>
      <p:sp>
        <p:nvSpPr>
          <p:cNvPr id="8" name="TextBox 7"/>
          <p:cNvSpPr txBox="1"/>
          <p:nvPr/>
        </p:nvSpPr>
        <p:spPr>
          <a:xfrm>
            <a:off x="1403648" y="2123564"/>
            <a:ext cx="1609736" cy="369332"/>
          </a:xfrm>
          <a:prstGeom prst="rect">
            <a:avLst/>
          </a:prstGeom>
          <a:noFill/>
        </p:spPr>
        <p:txBody>
          <a:bodyPr wrap="none" rtlCol="0">
            <a:spAutoFit/>
          </a:bodyPr>
          <a:lstStyle/>
          <a:p>
            <a:r>
              <a:rPr lang="en-US" b="1" dirty="0" smtClean="0">
                <a:latin typeface="Times New Roman" pitchFamily="18" charset="0"/>
                <a:cs typeface="Times New Roman" pitchFamily="18" charset="0"/>
              </a:rPr>
              <a:t>|E|</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150 GHz</a:t>
            </a:r>
          </a:p>
        </p:txBody>
      </p:sp>
      <p:sp>
        <p:nvSpPr>
          <p:cNvPr id="12" name="TextBox 11"/>
          <p:cNvSpPr txBox="1"/>
          <p:nvPr/>
        </p:nvSpPr>
        <p:spPr>
          <a:xfrm>
            <a:off x="1403648" y="3822260"/>
            <a:ext cx="1609736" cy="369332"/>
          </a:xfrm>
          <a:prstGeom prst="rect">
            <a:avLst/>
          </a:prstGeom>
          <a:noFill/>
        </p:spPr>
        <p:txBody>
          <a:bodyPr wrap="none" rtlCol="0">
            <a:spAutoFit/>
          </a:bodyPr>
          <a:lstStyle/>
          <a:p>
            <a:r>
              <a:rPr lang="en-US" b="1" dirty="0" smtClean="0">
                <a:latin typeface="Times New Roman" pitchFamily="18" charset="0"/>
                <a:cs typeface="Times New Roman" pitchFamily="18" charset="0"/>
              </a:rPr>
              <a:t>|E|</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450 GHz</a:t>
            </a:r>
          </a:p>
        </p:txBody>
      </p:sp>
      <p:sp>
        <p:nvSpPr>
          <p:cNvPr id="14" name="TextBox 13"/>
          <p:cNvSpPr txBox="1"/>
          <p:nvPr/>
        </p:nvSpPr>
        <p:spPr>
          <a:xfrm>
            <a:off x="1403648" y="5550452"/>
            <a:ext cx="1609736" cy="369332"/>
          </a:xfrm>
          <a:prstGeom prst="rect">
            <a:avLst/>
          </a:prstGeom>
          <a:noFill/>
        </p:spPr>
        <p:txBody>
          <a:bodyPr wrap="none" rtlCol="0">
            <a:spAutoFit/>
          </a:bodyPr>
          <a:lstStyle/>
          <a:p>
            <a:r>
              <a:rPr lang="en-US" b="1" dirty="0" smtClean="0">
                <a:latin typeface="Times New Roman" pitchFamily="18" charset="0"/>
                <a:cs typeface="Times New Roman" pitchFamily="18" charset="0"/>
              </a:rPr>
              <a:t>|E|</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750 GHz</a:t>
            </a:r>
          </a:p>
        </p:txBody>
      </p:sp>
      <p:sp>
        <p:nvSpPr>
          <p:cNvPr id="17" name="TextBox 16"/>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Millimeter wave filter: </a:t>
            </a:r>
            <a:r>
              <a:rPr lang="en-US" sz="2000" dirty="0">
                <a:latin typeface="Times New Roman" pitchFamily="18" charset="0"/>
                <a:cs typeface="Times New Roman" pitchFamily="18" charset="0"/>
              </a:rPr>
              <a:t>higher order </a:t>
            </a:r>
            <a:r>
              <a:rPr lang="en-US" sz="2000" dirty="0" smtClean="0">
                <a:latin typeface="Times New Roman" pitchFamily="18" charset="0"/>
                <a:cs typeface="Times New Roman" pitchFamily="18" charset="0"/>
              </a:rPr>
              <a:t>harmonic </a:t>
            </a:r>
            <a:r>
              <a:rPr lang="en-US" sz="2000" dirty="0" smtClean="0">
                <a:latin typeface="Times New Roman" pitchFamily="18" charset="0"/>
                <a:cs typeface="Times New Roman" pitchFamily="18" charset="0"/>
              </a:rPr>
              <a:t>fields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8057656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permittivity</a:t>
            </a:r>
            <a:endParaRPr lang="en-US" dirty="0"/>
          </a:p>
        </p:txBody>
      </p:sp>
      <p:sp>
        <p:nvSpPr>
          <p:cNvPr id="8" name="Rectangle 7"/>
          <p:cNvSpPr/>
          <p:nvPr/>
        </p:nvSpPr>
        <p:spPr>
          <a:xfrm>
            <a:off x="223756" y="5930116"/>
            <a:ext cx="8712968" cy="523220"/>
          </a:xfrm>
          <a:prstGeom prst="rect">
            <a:avLst/>
          </a:prstGeom>
          <a:ln>
            <a:solidFill>
              <a:schemeClr val="tx1"/>
            </a:solidFill>
          </a:ln>
        </p:spPr>
        <p:txBody>
          <a:bodyPr wrap="square">
            <a:spAutoFit/>
          </a:bodyPr>
          <a:lstStyle/>
          <a:p>
            <a:pPr marL="285750" indent="-285750">
              <a:buFont typeface="Arial" pitchFamily="34" charset="0"/>
              <a:buChar char="•"/>
            </a:pPr>
            <a:r>
              <a:rPr lang="en-US" sz="1400" dirty="0">
                <a:latin typeface="Times New Roman" pitchFamily="18" charset="0"/>
                <a:cs typeface="Times New Roman" pitchFamily="18" charset="0"/>
              </a:rPr>
              <a:t>L. </a:t>
            </a:r>
            <a:r>
              <a:rPr lang="en-US" sz="1400" dirty="0" err="1">
                <a:latin typeface="Times New Roman" pitchFamily="18" charset="0"/>
                <a:cs typeface="Times New Roman" pitchFamily="18" charset="0"/>
              </a:rPr>
              <a:t>Ntibarikure</a:t>
            </a:r>
            <a:r>
              <a:rPr lang="en-US" sz="1400" dirty="0">
                <a:latin typeface="Times New Roman" pitchFamily="18" charset="0"/>
                <a:cs typeface="Times New Roman" pitchFamily="18" charset="0"/>
              </a:rPr>
              <a:t>, G. Pelosi; S. </a:t>
            </a:r>
            <a:r>
              <a:rPr lang="en-US" sz="1400" dirty="0" err="1">
                <a:latin typeface="Times New Roman" pitchFamily="18" charset="0"/>
                <a:cs typeface="Times New Roman" pitchFamily="18" charset="0"/>
              </a:rPr>
              <a:t>Selleri</a:t>
            </a:r>
            <a:r>
              <a:rPr lang="en-US" sz="1400" dirty="0">
                <a:latin typeface="Times New Roman" pitchFamily="18" charset="0"/>
                <a:cs typeface="Times New Roman" pitchFamily="18" charset="0"/>
              </a:rPr>
              <a:t>, “Efficient Harmonic Balance Analysis of Waveguide Devices With Nonlinear Dielectrics</a:t>
            </a:r>
            <a:r>
              <a:rPr lang="en-US" sz="1400" dirty="0" smtClean="0">
                <a:latin typeface="Times New Roman" pitchFamily="18" charset="0"/>
                <a:cs typeface="Times New Roman" pitchFamily="18" charset="0"/>
              </a:rPr>
              <a:t>,” </a:t>
            </a:r>
            <a:r>
              <a:rPr lang="en-US" sz="1400" i="1" dirty="0" smtClean="0">
                <a:latin typeface="Times New Roman" pitchFamily="18" charset="0"/>
                <a:cs typeface="Times New Roman" pitchFamily="18" charset="0"/>
              </a:rPr>
              <a:t>IEEE </a:t>
            </a:r>
            <a:r>
              <a:rPr lang="en-US" sz="1400" i="1" dirty="0" err="1" smtClean="0">
                <a:latin typeface="Times New Roman" pitchFamily="18" charset="0"/>
                <a:cs typeface="Times New Roman" pitchFamily="18" charset="0"/>
              </a:rPr>
              <a:t>Microw</a:t>
            </a:r>
            <a:r>
              <a:rPr lang="en-US" sz="1400" i="1" dirty="0">
                <a:latin typeface="Times New Roman" pitchFamily="18" charset="0"/>
                <a:cs typeface="Times New Roman" pitchFamily="18" charset="0"/>
              </a:rPr>
              <a:t>. Wireless </a:t>
            </a:r>
            <a:r>
              <a:rPr lang="en-US" sz="1400" i="1" dirty="0" err="1">
                <a:latin typeface="Times New Roman" pitchFamily="18" charset="0"/>
                <a:cs typeface="Times New Roman" pitchFamily="18" charset="0"/>
              </a:rPr>
              <a:t>Compon</a:t>
            </a:r>
            <a:r>
              <a:rPr lang="en-US" sz="1400" i="1" dirty="0">
                <a:latin typeface="Times New Roman" pitchFamily="18" charset="0"/>
                <a:cs typeface="Times New Roman" pitchFamily="18" charset="0"/>
              </a:rPr>
              <a:t>. </a:t>
            </a:r>
            <a:r>
              <a:rPr lang="en-US" sz="1400" i="1" dirty="0" err="1" smtClean="0">
                <a:latin typeface="Times New Roman" pitchFamily="18" charset="0"/>
                <a:cs typeface="Times New Roman" pitchFamily="18" charset="0"/>
              </a:rPr>
              <a:t>Lett</a:t>
            </a:r>
            <a:r>
              <a:rPr lang="en-US" sz="1400" i="1" dirty="0">
                <a:latin typeface="Times New Roman" pitchFamily="18" charset="0"/>
                <a:cs typeface="Times New Roman" pitchFamily="18" charset="0"/>
              </a:rPr>
              <a:t>.</a:t>
            </a:r>
            <a:r>
              <a:rPr lang="en-US" sz="1400" dirty="0" smtClean="0">
                <a:latin typeface="Times New Roman" pitchFamily="18" charset="0"/>
                <a:cs typeface="Times New Roman" pitchFamily="18" charset="0"/>
              </a:rPr>
              <a:t>, </a:t>
            </a:r>
            <a:r>
              <a:rPr lang="en-US" sz="1400" dirty="0">
                <a:latin typeface="Times New Roman" pitchFamily="18" charset="0"/>
                <a:cs typeface="Times New Roman" pitchFamily="18" charset="0"/>
              </a:rPr>
              <a:t>vol.22, no.5, pp.221-223, May 2012</a:t>
            </a:r>
          </a:p>
        </p:txBody>
      </p:sp>
      <p:graphicFrame>
        <p:nvGraphicFramePr>
          <p:cNvPr id="9" name="Object 8"/>
          <p:cNvGraphicFramePr>
            <a:graphicFrameLocks noChangeAspect="1"/>
          </p:cNvGraphicFramePr>
          <p:nvPr>
            <p:extLst>
              <p:ext uri="{D42A27DB-BD31-4B8C-83A1-F6EECF244321}">
                <p14:modId xmlns:p14="http://schemas.microsoft.com/office/powerpoint/2010/main" val="378369224"/>
              </p:ext>
            </p:extLst>
          </p:nvPr>
        </p:nvGraphicFramePr>
        <p:xfrm>
          <a:off x="683568" y="3323828"/>
          <a:ext cx="2070100" cy="685800"/>
        </p:xfrm>
        <a:graphic>
          <a:graphicData uri="http://schemas.openxmlformats.org/presentationml/2006/ole">
            <mc:AlternateContent xmlns:mc="http://schemas.openxmlformats.org/markup-compatibility/2006">
              <mc:Choice xmlns:v="urn:schemas-microsoft-com:vml" Requires="v">
                <p:oleObj spid="_x0000_s10266" name="Equation" r:id="rId3" imgW="2070000" imgH="685800" progId="Equation.DSMT4">
                  <p:embed/>
                </p:oleObj>
              </mc:Choice>
              <mc:Fallback>
                <p:oleObj name="Equation" r:id="rId3" imgW="2070000" imgH="685800" progId="Equation.DSMT4">
                  <p:embed/>
                  <p:pic>
                    <p:nvPicPr>
                      <p:cNvPr id="0" name=""/>
                      <p:cNvPicPr/>
                      <p:nvPr/>
                    </p:nvPicPr>
                    <p:blipFill>
                      <a:blip r:embed="rId4"/>
                      <a:stretch>
                        <a:fillRect/>
                      </a:stretch>
                    </p:blipFill>
                    <p:spPr>
                      <a:xfrm>
                        <a:off x="683568" y="3323828"/>
                        <a:ext cx="2070100" cy="685800"/>
                      </a:xfrm>
                      <a:prstGeom prst="rect">
                        <a:avLst/>
                      </a:prstGeom>
                    </p:spPr>
                  </p:pic>
                </p:oleObj>
              </mc:Fallback>
            </mc:AlternateContent>
          </a:graphicData>
        </a:graphic>
      </p:graphicFrame>
      <p:sp>
        <p:nvSpPr>
          <p:cNvPr id="13" name="TextBox 12"/>
          <p:cNvSpPr txBox="1"/>
          <p:nvPr/>
        </p:nvSpPr>
        <p:spPr>
          <a:xfrm>
            <a:off x="223756" y="1700808"/>
            <a:ext cx="8712968" cy="369332"/>
          </a:xfrm>
          <a:prstGeom prst="rect">
            <a:avLst/>
          </a:prstGeom>
          <a:noFill/>
        </p:spPr>
        <p:txBody>
          <a:bodyPr wrap="square" rtlCol="0">
            <a:spAutoFit/>
          </a:bodyPr>
          <a:lstStyle/>
          <a:p>
            <a:r>
              <a:rPr lang="en-US" dirty="0" smtClean="0">
                <a:latin typeface="Times New Roman" pitchFamily="18" charset="0"/>
                <a:cs typeface="Times New Roman" pitchFamily="18" charset="0"/>
              </a:rPr>
              <a:t>Test conditions: 94 out of  2473 </a:t>
            </a:r>
            <a:r>
              <a:rPr lang="en-US" dirty="0" err="1" smtClean="0">
                <a:latin typeface="Times New Roman" pitchFamily="18" charset="0"/>
                <a:cs typeface="Times New Roman" pitchFamily="18" charset="0"/>
              </a:rPr>
              <a:t>DoFs</a:t>
            </a:r>
            <a:r>
              <a:rPr lang="en-US" dirty="0" smtClean="0">
                <a:latin typeface="Times New Roman" pitchFamily="18" charset="0"/>
                <a:cs typeface="Times New Roman" pitchFamily="18" charset="0"/>
              </a:rPr>
              <a:t> (conventional FE) pertain to nonlinear media ~ 3.8%</a:t>
            </a:r>
          </a:p>
        </p:txBody>
      </p:sp>
      <p:sp>
        <p:nvSpPr>
          <p:cNvPr id="16" name="TextBox 15"/>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Millimeter wave filter: DD acceleration</a:t>
            </a:r>
          </a:p>
        </p:txBody>
      </p:sp>
      <p:pic>
        <p:nvPicPr>
          <p:cNvPr id="10260" name="Picture 20" descr="C:\Users\Laurent\Desktop\accCol.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36144" y="2636912"/>
            <a:ext cx="4875777" cy="2230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0979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permeability</a:t>
            </a:r>
            <a:endParaRPr lang="en-US" dirty="0"/>
          </a:p>
        </p:txBody>
      </p:sp>
      <p:sp>
        <p:nvSpPr>
          <p:cNvPr id="6" name="Rectangle 5"/>
          <p:cNvSpPr/>
          <p:nvPr/>
        </p:nvSpPr>
        <p:spPr>
          <a:xfrm>
            <a:off x="148873" y="1188041"/>
            <a:ext cx="8858127" cy="523220"/>
          </a:xfrm>
          <a:prstGeom prst="rect">
            <a:avLst/>
          </a:prstGeom>
          <a:ln>
            <a:solidFill>
              <a:schemeClr val="tx1"/>
            </a:solidFill>
          </a:ln>
        </p:spPr>
        <p:txBody>
          <a:bodyPr wrap="square">
            <a:spAutoFit/>
          </a:bodyPr>
          <a:lstStyle/>
          <a:p>
            <a:pPr marL="285750" indent="-285750">
              <a:buFont typeface="Arial" pitchFamily="34" charset="0"/>
              <a:buChar char="•"/>
            </a:pPr>
            <a:r>
              <a:rPr lang="it-IT" sz="1400" dirty="0" smtClean="0">
                <a:latin typeface="Times New Roman" pitchFamily="18" charset="0"/>
                <a:cs typeface="Times New Roman" pitchFamily="18" charset="0"/>
              </a:rPr>
              <a:t>M. </a:t>
            </a:r>
            <a:r>
              <a:rPr lang="it-IT" sz="1400" dirty="0" err="1" smtClean="0">
                <a:latin typeface="Times New Roman" pitchFamily="18" charset="0"/>
                <a:cs typeface="Times New Roman" pitchFamily="18" charset="0"/>
              </a:rPr>
              <a:t>Koshiba</a:t>
            </a:r>
            <a:r>
              <a:rPr lang="it-IT" sz="1400" dirty="0" smtClean="0">
                <a:latin typeface="Times New Roman" pitchFamily="18" charset="0"/>
                <a:cs typeface="Times New Roman" pitchFamily="18" charset="0"/>
              </a:rPr>
              <a:t> and M. Suzuki, “</a:t>
            </a:r>
            <a:r>
              <a:rPr lang="en-US" sz="1400" dirty="0">
                <a:latin typeface="Times New Roman" pitchFamily="18" charset="0"/>
                <a:cs typeface="Times New Roman" pitchFamily="18" charset="0"/>
              </a:rPr>
              <a:t>Finite-Element Analysis of </a:t>
            </a:r>
            <a:r>
              <a:rPr lang="en-US" sz="1400" dirty="0" smtClean="0">
                <a:latin typeface="Times New Roman" pitchFamily="18" charset="0"/>
                <a:cs typeface="Times New Roman" pitchFamily="18" charset="0"/>
              </a:rPr>
              <a:t>H-Plane Waveguide </a:t>
            </a:r>
            <a:r>
              <a:rPr lang="en-US" sz="1400" dirty="0">
                <a:latin typeface="Times New Roman" pitchFamily="18" charset="0"/>
                <a:cs typeface="Times New Roman" pitchFamily="18" charset="0"/>
              </a:rPr>
              <a:t>Junction with </a:t>
            </a:r>
            <a:r>
              <a:rPr lang="en-US" sz="1400" dirty="0" smtClean="0">
                <a:latin typeface="Times New Roman" pitchFamily="18" charset="0"/>
                <a:cs typeface="Times New Roman" pitchFamily="18" charset="0"/>
              </a:rPr>
              <a:t>Arbitrarily Shaped </a:t>
            </a:r>
            <a:r>
              <a:rPr lang="en-US" sz="1400" dirty="0">
                <a:latin typeface="Times New Roman" pitchFamily="18" charset="0"/>
                <a:cs typeface="Times New Roman" pitchFamily="18" charset="0"/>
              </a:rPr>
              <a:t>Ferrite Post</a:t>
            </a:r>
            <a:r>
              <a:rPr lang="en-US" sz="1400" dirty="0" smtClean="0">
                <a:latin typeface="Times New Roman" pitchFamily="18" charset="0"/>
                <a:cs typeface="Times New Roman" pitchFamily="18" charset="0"/>
              </a:rPr>
              <a:t>,” </a:t>
            </a:r>
            <a:r>
              <a:rPr lang="en-US" sz="1400" i="1" dirty="0">
                <a:latin typeface="Times New Roman" pitchFamily="18" charset="0"/>
                <a:cs typeface="Times New Roman" pitchFamily="18" charset="0"/>
              </a:rPr>
              <a:t>IEEE Trans. </a:t>
            </a:r>
            <a:r>
              <a:rPr lang="en-US" sz="1400" i="1" dirty="0" err="1" smtClean="0">
                <a:latin typeface="Times New Roman" pitchFamily="18" charset="0"/>
                <a:cs typeface="Times New Roman" pitchFamily="18" charset="0"/>
              </a:rPr>
              <a:t>Microw</a:t>
            </a:r>
            <a:r>
              <a:rPr lang="en-US" sz="1400" i="1" dirty="0" smtClean="0">
                <a:latin typeface="Times New Roman" pitchFamily="18" charset="0"/>
                <a:cs typeface="Times New Roman" pitchFamily="18" charset="0"/>
              </a:rPr>
              <a:t>. Theory Tech.</a:t>
            </a:r>
            <a:r>
              <a:rPr lang="en-US" sz="1400" dirty="0" smtClean="0">
                <a:latin typeface="Times New Roman" pitchFamily="18" charset="0"/>
                <a:cs typeface="Times New Roman" pitchFamily="18" charset="0"/>
              </a:rPr>
              <a:t>, MTT-34, </a:t>
            </a:r>
            <a:r>
              <a:rPr lang="en-US" sz="1400" dirty="0">
                <a:latin typeface="Times New Roman" pitchFamily="18" charset="0"/>
                <a:cs typeface="Times New Roman" pitchFamily="18" charset="0"/>
              </a:rPr>
              <a:t>no. </a:t>
            </a:r>
            <a:r>
              <a:rPr lang="en-US" sz="1400" dirty="0" smtClean="0">
                <a:latin typeface="Times New Roman" pitchFamily="18" charset="0"/>
                <a:cs typeface="Times New Roman" pitchFamily="18" charset="0"/>
              </a:rPr>
              <a:t>1, </a:t>
            </a:r>
            <a:r>
              <a:rPr lang="en-US" sz="1400" dirty="0">
                <a:latin typeface="Times New Roman" pitchFamily="18" charset="0"/>
                <a:cs typeface="Times New Roman" pitchFamily="18" charset="0"/>
              </a:rPr>
              <a:t>pp. </a:t>
            </a:r>
            <a:r>
              <a:rPr lang="en-US" sz="1400" dirty="0" smtClean="0">
                <a:latin typeface="Times New Roman" pitchFamily="18" charset="0"/>
                <a:cs typeface="Times New Roman" pitchFamily="18" charset="0"/>
              </a:rPr>
              <a:t>103–109, Jan. 1986.</a:t>
            </a:r>
            <a:endParaRPr lang="en-US" sz="1400" dirty="0">
              <a:latin typeface="Times New Roman" pitchFamily="18" charset="0"/>
              <a:cs typeface="Times New Roman" pitchFamily="18" charset="0"/>
            </a:endParaRPr>
          </a:p>
        </p:txBody>
      </p:sp>
      <p:sp>
        <p:nvSpPr>
          <p:cNvPr id="7" name="TextBox 6"/>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Microwave ferrite circulator: linear FE analysis</a:t>
            </a:r>
            <a:endParaRPr lang="en-US" sz="2000" dirty="0">
              <a:latin typeface="Times New Roman" pitchFamily="18" charset="0"/>
              <a:cs typeface="Times New Roman" pitchFamily="18"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3946275953"/>
              </p:ext>
            </p:extLst>
          </p:nvPr>
        </p:nvGraphicFramePr>
        <p:xfrm>
          <a:off x="750888" y="3500438"/>
          <a:ext cx="3365500" cy="2984500"/>
        </p:xfrm>
        <a:graphic>
          <a:graphicData uri="http://schemas.openxmlformats.org/presentationml/2006/ole">
            <mc:AlternateContent xmlns:mc="http://schemas.openxmlformats.org/markup-compatibility/2006">
              <mc:Choice xmlns:v="urn:schemas-microsoft-com:vml" Requires="v">
                <p:oleObj spid="_x0000_s12378" name="Equation" r:id="rId3" imgW="3365280" imgH="2984400" progId="Equation.DSMT4">
                  <p:embed/>
                </p:oleObj>
              </mc:Choice>
              <mc:Fallback>
                <p:oleObj name="Equation" r:id="rId3" imgW="3365280" imgH="2984400" progId="Equation.DSMT4">
                  <p:embed/>
                  <p:pic>
                    <p:nvPicPr>
                      <p:cNvPr id="0" name=""/>
                      <p:cNvPicPr/>
                      <p:nvPr/>
                    </p:nvPicPr>
                    <p:blipFill>
                      <a:blip r:embed="rId4"/>
                      <a:stretch>
                        <a:fillRect/>
                      </a:stretch>
                    </p:blipFill>
                    <p:spPr>
                      <a:xfrm>
                        <a:off x="750888" y="3500438"/>
                        <a:ext cx="3365500" cy="29845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774329"/>
              </p:ext>
            </p:extLst>
          </p:nvPr>
        </p:nvGraphicFramePr>
        <p:xfrm>
          <a:off x="1993900" y="2024063"/>
          <a:ext cx="5156200" cy="1333500"/>
        </p:xfrm>
        <a:graphic>
          <a:graphicData uri="http://schemas.openxmlformats.org/presentationml/2006/ole">
            <mc:AlternateContent xmlns:mc="http://schemas.openxmlformats.org/markup-compatibility/2006">
              <mc:Choice xmlns:v="urn:schemas-microsoft-com:vml" Requires="v">
                <p:oleObj spid="_x0000_s12379" name="Equation" r:id="rId5" imgW="5155920" imgH="1333440" progId="Equation.DSMT4">
                  <p:embed/>
                </p:oleObj>
              </mc:Choice>
              <mc:Fallback>
                <p:oleObj name="Equation" r:id="rId5" imgW="5155920" imgH="1333440" progId="Equation.DSMT4">
                  <p:embed/>
                  <p:pic>
                    <p:nvPicPr>
                      <p:cNvPr id="0" name="Object 6"/>
                      <p:cNvPicPr>
                        <a:picLocks noChangeAspect="1" noChangeArrowheads="1"/>
                      </p:cNvPicPr>
                      <p:nvPr/>
                    </p:nvPicPr>
                    <p:blipFill>
                      <a:blip r:embed="rId6"/>
                      <a:srcRect/>
                      <a:stretch>
                        <a:fillRect/>
                      </a:stretch>
                    </p:blipFill>
                    <p:spPr bwMode="auto">
                      <a:xfrm>
                        <a:off x="1993900" y="2024063"/>
                        <a:ext cx="51562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 name="Group 13"/>
          <p:cNvGrpSpPr/>
          <p:nvPr/>
        </p:nvGrpSpPr>
        <p:grpSpPr>
          <a:xfrm>
            <a:off x="5436096" y="3356992"/>
            <a:ext cx="2736304" cy="2848400"/>
            <a:chOff x="5580112" y="3199654"/>
            <a:chExt cx="2736304" cy="2848400"/>
          </a:xfrm>
        </p:grpSpPr>
        <p:pic>
          <p:nvPicPr>
            <p:cNvPr id="12309" name="Picture 21" descr="C:\Users\Laurent\Desktop\circ.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580112" y="3199654"/>
              <a:ext cx="2736304" cy="2848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Object 12"/>
            <p:cNvGraphicFramePr>
              <a:graphicFrameLocks noChangeAspect="1"/>
            </p:cNvGraphicFramePr>
            <p:nvPr>
              <p:extLst>
                <p:ext uri="{D42A27DB-BD31-4B8C-83A1-F6EECF244321}">
                  <p14:modId xmlns:p14="http://schemas.microsoft.com/office/powerpoint/2010/main" val="446478060"/>
                </p:ext>
              </p:extLst>
            </p:nvPr>
          </p:nvGraphicFramePr>
          <p:xfrm>
            <a:off x="6098604" y="4725144"/>
            <a:ext cx="863600" cy="292100"/>
          </p:xfrm>
          <a:graphic>
            <a:graphicData uri="http://schemas.openxmlformats.org/presentationml/2006/ole">
              <mc:AlternateContent xmlns:mc="http://schemas.openxmlformats.org/markup-compatibility/2006">
                <mc:Choice xmlns:v="urn:schemas-microsoft-com:vml" Requires="v">
                  <p:oleObj spid="_x0000_s12380" name="Equation" r:id="rId8" imgW="863225" imgH="291973" progId="Equation.DSMT4">
                    <p:embed/>
                  </p:oleObj>
                </mc:Choice>
                <mc:Fallback>
                  <p:oleObj name="Equation" r:id="rId8" imgW="863225" imgH="291973" progId="Equation.DSMT4">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8604" y="4725144"/>
                          <a:ext cx="8636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40799046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permeability</a:t>
            </a:r>
            <a:endParaRPr lang="en-US" dirty="0"/>
          </a:p>
        </p:txBody>
      </p:sp>
      <p:sp>
        <p:nvSpPr>
          <p:cNvPr id="4" name="TextBox 3"/>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Microwave ferrite circulator: linear FE response</a:t>
            </a:r>
          </a:p>
        </p:txBody>
      </p:sp>
      <p:graphicFrame>
        <p:nvGraphicFramePr>
          <p:cNvPr id="5" name="Object 4"/>
          <p:cNvGraphicFramePr>
            <a:graphicFrameLocks noChangeAspect="1"/>
          </p:cNvGraphicFramePr>
          <p:nvPr>
            <p:extLst>
              <p:ext uri="{D42A27DB-BD31-4B8C-83A1-F6EECF244321}">
                <p14:modId xmlns:p14="http://schemas.microsoft.com/office/powerpoint/2010/main" val="2636143544"/>
              </p:ext>
            </p:extLst>
          </p:nvPr>
        </p:nvGraphicFramePr>
        <p:xfrm>
          <a:off x="1109663" y="3212976"/>
          <a:ext cx="1892300" cy="2108200"/>
        </p:xfrm>
        <a:graphic>
          <a:graphicData uri="http://schemas.openxmlformats.org/presentationml/2006/ole">
            <mc:AlternateContent xmlns:mc="http://schemas.openxmlformats.org/markup-compatibility/2006">
              <mc:Choice xmlns:v="urn:schemas-microsoft-com:vml" Requires="v">
                <p:oleObj spid="_x0000_s13352" name="Equation" r:id="rId3" imgW="1892160" imgH="2108160" progId="Equation.DSMT4">
                  <p:embed/>
                </p:oleObj>
              </mc:Choice>
              <mc:Fallback>
                <p:oleObj name="Equation" r:id="rId3" imgW="1892160" imgH="2108160" progId="Equation.DSMT4">
                  <p:embed/>
                  <p:pic>
                    <p:nvPicPr>
                      <p:cNvPr id="0" name="Object 8"/>
                      <p:cNvPicPr>
                        <a:picLocks noChangeAspect="1" noChangeArrowheads="1"/>
                      </p:cNvPicPr>
                      <p:nvPr/>
                    </p:nvPicPr>
                    <p:blipFill>
                      <a:blip r:embed="rId4"/>
                      <a:srcRect/>
                      <a:stretch>
                        <a:fillRect/>
                      </a:stretch>
                    </p:blipFill>
                    <p:spPr bwMode="auto">
                      <a:xfrm>
                        <a:off x="1109663" y="3212976"/>
                        <a:ext cx="189230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319" name="Picture 7" descr="C:\Users\Laurent\Desktop\linearCir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976" y="3140968"/>
            <a:ext cx="4104456" cy="33229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29097" t="7291" r="14967" b="14000"/>
          <a:stretch/>
        </p:blipFill>
        <p:spPr bwMode="auto">
          <a:xfrm>
            <a:off x="6687586" y="835601"/>
            <a:ext cx="1744266" cy="1840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323528" y="1484784"/>
            <a:ext cx="4801314" cy="646331"/>
          </a:xfrm>
          <a:prstGeom prst="rect">
            <a:avLst/>
          </a:prstGeom>
          <a:noFill/>
        </p:spPr>
        <p:txBody>
          <a:bodyPr wrap="none" rtlCol="0">
            <a:spAutoFit/>
          </a:bodyPr>
          <a:lstStyle/>
          <a:p>
            <a:r>
              <a:rPr lang="en-US" dirty="0" smtClean="0">
                <a:latin typeface="Times New Roman" pitchFamily="18" charset="0"/>
                <a:cs typeface="Times New Roman" pitchFamily="18" charset="0"/>
              </a:rPr>
              <a:t>The internal DC out-of-plane magnetic field </a:t>
            </a:r>
            <a:r>
              <a:rPr lang="en-US" i="1" dirty="0" smtClean="0">
                <a:latin typeface="Times New Roman" pitchFamily="18" charset="0"/>
                <a:cs typeface="Times New Roman" pitchFamily="18" charset="0"/>
              </a:rPr>
              <a:t>H</a:t>
            </a:r>
            <a:r>
              <a:rPr lang="en-US" baseline="-25000" dirty="0" smtClean="0">
                <a:latin typeface="Times New Roman" pitchFamily="18" charset="0"/>
                <a:cs typeface="Times New Roman" pitchFamily="18" charset="0"/>
              </a:rPr>
              <a:t>0</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is </a:t>
            </a:r>
          </a:p>
          <a:p>
            <a:r>
              <a:rPr lang="en-US" dirty="0" smtClean="0">
                <a:latin typeface="Times New Roman" pitchFamily="18" charset="0"/>
                <a:cs typeface="Times New Roman" pitchFamily="18" charset="0"/>
              </a:rPr>
              <a:t>considered uniform</a:t>
            </a:r>
          </a:p>
        </p:txBody>
      </p:sp>
      <p:cxnSp>
        <p:nvCxnSpPr>
          <p:cNvPr id="9" name="Straight Arrow Connector 8"/>
          <p:cNvCxnSpPr>
            <a:endCxn id="13" idx="7"/>
          </p:cNvCxnSpPr>
          <p:nvPr/>
        </p:nvCxnSpPr>
        <p:spPr>
          <a:xfrm flipH="1">
            <a:off x="6759533" y="2204864"/>
            <a:ext cx="620779" cy="8342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bwMode="auto">
          <a:xfrm>
            <a:off x="6498916" y="2996952"/>
            <a:ext cx="305332" cy="288032"/>
          </a:xfrm>
          <a:prstGeom prst="ellipse">
            <a:avLst/>
          </a:prstGeom>
          <a:noFill/>
          <a:ln w="9525">
            <a:solidFill>
              <a:schemeClr val="accent1"/>
            </a:solidFill>
            <a:miter lim="800000"/>
            <a:headEnd/>
            <a:tailEnd/>
          </a:ln>
        </p:spPr>
        <p:txBody>
          <a:bodyPr wrap="none" rtlCol="0" anchor="ctr"/>
          <a:lstStyle/>
          <a:p>
            <a:pPr algn="ctr"/>
            <a:endParaRPr lang="en-US">
              <a:latin typeface="Calibri" pitchFamily="34" charset="0"/>
            </a:endParaRPr>
          </a:p>
        </p:txBody>
      </p:sp>
    </p:spTree>
    <p:extLst>
      <p:ext uri="{BB962C8B-B14F-4D97-AF65-F5344CB8AC3E}">
        <p14:creationId xmlns:p14="http://schemas.microsoft.com/office/powerpoint/2010/main" val="15332905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permeability</a:t>
            </a:r>
            <a:endParaRPr lang="en-US" dirty="0"/>
          </a:p>
        </p:txBody>
      </p:sp>
      <p:sp>
        <p:nvSpPr>
          <p:cNvPr id="4" name="TextBox 3"/>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Microwave ferrite circulator: nonlinear permeability</a:t>
            </a:r>
          </a:p>
        </p:txBody>
      </p:sp>
      <p:sp>
        <p:nvSpPr>
          <p:cNvPr id="5" name="TextBox 4"/>
          <p:cNvSpPr txBox="1"/>
          <p:nvPr/>
        </p:nvSpPr>
        <p:spPr>
          <a:xfrm>
            <a:off x="431540" y="1358766"/>
            <a:ext cx="8280920" cy="2862322"/>
          </a:xfrm>
          <a:prstGeom prst="rect">
            <a:avLst/>
          </a:prstGeom>
          <a:noFill/>
        </p:spPr>
        <p:txBody>
          <a:bodyPr wrap="square" rtlCol="0">
            <a:spAutoFit/>
          </a:bodyPr>
          <a:lstStyle/>
          <a:p>
            <a:pPr marL="285750" indent="-285750">
              <a:buFont typeface="Arial" pitchFamily="34" charset="0"/>
              <a:buChar char="•"/>
            </a:pPr>
            <a:r>
              <a:rPr lang="en-US" dirty="0" smtClean="0">
                <a:latin typeface="Times New Roman" pitchFamily="18" charset="0"/>
                <a:cs typeface="Times New Roman" pitchFamily="18" charset="0"/>
              </a:rPr>
              <a:t>To derive a nonlinear permeability of the ferrite at microwave frequencies, the total magnetic induction and field are given by:</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The macroscopic equation of motion is</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and expressing equation for each component of the magnetization in frequency domain</a:t>
            </a:r>
          </a:p>
        </p:txBody>
      </p:sp>
      <p:graphicFrame>
        <p:nvGraphicFramePr>
          <p:cNvPr id="7" name="Object 6"/>
          <p:cNvGraphicFramePr>
            <a:graphicFrameLocks noChangeAspect="1"/>
          </p:cNvGraphicFramePr>
          <p:nvPr>
            <p:extLst>
              <p:ext uri="{D42A27DB-BD31-4B8C-83A1-F6EECF244321}">
                <p14:modId xmlns:p14="http://schemas.microsoft.com/office/powerpoint/2010/main" val="3191830599"/>
              </p:ext>
            </p:extLst>
          </p:nvPr>
        </p:nvGraphicFramePr>
        <p:xfrm>
          <a:off x="3086100" y="2222500"/>
          <a:ext cx="2971800" cy="292100"/>
        </p:xfrm>
        <a:graphic>
          <a:graphicData uri="http://schemas.openxmlformats.org/presentationml/2006/ole">
            <mc:AlternateContent xmlns:mc="http://schemas.openxmlformats.org/markup-compatibility/2006">
              <mc:Choice xmlns:v="urn:schemas-microsoft-com:vml" Requires="v">
                <p:oleObj spid="_x0000_s14384" name="Equation" r:id="rId3" imgW="2971800" imgH="291960" progId="Equation.DSMT4">
                  <p:embed/>
                </p:oleObj>
              </mc:Choice>
              <mc:Fallback>
                <p:oleObj name="Equation" r:id="rId3" imgW="2971800" imgH="291960" progId="Equation.DSMT4">
                  <p:embed/>
                  <p:pic>
                    <p:nvPicPr>
                      <p:cNvPr id="0" name=""/>
                      <p:cNvPicPr/>
                      <p:nvPr/>
                    </p:nvPicPr>
                    <p:blipFill>
                      <a:blip r:embed="rId4"/>
                      <a:stretch>
                        <a:fillRect/>
                      </a:stretch>
                    </p:blipFill>
                    <p:spPr>
                      <a:xfrm>
                        <a:off x="3086100" y="2222500"/>
                        <a:ext cx="2971800" cy="2921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4112587841"/>
              </p:ext>
            </p:extLst>
          </p:nvPr>
        </p:nvGraphicFramePr>
        <p:xfrm>
          <a:off x="3563888" y="3230974"/>
          <a:ext cx="1765300" cy="571500"/>
        </p:xfrm>
        <a:graphic>
          <a:graphicData uri="http://schemas.openxmlformats.org/presentationml/2006/ole">
            <mc:AlternateContent xmlns:mc="http://schemas.openxmlformats.org/markup-compatibility/2006">
              <mc:Choice xmlns:v="urn:schemas-microsoft-com:vml" Requires="v">
                <p:oleObj spid="_x0000_s14385" name="Equation" r:id="rId5" imgW="1765080" imgH="571320" progId="Equation.DSMT4">
                  <p:embed/>
                </p:oleObj>
              </mc:Choice>
              <mc:Fallback>
                <p:oleObj name="Equation" r:id="rId5" imgW="1765080" imgH="571320" progId="Equation.DSMT4">
                  <p:embed/>
                  <p:pic>
                    <p:nvPicPr>
                      <p:cNvPr id="0" name="Object 6"/>
                      <p:cNvPicPr>
                        <a:picLocks noChangeAspect="1" noChangeArrowheads="1"/>
                      </p:cNvPicPr>
                      <p:nvPr/>
                    </p:nvPicPr>
                    <p:blipFill>
                      <a:blip r:embed="rId6"/>
                      <a:srcRect/>
                      <a:stretch>
                        <a:fillRect/>
                      </a:stretch>
                    </p:blipFill>
                    <p:spPr bwMode="auto">
                      <a:xfrm>
                        <a:off x="3563888" y="3230974"/>
                        <a:ext cx="17653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704162641"/>
              </p:ext>
            </p:extLst>
          </p:nvPr>
        </p:nvGraphicFramePr>
        <p:xfrm>
          <a:off x="2597150" y="4353148"/>
          <a:ext cx="3949700" cy="1308100"/>
        </p:xfrm>
        <a:graphic>
          <a:graphicData uri="http://schemas.openxmlformats.org/presentationml/2006/ole">
            <mc:AlternateContent xmlns:mc="http://schemas.openxmlformats.org/markup-compatibility/2006">
              <mc:Choice xmlns:v="urn:schemas-microsoft-com:vml" Requires="v">
                <p:oleObj spid="_x0000_s14386" name="Equation" r:id="rId7" imgW="3949560" imgH="1307880" progId="Equation.DSMT4">
                  <p:embed/>
                </p:oleObj>
              </mc:Choice>
              <mc:Fallback>
                <p:oleObj name="Equation" r:id="rId7" imgW="3949560" imgH="1307880" progId="Equation.DSMT4">
                  <p:embed/>
                  <p:pic>
                    <p:nvPicPr>
                      <p:cNvPr id="0" name="Object 7"/>
                      <p:cNvPicPr>
                        <a:picLocks noChangeAspect="1" noChangeArrowheads="1"/>
                      </p:cNvPicPr>
                      <p:nvPr/>
                    </p:nvPicPr>
                    <p:blipFill>
                      <a:blip r:embed="rId8"/>
                      <a:srcRect/>
                      <a:stretch>
                        <a:fillRect/>
                      </a:stretch>
                    </p:blipFill>
                    <p:spPr bwMode="auto">
                      <a:xfrm>
                        <a:off x="2597150" y="4353148"/>
                        <a:ext cx="3949700"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847906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permeability</a:t>
            </a:r>
            <a:endParaRPr lang="en-US" dirty="0"/>
          </a:p>
        </p:txBody>
      </p:sp>
      <p:sp>
        <p:nvSpPr>
          <p:cNvPr id="3" name="TextBox 2"/>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Microwave ferrite circulator: nonlinear permeability</a:t>
            </a:r>
          </a:p>
        </p:txBody>
      </p:sp>
      <p:sp>
        <p:nvSpPr>
          <p:cNvPr id="8" name="TextBox 7"/>
          <p:cNvSpPr txBox="1"/>
          <p:nvPr/>
        </p:nvSpPr>
        <p:spPr>
          <a:xfrm>
            <a:off x="431540" y="1358766"/>
            <a:ext cx="8280920" cy="4247317"/>
          </a:xfrm>
          <a:prstGeom prst="rect">
            <a:avLst/>
          </a:prstGeom>
          <a:noFill/>
        </p:spPr>
        <p:txBody>
          <a:bodyPr wrap="square" rtlCol="0">
            <a:spAutoFit/>
          </a:bodyPr>
          <a:lstStyle/>
          <a:p>
            <a:pPr marL="285750" indent="-285750">
              <a:buFont typeface="Arial" pitchFamily="34" charset="0"/>
              <a:buChar char="•"/>
            </a:pPr>
            <a:r>
              <a:rPr lang="en-US" dirty="0" smtClean="0">
                <a:latin typeface="Times New Roman" pitchFamily="18" charset="0"/>
                <a:cs typeface="Times New Roman" pitchFamily="18" charset="0"/>
              </a:rPr>
              <a:t>By solving the previous system of equations, the following nonlinear relative permeability tensor is obtained:</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Magnetic losses are added letting</a:t>
            </a:r>
          </a:p>
        </p:txBody>
      </p:sp>
      <p:graphicFrame>
        <p:nvGraphicFramePr>
          <p:cNvPr id="13" name="Object 12"/>
          <p:cNvGraphicFramePr>
            <a:graphicFrameLocks noChangeAspect="1"/>
          </p:cNvGraphicFramePr>
          <p:nvPr>
            <p:extLst>
              <p:ext uri="{D42A27DB-BD31-4B8C-83A1-F6EECF244321}">
                <p14:modId xmlns:p14="http://schemas.microsoft.com/office/powerpoint/2010/main" val="2575419089"/>
              </p:ext>
            </p:extLst>
          </p:nvPr>
        </p:nvGraphicFramePr>
        <p:xfrm>
          <a:off x="2943076" y="2174875"/>
          <a:ext cx="3213100" cy="2616200"/>
        </p:xfrm>
        <a:graphic>
          <a:graphicData uri="http://schemas.openxmlformats.org/presentationml/2006/ole">
            <mc:AlternateContent xmlns:mc="http://schemas.openxmlformats.org/markup-compatibility/2006">
              <mc:Choice xmlns:v="urn:schemas-microsoft-com:vml" Requires="v">
                <p:oleObj spid="_x0000_s15389" name="Equation" r:id="rId3" imgW="3213000" imgH="2616120" progId="Equation.DSMT4">
                  <p:embed/>
                </p:oleObj>
              </mc:Choice>
              <mc:Fallback>
                <p:oleObj name="Equation" r:id="rId3" imgW="3213000" imgH="261612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3076" y="2174875"/>
                        <a:ext cx="3213100"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2011451262"/>
              </p:ext>
            </p:extLst>
          </p:nvPr>
        </p:nvGraphicFramePr>
        <p:xfrm>
          <a:off x="3851920" y="5877272"/>
          <a:ext cx="1473200" cy="292100"/>
        </p:xfrm>
        <a:graphic>
          <a:graphicData uri="http://schemas.openxmlformats.org/presentationml/2006/ole">
            <mc:AlternateContent xmlns:mc="http://schemas.openxmlformats.org/markup-compatibility/2006">
              <mc:Choice xmlns:v="urn:schemas-microsoft-com:vml" Requires="v">
                <p:oleObj spid="_x0000_s15390" name="Equation" r:id="rId5" imgW="1473120" imgH="291960" progId="Equation.DSMT4">
                  <p:embed/>
                </p:oleObj>
              </mc:Choice>
              <mc:Fallback>
                <p:oleObj name="Equation" r:id="rId5" imgW="1473120" imgH="291960" progId="Equation.DSMT4">
                  <p:embed/>
                  <p:pic>
                    <p:nvPicPr>
                      <p:cNvPr id="0" name=""/>
                      <p:cNvPicPr/>
                      <p:nvPr/>
                    </p:nvPicPr>
                    <p:blipFill>
                      <a:blip r:embed="rId6"/>
                      <a:stretch>
                        <a:fillRect/>
                      </a:stretch>
                    </p:blipFill>
                    <p:spPr>
                      <a:xfrm>
                        <a:off x="3851920" y="5877272"/>
                        <a:ext cx="1473200" cy="292100"/>
                      </a:xfrm>
                      <a:prstGeom prst="rect">
                        <a:avLst/>
                      </a:prstGeom>
                    </p:spPr>
                  </p:pic>
                </p:oleObj>
              </mc:Fallback>
            </mc:AlternateContent>
          </a:graphicData>
        </a:graphic>
      </p:graphicFrame>
    </p:spTree>
    <p:extLst>
      <p:ext uri="{BB962C8B-B14F-4D97-AF65-F5344CB8AC3E}">
        <p14:creationId xmlns:p14="http://schemas.microsoft.com/office/powerpoint/2010/main" val="12282731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permeability</a:t>
            </a:r>
            <a:endParaRPr lang="en-US" dirty="0"/>
          </a:p>
        </p:txBody>
      </p:sp>
      <p:sp>
        <p:nvSpPr>
          <p:cNvPr id="3" name="TextBox 2"/>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Microwave ferrite circulator: HBFE for intermodulation products</a:t>
            </a:r>
          </a:p>
        </p:txBody>
      </p:sp>
      <p:sp>
        <p:nvSpPr>
          <p:cNvPr id="4" name="TextBox 3"/>
          <p:cNvSpPr txBox="1"/>
          <p:nvPr/>
        </p:nvSpPr>
        <p:spPr>
          <a:xfrm>
            <a:off x="431540" y="1358766"/>
            <a:ext cx="8280920" cy="2585323"/>
          </a:xfrm>
          <a:prstGeom prst="rect">
            <a:avLst/>
          </a:prstGeom>
          <a:noFill/>
        </p:spPr>
        <p:txBody>
          <a:bodyPr wrap="square" rtlCol="0">
            <a:spAutoFit/>
          </a:bodyPr>
          <a:lstStyle/>
          <a:p>
            <a:pPr marL="285750" indent="-285750">
              <a:buFont typeface="Arial" pitchFamily="34" charset="0"/>
              <a:buChar char="•"/>
            </a:pPr>
            <a:r>
              <a:rPr lang="en-US" dirty="0" smtClean="0">
                <a:latin typeface="Times New Roman" pitchFamily="18" charset="0"/>
                <a:cs typeface="Times New Roman" pitchFamily="18" charset="0"/>
              </a:rPr>
              <a:t>Two signals </a:t>
            </a:r>
            <a:r>
              <a:rPr lang="en-US" dirty="0" smtClean="0">
                <a:latin typeface="Times New Roman" pitchFamily="18" charset="0"/>
                <a:cs typeface="Times New Roman" pitchFamily="18" charset="0"/>
              </a:rPr>
              <a:t>at </a:t>
            </a:r>
            <a:r>
              <a:rPr lang="el-GR" i="1" dirty="0" smtClean="0">
                <a:latin typeface="Times New Roman" pitchFamily="18" charset="0"/>
                <a:cs typeface="Times New Roman" pitchFamily="18" charset="0"/>
              </a:rPr>
              <a:t>ω</a:t>
            </a:r>
            <a:r>
              <a:rPr lang="it-IT" baseline="-25000" dirty="0" smtClean="0">
                <a:latin typeface="Times New Roman" pitchFamily="18" charset="0"/>
                <a:cs typeface="Times New Roman" pitchFamily="18" charset="0"/>
              </a:rPr>
              <a:t>1 </a:t>
            </a:r>
            <a:r>
              <a:rPr lang="it-IT" dirty="0" smtClean="0">
                <a:latin typeface="Times New Roman" pitchFamily="18" charset="0"/>
                <a:cs typeface="Times New Roman" pitchFamily="18" charset="0"/>
              </a:rPr>
              <a:t> and </a:t>
            </a:r>
            <a:r>
              <a:rPr lang="el-GR" i="1" dirty="0" smtClean="0">
                <a:latin typeface="Times New Roman" pitchFamily="18" charset="0"/>
                <a:cs typeface="Times New Roman" pitchFamily="18" charset="0"/>
              </a:rPr>
              <a:t>ω</a:t>
            </a:r>
            <a:r>
              <a:rPr lang="it-IT" baseline="-25000" dirty="0" smtClean="0">
                <a:latin typeface="Times New Roman" pitchFamily="18" charset="0"/>
                <a:cs typeface="Times New Roman" pitchFamily="18" charset="0"/>
              </a:rPr>
              <a:t>2  </a:t>
            </a:r>
            <a:r>
              <a:rPr lang="en-US" dirty="0" smtClean="0">
                <a:latin typeface="Times New Roman" pitchFamily="18" charset="0"/>
                <a:cs typeface="Times New Roman" pitchFamily="18" charset="0"/>
              </a:rPr>
              <a:t>impinging on the </a:t>
            </a:r>
            <a:r>
              <a:rPr lang="en-US" dirty="0" smtClean="0">
                <a:latin typeface="Times New Roman" pitchFamily="18" charset="0"/>
                <a:cs typeface="Times New Roman" pitchFamily="18" charset="0"/>
              </a:rPr>
              <a:t>device are considered. </a:t>
            </a:r>
            <a:r>
              <a:rPr lang="en-US" dirty="0" smtClean="0">
                <a:latin typeface="Times New Roman" pitchFamily="18" charset="0"/>
                <a:cs typeface="Times New Roman" pitchFamily="18" charset="0"/>
              </a:rPr>
              <a:t>The out-of-plane electric field is hence expressed in terms of harmonic </a:t>
            </a:r>
            <a:r>
              <a:rPr lang="en-US" dirty="0" smtClean="0">
                <a:latin typeface="Times New Roman" pitchFamily="18" charset="0"/>
                <a:cs typeface="Times New Roman" pitchFamily="18" charset="0"/>
              </a:rPr>
              <a:t>functions as</a:t>
            </a: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and so will be the magnetic in-plane components.</a:t>
            </a:r>
          </a:p>
          <a:p>
            <a:endParaRPr lang="en-US" dirty="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Ferrite permeability is also expressed in terms of harmonic functions, with coefficients given by, for example for the </a:t>
            </a:r>
            <a:r>
              <a:rPr lang="en-US" dirty="0" smtClean="0">
                <a:latin typeface="Times New Roman" pitchFamily="18" charset="0"/>
                <a:cs typeface="Times New Roman" pitchFamily="18" charset="0"/>
              </a:rPr>
              <a:t>diagonal </a:t>
            </a:r>
            <a:r>
              <a:rPr lang="en-US" dirty="0" smtClean="0">
                <a:latin typeface="Times New Roman" pitchFamily="18" charset="0"/>
                <a:cs typeface="Times New Roman" pitchFamily="18" charset="0"/>
              </a:rPr>
              <a:t>ones of the permeability tensor:</a:t>
            </a:r>
          </a:p>
        </p:txBody>
      </p:sp>
      <p:graphicFrame>
        <p:nvGraphicFramePr>
          <p:cNvPr id="5" name="Object 4"/>
          <p:cNvGraphicFramePr>
            <a:graphicFrameLocks noChangeAspect="1"/>
          </p:cNvGraphicFramePr>
          <p:nvPr>
            <p:extLst>
              <p:ext uri="{D42A27DB-BD31-4B8C-83A1-F6EECF244321}">
                <p14:modId xmlns:p14="http://schemas.microsoft.com/office/powerpoint/2010/main" val="1132563652"/>
              </p:ext>
            </p:extLst>
          </p:nvPr>
        </p:nvGraphicFramePr>
        <p:xfrm>
          <a:off x="827584" y="2204864"/>
          <a:ext cx="7467600" cy="381000"/>
        </p:xfrm>
        <a:graphic>
          <a:graphicData uri="http://schemas.openxmlformats.org/presentationml/2006/ole">
            <mc:AlternateContent xmlns:mc="http://schemas.openxmlformats.org/markup-compatibility/2006">
              <mc:Choice xmlns:v="urn:schemas-microsoft-com:vml" Requires="v">
                <p:oleObj spid="_x0000_s16413" name="Equation" r:id="rId3" imgW="7467480" imgH="380880" progId="Equation.DSMT4">
                  <p:embed/>
                </p:oleObj>
              </mc:Choice>
              <mc:Fallback>
                <p:oleObj name="Equation" r:id="rId3" imgW="7467480" imgH="380880" progId="Equation.DSMT4">
                  <p:embed/>
                  <p:pic>
                    <p:nvPicPr>
                      <p:cNvPr id="0" name=""/>
                      <p:cNvPicPr/>
                      <p:nvPr/>
                    </p:nvPicPr>
                    <p:blipFill>
                      <a:blip r:embed="rId4"/>
                      <a:stretch>
                        <a:fillRect/>
                      </a:stretch>
                    </p:blipFill>
                    <p:spPr>
                      <a:xfrm>
                        <a:off x="827584" y="2204864"/>
                        <a:ext cx="7467600" cy="3810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543384487"/>
              </p:ext>
            </p:extLst>
          </p:nvPr>
        </p:nvGraphicFramePr>
        <p:xfrm>
          <a:off x="2357438" y="3898900"/>
          <a:ext cx="4864100" cy="2641600"/>
        </p:xfrm>
        <a:graphic>
          <a:graphicData uri="http://schemas.openxmlformats.org/presentationml/2006/ole">
            <mc:AlternateContent xmlns:mc="http://schemas.openxmlformats.org/markup-compatibility/2006">
              <mc:Choice xmlns:v="urn:schemas-microsoft-com:vml" Requires="v">
                <p:oleObj spid="_x0000_s16414" name="Equation" r:id="rId5" imgW="4863960" imgH="2641320" progId="Equation.DSMT4">
                  <p:embed/>
                </p:oleObj>
              </mc:Choice>
              <mc:Fallback>
                <p:oleObj name="Equation" r:id="rId5" imgW="4863960" imgH="2641320" progId="Equation.DSMT4">
                  <p:embed/>
                  <p:pic>
                    <p:nvPicPr>
                      <p:cNvPr id="0" name=""/>
                      <p:cNvPicPr/>
                      <p:nvPr/>
                    </p:nvPicPr>
                    <p:blipFill>
                      <a:blip r:embed="rId6"/>
                      <a:stretch>
                        <a:fillRect/>
                      </a:stretch>
                    </p:blipFill>
                    <p:spPr>
                      <a:xfrm>
                        <a:off x="2357438" y="3898900"/>
                        <a:ext cx="4864100" cy="2641600"/>
                      </a:xfrm>
                      <a:prstGeom prst="rect">
                        <a:avLst/>
                      </a:prstGeom>
                    </p:spPr>
                  </p:pic>
                </p:oleObj>
              </mc:Fallback>
            </mc:AlternateContent>
          </a:graphicData>
        </a:graphic>
      </p:graphicFrame>
    </p:spTree>
    <p:extLst>
      <p:ext uri="{BB962C8B-B14F-4D97-AF65-F5344CB8AC3E}">
        <p14:creationId xmlns:p14="http://schemas.microsoft.com/office/powerpoint/2010/main" val="41358092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Microwave ferrite circulator: HBFE for intermodulation products</a:t>
            </a:r>
          </a:p>
        </p:txBody>
      </p:sp>
      <p:sp>
        <p:nvSpPr>
          <p:cNvPr id="4" name="Content Placeholder 1"/>
          <p:cNvSpPr>
            <a:spLocks noGrp="1"/>
          </p:cNvSpPr>
          <p:nvPr>
            <p:ph idx="1"/>
          </p:nvPr>
        </p:nvSpPr>
        <p:spPr/>
        <p:txBody>
          <a:bodyPr/>
          <a:lstStyle/>
          <a:p>
            <a:r>
              <a:rPr lang="en-US" dirty="0"/>
              <a:t>Numerical experiments: Nonlinear </a:t>
            </a:r>
            <a:r>
              <a:rPr lang="en-US" dirty="0" smtClean="0"/>
              <a:t>permeability</a:t>
            </a:r>
            <a:endParaRPr lang="en-US" dirty="0"/>
          </a:p>
        </p:txBody>
      </p:sp>
      <p:grpSp>
        <p:nvGrpSpPr>
          <p:cNvPr id="11" name="Group 10"/>
          <p:cNvGrpSpPr/>
          <p:nvPr/>
        </p:nvGrpSpPr>
        <p:grpSpPr>
          <a:xfrm>
            <a:off x="2020888" y="1163737"/>
            <a:ext cx="4862511" cy="1473175"/>
            <a:chOff x="1684063" y="1914244"/>
            <a:chExt cx="5286429" cy="1473175"/>
          </a:xfrm>
        </p:grpSpPr>
        <p:grpSp>
          <p:nvGrpSpPr>
            <p:cNvPr id="10" name="Group 9"/>
            <p:cNvGrpSpPr/>
            <p:nvPr/>
          </p:nvGrpSpPr>
          <p:grpSpPr>
            <a:xfrm>
              <a:off x="1684063" y="2132856"/>
              <a:ext cx="5286429" cy="1254563"/>
              <a:chOff x="27879" y="1309836"/>
              <a:chExt cx="5286429" cy="1254563"/>
            </a:xfrm>
          </p:grpSpPr>
          <p:pic>
            <p:nvPicPr>
              <p:cNvPr id="17410" name="Picture 2" descr="C:\Users\Laurent\Desktop\circSimb.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8740" y="1389984"/>
                <a:ext cx="927100" cy="10699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Object 4"/>
              <p:cNvGraphicFramePr>
                <a:graphicFrameLocks noChangeAspect="1"/>
              </p:cNvGraphicFramePr>
              <p:nvPr>
                <p:extLst>
                  <p:ext uri="{D42A27DB-BD31-4B8C-83A1-F6EECF244321}">
                    <p14:modId xmlns:p14="http://schemas.microsoft.com/office/powerpoint/2010/main" val="2058359432"/>
                  </p:ext>
                </p:extLst>
              </p:nvPr>
            </p:nvGraphicFramePr>
            <p:xfrm>
              <a:off x="27879" y="1753187"/>
              <a:ext cx="1983058" cy="342900"/>
            </p:xfrm>
            <a:graphic>
              <a:graphicData uri="http://schemas.openxmlformats.org/presentationml/2006/ole">
                <mc:AlternateContent xmlns:mc="http://schemas.openxmlformats.org/markup-compatibility/2006">
                  <mc:Choice xmlns:v="urn:schemas-microsoft-com:vml" Requires="v">
                    <p:oleObj spid="_x0000_s17574" name="Equation" r:id="rId4" imgW="1981080" imgH="342720" progId="Equation.DSMT4">
                      <p:embed/>
                    </p:oleObj>
                  </mc:Choice>
                  <mc:Fallback>
                    <p:oleObj name="Equation" r:id="rId4" imgW="1981080" imgH="342720" progId="Equation.DSMT4">
                      <p:embed/>
                      <p:pic>
                        <p:nvPicPr>
                          <p:cNvPr id="0" name=""/>
                          <p:cNvPicPr/>
                          <p:nvPr/>
                        </p:nvPicPr>
                        <p:blipFill>
                          <a:blip r:embed="rId5"/>
                          <a:stretch>
                            <a:fillRect/>
                          </a:stretch>
                        </p:blipFill>
                        <p:spPr>
                          <a:xfrm>
                            <a:off x="27879" y="1753187"/>
                            <a:ext cx="1983058" cy="3429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701196615"/>
                  </p:ext>
                </p:extLst>
              </p:nvPr>
            </p:nvGraphicFramePr>
            <p:xfrm>
              <a:off x="3662623" y="2272299"/>
              <a:ext cx="1651685" cy="292100"/>
            </p:xfrm>
            <a:graphic>
              <a:graphicData uri="http://schemas.openxmlformats.org/presentationml/2006/ole">
                <mc:AlternateContent xmlns:mc="http://schemas.openxmlformats.org/markup-compatibility/2006">
                  <mc:Choice xmlns:v="urn:schemas-microsoft-com:vml" Requires="v">
                    <p:oleObj spid="_x0000_s17575" name="Equation" r:id="rId6" imgW="1650960" imgH="291960" progId="Equation.DSMT4">
                      <p:embed/>
                    </p:oleObj>
                  </mc:Choice>
                  <mc:Fallback>
                    <p:oleObj name="Equation" r:id="rId6" imgW="1650960" imgH="291960" progId="Equation.DSMT4">
                      <p:embed/>
                      <p:pic>
                        <p:nvPicPr>
                          <p:cNvPr id="0" name="Object 4"/>
                          <p:cNvPicPr>
                            <a:picLocks noChangeAspect="1" noChangeArrowheads="1"/>
                          </p:cNvPicPr>
                          <p:nvPr/>
                        </p:nvPicPr>
                        <p:blipFill>
                          <a:blip r:embed="rId7"/>
                          <a:srcRect/>
                          <a:stretch>
                            <a:fillRect/>
                          </a:stretch>
                        </p:blipFill>
                        <p:spPr bwMode="auto">
                          <a:xfrm>
                            <a:off x="3662623" y="2272299"/>
                            <a:ext cx="165168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171081861"/>
                  </p:ext>
                </p:extLst>
              </p:nvPr>
            </p:nvGraphicFramePr>
            <p:xfrm>
              <a:off x="2258740" y="1924971"/>
              <a:ext cx="114300" cy="215900"/>
            </p:xfrm>
            <a:graphic>
              <a:graphicData uri="http://schemas.openxmlformats.org/presentationml/2006/ole">
                <mc:AlternateContent xmlns:mc="http://schemas.openxmlformats.org/markup-compatibility/2006">
                  <mc:Choice xmlns:v="urn:schemas-microsoft-com:vml" Requires="v">
                    <p:oleObj spid="_x0000_s17576" name="Equation" r:id="rId8" imgW="114120" imgH="215640" progId="Equation.DSMT4">
                      <p:embed/>
                    </p:oleObj>
                  </mc:Choice>
                  <mc:Fallback>
                    <p:oleObj name="Equation" r:id="rId8" imgW="114120" imgH="215640" progId="Equation.DSMT4">
                      <p:embed/>
                      <p:pic>
                        <p:nvPicPr>
                          <p:cNvPr id="0" name="Object 5"/>
                          <p:cNvPicPr>
                            <a:picLocks noChangeAspect="1" noChangeArrowheads="1"/>
                          </p:cNvPicPr>
                          <p:nvPr/>
                        </p:nvPicPr>
                        <p:blipFill>
                          <a:blip r:embed="rId9"/>
                          <a:srcRect/>
                          <a:stretch>
                            <a:fillRect/>
                          </a:stretch>
                        </p:blipFill>
                        <p:spPr bwMode="auto">
                          <a:xfrm>
                            <a:off x="2258740" y="1924971"/>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732142502"/>
                  </p:ext>
                </p:extLst>
              </p:nvPr>
            </p:nvGraphicFramePr>
            <p:xfrm>
              <a:off x="3190875" y="1309836"/>
              <a:ext cx="152400" cy="215900"/>
            </p:xfrm>
            <a:graphic>
              <a:graphicData uri="http://schemas.openxmlformats.org/presentationml/2006/ole">
                <mc:AlternateContent xmlns:mc="http://schemas.openxmlformats.org/markup-compatibility/2006">
                  <mc:Choice xmlns:v="urn:schemas-microsoft-com:vml" Requires="v">
                    <p:oleObj spid="_x0000_s17577" name="Equation" r:id="rId10" imgW="152280" imgH="215640" progId="Equation.DSMT4">
                      <p:embed/>
                    </p:oleObj>
                  </mc:Choice>
                  <mc:Fallback>
                    <p:oleObj name="Equation" r:id="rId10" imgW="152280" imgH="215640" progId="Equation.DSMT4">
                      <p:embed/>
                      <p:pic>
                        <p:nvPicPr>
                          <p:cNvPr id="0" name="Object 6"/>
                          <p:cNvPicPr>
                            <a:picLocks noChangeAspect="1" noChangeArrowheads="1"/>
                          </p:cNvPicPr>
                          <p:nvPr/>
                        </p:nvPicPr>
                        <p:blipFill>
                          <a:blip r:embed="rId11"/>
                          <a:srcRect/>
                          <a:stretch>
                            <a:fillRect/>
                          </a:stretch>
                        </p:blipFill>
                        <p:spPr bwMode="auto">
                          <a:xfrm>
                            <a:off x="3190875" y="1309836"/>
                            <a:ext cx="152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001236230"/>
                  </p:ext>
                </p:extLst>
              </p:nvPr>
            </p:nvGraphicFramePr>
            <p:xfrm>
              <a:off x="3192463" y="2233364"/>
              <a:ext cx="139700" cy="228600"/>
            </p:xfrm>
            <a:graphic>
              <a:graphicData uri="http://schemas.openxmlformats.org/presentationml/2006/ole">
                <mc:AlternateContent xmlns:mc="http://schemas.openxmlformats.org/markup-compatibility/2006">
                  <mc:Choice xmlns:v="urn:schemas-microsoft-com:vml" Requires="v">
                    <p:oleObj spid="_x0000_s17578" name="Equation" r:id="rId12" imgW="139680" imgH="228600" progId="Equation.DSMT4">
                      <p:embed/>
                    </p:oleObj>
                  </mc:Choice>
                  <mc:Fallback>
                    <p:oleObj name="Equation" r:id="rId12" imgW="139680" imgH="228600" progId="Equation.DSMT4">
                      <p:embed/>
                      <p:pic>
                        <p:nvPicPr>
                          <p:cNvPr id="0" name="Object 7"/>
                          <p:cNvPicPr>
                            <a:picLocks noChangeAspect="1" noChangeArrowheads="1"/>
                          </p:cNvPicPr>
                          <p:nvPr/>
                        </p:nvPicPr>
                        <p:blipFill>
                          <a:blip r:embed="rId13"/>
                          <a:srcRect/>
                          <a:stretch>
                            <a:fillRect/>
                          </a:stretch>
                        </p:blipFill>
                        <p:spPr bwMode="auto">
                          <a:xfrm>
                            <a:off x="3192463" y="2233364"/>
                            <a:ext cx="139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2" name="Object 11"/>
            <p:cNvGraphicFramePr>
              <a:graphicFrameLocks noChangeAspect="1"/>
            </p:cNvGraphicFramePr>
            <p:nvPr>
              <p:extLst>
                <p:ext uri="{D42A27DB-BD31-4B8C-83A1-F6EECF244321}">
                  <p14:modId xmlns:p14="http://schemas.microsoft.com/office/powerpoint/2010/main" val="302298584"/>
                </p:ext>
              </p:extLst>
            </p:nvPr>
          </p:nvGraphicFramePr>
          <p:xfrm>
            <a:off x="5397012" y="1914244"/>
            <a:ext cx="1448029" cy="698500"/>
          </p:xfrm>
          <a:graphic>
            <a:graphicData uri="http://schemas.openxmlformats.org/presentationml/2006/ole">
              <mc:AlternateContent xmlns:mc="http://schemas.openxmlformats.org/markup-compatibility/2006">
                <mc:Choice xmlns:v="urn:schemas-microsoft-com:vml" Requires="v">
                  <p:oleObj spid="_x0000_s17579" name="Equation" r:id="rId14" imgW="1447560" imgH="698400" progId="Equation.DSMT4">
                    <p:embed/>
                  </p:oleObj>
                </mc:Choice>
                <mc:Fallback>
                  <p:oleObj name="Equation" r:id="rId14" imgW="1447560" imgH="698400" progId="Equation.DSMT4">
                    <p:embed/>
                    <p:pic>
                      <p:nvPicPr>
                        <p:cNvPr id="0" name=""/>
                        <p:cNvPicPr/>
                        <p:nvPr/>
                      </p:nvPicPr>
                      <p:blipFill>
                        <a:blip r:embed="rId15"/>
                        <a:stretch>
                          <a:fillRect/>
                        </a:stretch>
                      </p:blipFill>
                      <p:spPr>
                        <a:xfrm>
                          <a:off x="5397012" y="1914244"/>
                          <a:ext cx="1448029" cy="698500"/>
                        </a:xfrm>
                        <a:prstGeom prst="rect">
                          <a:avLst/>
                        </a:prstGeom>
                      </p:spPr>
                    </p:pic>
                  </p:oleObj>
                </mc:Fallback>
              </mc:AlternateContent>
            </a:graphicData>
          </a:graphic>
        </p:graphicFrame>
      </p:grpSp>
      <p:sp>
        <p:nvSpPr>
          <p:cNvPr id="28" name="Rectangle 27"/>
          <p:cNvSpPr/>
          <p:nvPr/>
        </p:nvSpPr>
        <p:spPr>
          <a:xfrm>
            <a:off x="148873" y="6021288"/>
            <a:ext cx="8858127" cy="523220"/>
          </a:xfrm>
          <a:prstGeom prst="rect">
            <a:avLst/>
          </a:prstGeom>
          <a:ln>
            <a:solidFill>
              <a:schemeClr val="tx1"/>
            </a:solidFill>
          </a:ln>
        </p:spPr>
        <p:txBody>
          <a:bodyPr wrap="square">
            <a:spAutoFit/>
          </a:bodyPr>
          <a:lstStyle/>
          <a:p>
            <a:r>
              <a:rPr lang="it-IT" sz="1400" dirty="0" smtClean="0">
                <a:latin typeface="Times New Roman" pitchFamily="18" charset="0"/>
                <a:cs typeface="Times New Roman" pitchFamily="18" charset="0"/>
              </a:rPr>
              <a:t>H. How, C. Vittoria and R. Schmidt, “</a:t>
            </a:r>
            <a:r>
              <a:rPr lang="en-US" sz="1400" dirty="0" smtClean="0">
                <a:latin typeface="Times New Roman" pitchFamily="18" charset="0"/>
                <a:cs typeface="Times New Roman" pitchFamily="18" charset="0"/>
              </a:rPr>
              <a:t>Nonlinear </a:t>
            </a:r>
            <a:r>
              <a:rPr lang="en-US" sz="1400" dirty="0" smtClean="0">
                <a:latin typeface="Times New Roman" pitchFamily="18" charset="0"/>
                <a:cs typeface="Times New Roman" pitchFamily="18" charset="0"/>
              </a:rPr>
              <a:t>intermodulation </a:t>
            </a:r>
            <a:r>
              <a:rPr lang="en-US" sz="1400" dirty="0">
                <a:latin typeface="Times New Roman" pitchFamily="18" charset="0"/>
                <a:cs typeface="Times New Roman" pitchFamily="18" charset="0"/>
              </a:rPr>
              <a:t>c</a:t>
            </a:r>
            <a:r>
              <a:rPr lang="en-US" sz="1400" dirty="0" smtClean="0">
                <a:latin typeface="Times New Roman" pitchFamily="18" charset="0"/>
                <a:cs typeface="Times New Roman" pitchFamily="18" charset="0"/>
              </a:rPr>
              <a:t>oupling </a:t>
            </a:r>
            <a:r>
              <a:rPr lang="en-US" sz="1400" dirty="0" smtClean="0">
                <a:latin typeface="Times New Roman" pitchFamily="18" charset="0"/>
                <a:cs typeface="Times New Roman" pitchFamily="18" charset="0"/>
              </a:rPr>
              <a:t>in </a:t>
            </a:r>
            <a:r>
              <a:rPr lang="en-US" sz="1400" dirty="0" smtClean="0">
                <a:latin typeface="Times New Roman" pitchFamily="18" charset="0"/>
                <a:cs typeface="Times New Roman" pitchFamily="18" charset="0"/>
              </a:rPr>
              <a:t>ferrite </a:t>
            </a:r>
            <a:r>
              <a:rPr lang="en-US" sz="1400" dirty="0">
                <a:latin typeface="Times New Roman" pitchFamily="18" charset="0"/>
                <a:cs typeface="Times New Roman" pitchFamily="18" charset="0"/>
              </a:rPr>
              <a:t>c</a:t>
            </a:r>
            <a:r>
              <a:rPr lang="en-US" sz="1400" dirty="0" smtClean="0">
                <a:latin typeface="Times New Roman" pitchFamily="18" charset="0"/>
                <a:cs typeface="Times New Roman" pitchFamily="18" charset="0"/>
              </a:rPr>
              <a:t>irculator </a:t>
            </a:r>
            <a:r>
              <a:rPr lang="en-US" sz="1400" dirty="0">
                <a:latin typeface="Times New Roman" pitchFamily="18" charset="0"/>
                <a:cs typeface="Times New Roman" pitchFamily="18" charset="0"/>
              </a:rPr>
              <a:t>j</a:t>
            </a:r>
            <a:r>
              <a:rPr lang="en-US" sz="1400" dirty="0" smtClean="0">
                <a:latin typeface="Times New Roman" pitchFamily="18" charset="0"/>
                <a:cs typeface="Times New Roman" pitchFamily="18" charset="0"/>
              </a:rPr>
              <a:t>unctions</a:t>
            </a:r>
            <a:r>
              <a:rPr lang="en-US" sz="1400" dirty="0" smtClean="0">
                <a:latin typeface="Times New Roman" pitchFamily="18" charset="0"/>
                <a:cs typeface="Times New Roman" pitchFamily="18" charset="0"/>
              </a:rPr>
              <a:t>,” </a:t>
            </a:r>
            <a:r>
              <a:rPr lang="en-US" sz="1400" i="1" dirty="0">
                <a:latin typeface="Times New Roman" pitchFamily="18" charset="0"/>
                <a:cs typeface="Times New Roman" pitchFamily="18" charset="0"/>
              </a:rPr>
              <a:t>IEEE Trans. </a:t>
            </a:r>
            <a:r>
              <a:rPr lang="en-US" sz="1400" i="1" dirty="0" err="1" smtClean="0">
                <a:latin typeface="Times New Roman" pitchFamily="18" charset="0"/>
                <a:cs typeface="Times New Roman" pitchFamily="18" charset="0"/>
              </a:rPr>
              <a:t>Microw</a:t>
            </a:r>
            <a:r>
              <a:rPr lang="en-US" sz="1400" i="1" dirty="0" smtClean="0">
                <a:latin typeface="Times New Roman" pitchFamily="18" charset="0"/>
                <a:cs typeface="Times New Roman" pitchFamily="18" charset="0"/>
              </a:rPr>
              <a:t>. Theory Tech.</a:t>
            </a:r>
            <a:r>
              <a:rPr lang="en-US" sz="1400" dirty="0" smtClean="0">
                <a:latin typeface="Times New Roman" pitchFamily="18" charset="0"/>
                <a:cs typeface="Times New Roman" pitchFamily="18" charset="0"/>
              </a:rPr>
              <a:t>, MTT-45, </a:t>
            </a:r>
            <a:r>
              <a:rPr lang="en-US" sz="1400" dirty="0">
                <a:latin typeface="Times New Roman" pitchFamily="18" charset="0"/>
                <a:cs typeface="Times New Roman" pitchFamily="18" charset="0"/>
              </a:rPr>
              <a:t>no. 3</a:t>
            </a:r>
            <a:r>
              <a:rPr lang="en-US" sz="1400" dirty="0" smtClean="0">
                <a:latin typeface="Times New Roman" pitchFamily="18" charset="0"/>
                <a:cs typeface="Times New Roman" pitchFamily="18" charset="0"/>
              </a:rPr>
              <a:t>, </a:t>
            </a:r>
            <a:r>
              <a:rPr lang="en-US" sz="1400" dirty="0">
                <a:latin typeface="Times New Roman" pitchFamily="18" charset="0"/>
                <a:cs typeface="Times New Roman" pitchFamily="18" charset="0"/>
              </a:rPr>
              <a:t>pp. </a:t>
            </a:r>
            <a:r>
              <a:rPr lang="en-US" sz="1400" dirty="0" smtClean="0">
                <a:latin typeface="Times New Roman" pitchFamily="18" charset="0"/>
                <a:cs typeface="Times New Roman" pitchFamily="18" charset="0"/>
              </a:rPr>
              <a:t>245–252, Feb. 1997.</a:t>
            </a:r>
            <a:endParaRPr lang="en-US" sz="1400" dirty="0">
              <a:latin typeface="Times New Roman" pitchFamily="18" charset="0"/>
              <a:cs typeface="Times New Roman" pitchFamily="18" charset="0"/>
            </a:endParaRPr>
          </a:p>
        </p:txBody>
      </p:sp>
      <p:grpSp>
        <p:nvGrpSpPr>
          <p:cNvPr id="2" name="Group 1"/>
          <p:cNvGrpSpPr/>
          <p:nvPr/>
        </p:nvGrpSpPr>
        <p:grpSpPr>
          <a:xfrm>
            <a:off x="697420" y="2710536"/>
            <a:ext cx="7602566" cy="3310752"/>
            <a:chOff x="697420" y="2435998"/>
            <a:chExt cx="7602566" cy="3310752"/>
          </a:xfrm>
        </p:grpSpPr>
        <p:grpSp>
          <p:nvGrpSpPr>
            <p:cNvPr id="14" name="Group 13"/>
            <p:cNvGrpSpPr/>
            <p:nvPr/>
          </p:nvGrpSpPr>
          <p:grpSpPr>
            <a:xfrm>
              <a:off x="2427288" y="2522538"/>
              <a:ext cx="5768975" cy="330200"/>
              <a:chOff x="2267590" y="3360714"/>
              <a:chExt cx="5768975" cy="330200"/>
            </a:xfrm>
          </p:grpSpPr>
          <p:graphicFrame>
            <p:nvGraphicFramePr>
              <p:cNvPr id="16" name="Object 15"/>
              <p:cNvGraphicFramePr>
                <a:graphicFrameLocks noChangeAspect="1"/>
              </p:cNvGraphicFramePr>
              <p:nvPr>
                <p:extLst>
                  <p:ext uri="{D42A27DB-BD31-4B8C-83A1-F6EECF244321}">
                    <p14:modId xmlns:p14="http://schemas.microsoft.com/office/powerpoint/2010/main" val="1716961982"/>
                  </p:ext>
                </p:extLst>
              </p:nvPr>
            </p:nvGraphicFramePr>
            <p:xfrm>
              <a:off x="2267590" y="3360714"/>
              <a:ext cx="1447800" cy="330200"/>
            </p:xfrm>
            <a:graphic>
              <a:graphicData uri="http://schemas.openxmlformats.org/presentationml/2006/ole">
                <mc:AlternateContent xmlns:mc="http://schemas.openxmlformats.org/markup-compatibility/2006">
                  <mc:Choice xmlns:v="urn:schemas-microsoft-com:vml" Requires="v">
                    <p:oleObj spid="_x0000_s17580" name="Equation" r:id="rId16" imgW="1447560" imgH="330120" progId="Equation.DSMT4">
                      <p:embed/>
                    </p:oleObj>
                  </mc:Choice>
                  <mc:Fallback>
                    <p:oleObj name="Equation" r:id="rId16" imgW="1447560" imgH="330120" progId="Equation.DSMT4">
                      <p:embed/>
                      <p:pic>
                        <p:nvPicPr>
                          <p:cNvPr id="0" name=""/>
                          <p:cNvPicPr/>
                          <p:nvPr/>
                        </p:nvPicPr>
                        <p:blipFill>
                          <a:blip r:embed="rId17"/>
                          <a:stretch>
                            <a:fillRect/>
                          </a:stretch>
                        </p:blipFill>
                        <p:spPr>
                          <a:xfrm>
                            <a:off x="2267590" y="3360714"/>
                            <a:ext cx="1447800" cy="3302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694800821"/>
                  </p:ext>
                </p:extLst>
              </p:nvPr>
            </p:nvGraphicFramePr>
            <p:xfrm>
              <a:off x="6588765" y="3360714"/>
              <a:ext cx="1447800" cy="330200"/>
            </p:xfrm>
            <a:graphic>
              <a:graphicData uri="http://schemas.openxmlformats.org/presentationml/2006/ole">
                <mc:AlternateContent xmlns:mc="http://schemas.openxmlformats.org/markup-compatibility/2006">
                  <mc:Choice xmlns:v="urn:schemas-microsoft-com:vml" Requires="v">
                    <p:oleObj spid="_x0000_s17581" name="Equation" r:id="rId18" imgW="1447560" imgH="330120" progId="Equation.DSMT4">
                      <p:embed/>
                    </p:oleObj>
                  </mc:Choice>
                  <mc:Fallback>
                    <p:oleObj name="Equation" r:id="rId18" imgW="1447560" imgH="330120" progId="Equation.DSMT4">
                      <p:embed/>
                      <p:pic>
                        <p:nvPicPr>
                          <p:cNvPr id="0" name=""/>
                          <p:cNvPicPr/>
                          <p:nvPr/>
                        </p:nvPicPr>
                        <p:blipFill>
                          <a:blip r:embed="rId19"/>
                          <a:stretch>
                            <a:fillRect/>
                          </a:stretch>
                        </p:blipFill>
                        <p:spPr>
                          <a:xfrm>
                            <a:off x="6588765" y="3360714"/>
                            <a:ext cx="1447800" cy="330200"/>
                          </a:xfrm>
                          <a:prstGeom prst="rect">
                            <a:avLst/>
                          </a:prstGeom>
                        </p:spPr>
                      </p:pic>
                    </p:oleObj>
                  </mc:Fallback>
                </mc:AlternateContent>
              </a:graphicData>
            </a:graphic>
          </p:graphicFrame>
        </p:grpSp>
        <p:pic>
          <p:nvPicPr>
            <p:cNvPr id="17449" name="Picture 41" descr="C:\Users\Laurent\Desktop\legend.png"/>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31380" y="5013176"/>
              <a:ext cx="5053594" cy="5486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3" name="Object 22"/>
            <p:cNvGraphicFramePr>
              <a:graphicFrameLocks noChangeAspect="1"/>
            </p:cNvGraphicFramePr>
            <p:nvPr>
              <p:extLst>
                <p:ext uri="{D42A27DB-BD31-4B8C-83A1-F6EECF244321}">
                  <p14:modId xmlns:p14="http://schemas.microsoft.com/office/powerpoint/2010/main" val="743346831"/>
                </p:ext>
              </p:extLst>
            </p:nvPr>
          </p:nvGraphicFramePr>
          <p:xfrm>
            <a:off x="6378321" y="5067300"/>
            <a:ext cx="977900" cy="647700"/>
          </p:xfrm>
          <a:graphic>
            <a:graphicData uri="http://schemas.openxmlformats.org/presentationml/2006/ole">
              <mc:AlternateContent xmlns:mc="http://schemas.openxmlformats.org/markup-compatibility/2006">
                <mc:Choice xmlns:v="urn:schemas-microsoft-com:vml" Requires="v">
                  <p:oleObj spid="_x0000_s17582" name="Equation" r:id="rId21" imgW="977760" imgH="647640" progId="Equation.DSMT4">
                    <p:embed/>
                  </p:oleObj>
                </mc:Choice>
                <mc:Fallback>
                  <p:oleObj name="Equation" r:id="rId21" imgW="977760" imgH="647640" progId="Equation.DSMT4">
                    <p:embed/>
                    <p:pic>
                      <p:nvPicPr>
                        <p:cNvPr id="0" name=""/>
                        <p:cNvPicPr>
                          <a:picLocks noChangeAspect="1" noChangeArrowheads="1"/>
                        </p:cNvPicPr>
                        <p:nvPr/>
                      </p:nvPicPr>
                      <p:blipFill>
                        <a:blip r:embed="rId22"/>
                        <a:srcRect/>
                        <a:stretch>
                          <a:fillRect/>
                        </a:stretch>
                      </p:blipFill>
                      <p:spPr bwMode="auto">
                        <a:xfrm>
                          <a:off x="6378321" y="5067300"/>
                          <a:ext cx="9779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1184954990"/>
                </p:ext>
              </p:extLst>
            </p:nvPr>
          </p:nvGraphicFramePr>
          <p:xfrm>
            <a:off x="4859083" y="5054600"/>
            <a:ext cx="990600" cy="647700"/>
          </p:xfrm>
          <a:graphic>
            <a:graphicData uri="http://schemas.openxmlformats.org/presentationml/2006/ole">
              <mc:AlternateContent xmlns:mc="http://schemas.openxmlformats.org/markup-compatibility/2006">
                <mc:Choice xmlns:v="urn:schemas-microsoft-com:vml" Requires="v">
                  <p:oleObj spid="_x0000_s17583" name="Equation" r:id="rId23" imgW="990360" imgH="647640" progId="Equation.DSMT4">
                    <p:embed/>
                  </p:oleObj>
                </mc:Choice>
                <mc:Fallback>
                  <p:oleObj name="Equation" r:id="rId23" imgW="990360" imgH="647640" progId="Equation.DSMT4">
                    <p:embed/>
                    <p:pic>
                      <p:nvPicPr>
                        <p:cNvPr id="0" name="Object 22"/>
                        <p:cNvPicPr>
                          <a:picLocks noChangeAspect="1" noChangeArrowheads="1"/>
                        </p:cNvPicPr>
                        <p:nvPr/>
                      </p:nvPicPr>
                      <p:blipFill>
                        <a:blip r:embed="rId24"/>
                        <a:srcRect/>
                        <a:stretch>
                          <a:fillRect/>
                        </a:stretch>
                      </p:blipFill>
                      <p:spPr bwMode="auto">
                        <a:xfrm>
                          <a:off x="4859083" y="5054600"/>
                          <a:ext cx="990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4"/>
            <p:cNvGraphicFramePr>
              <a:graphicFrameLocks noChangeAspect="1"/>
            </p:cNvGraphicFramePr>
            <p:nvPr>
              <p:extLst>
                <p:ext uri="{D42A27DB-BD31-4B8C-83A1-F6EECF244321}">
                  <p14:modId xmlns:p14="http://schemas.microsoft.com/office/powerpoint/2010/main" val="2346563696"/>
                </p:ext>
              </p:extLst>
            </p:nvPr>
          </p:nvGraphicFramePr>
          <p:xfrm>
            <a:off x="3309683" y="5099050"/>
            <a:ext cx="1079500" cy="647700"/>
          </p:xfrm>
          <a:graphic>
            <a:graphicData uri="http://schemas.openxmlformats.org/presentationml/2006/ole">
              <mc:AlternateContent xmlns:mc="http://schemas.openxmlformats.org/markup-compatibility/2006">
                <mc:Choice xmlns:v="urn:schemas-microsoft-com:vml" Requires="v">
                  <p:oleObj spid="_x0000_s17584" name="Equation" r:id="rId25" imgW="1079280" imgH="647640" progId="Equation.DSMT4">
                    <p:embed/>
                  </p:oleObj>
                </mc:Choice>
                <mc:Fallback>
                  <p:oleObj name="Equation" r:id="rId25" imgW="1079280" imgH="647640" progId="Equation.DSMT4">
                    <p:embed/>
                    <p:pic>
                      <p:nvPicPr>
                        <p:cNvPr id="0" name=""/>
                        <p:cNvPicPr>
                          <a:picLocks noChangeAspect="1" noChangeArrowheads="1"/>
                        </p:cNvPicPr>
                        <p:nvPr/>
                      </p:nvPicPr>
                      <p:blipFill>
                        <a:blip r:embed="rId26"/>
                        <a:srcRect/>
                        <a:stretch>
                          <a:fillRect/>
                        </a:stretch>
                      </p:blipFill>
                      <p:spPr bwMode="auto">
                        <a:xfrm>
                          <a:off x="3309683" y="5099050"/>
                          <a:ext cx="10795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5"/>
            <p:cNvGraphicFramePr>
              <a:graphicFrameLocks noChangeAspect="1"/>
            </p:cNvGraphicFramePr>
            <p:nvPr>
              <p:extLst>
                <p:ext uri="{D42A27DB-BD31-4B8C-83A1-F6EECF244321}">
                  <p14:modId xmlns:p14="http://schemas.microsoft.com/office/powerpoint/2010/main" val="2011902752"/>
                </p:ext>
              </p:extLst>
            </p:nvPr>
          </p:nvGraphicFramePr>
          <p:xfrm>
            <a:off x="1769808" y="5086350"/>
            <a:ext cx="1079500" cy="647700"/>
          </p:xfrm>
          <a:graphic>
            <a:graphicData uri="http://schemas.openxmlformats.org/presentationml/2006/ole">
              <mc:AlternateContent xmlns:mc="http://schemas.openxmlformats.org/markup-compatibility/2006">
                <mc:Choice xmlns:v="urn:schemas-microsoft-com:vml" Requires="v">
                  <p:oleObj spid="_x0000_s17585" name="Equation" r:id="rId27" imgW="1079280" imgH="647640" progId="Equation.DSMT4">
                    <p:embed/>
                  </p:oleObj>
                </mc:Choice>
                <mc:Fallback>
                  <p:oleObj name="Equation" r:id="rId27" imgW="1079280" imgH="647640" progId="Equation.DSMT4">
                    <p:embed/>
                    <p:pic>
                      <p:nvPicPr>
                        <p:cNvPr id="0" name=""/>
                        <p:cNvPicPr>
                          <a:picLocks noChangeAspect="1" noChangeArrowheads="1"/>
                        </p:cNvPicPr>
                        <p:nvPr/>
                      </p:nvPicPr>
                      <p:blipFill>
                        <a:blip r:embed="rId28"/>
                        <a:srcRect/>
                        <a:stretch>
                          <a:fillRect/>
                        </a:stretch>
                      </p:blipFill>
                      <p:spPr bwMode="auto">
                        <a:xfrm>
                          <a:off x="1769808" y="5086350"/>
                          <a:ext cx="10795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7548" name="Picture 140" descr="C:\Users\Laurent\Desktop\f1ferr.png"/>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697420" y="2437293"/>
              <a:ext cx="3459182" cy="2278385"/>
            </a:xfrm>
            <a:prstGeom prst="rect">
              <a:avLst/>
            </a:prstGeom>
            <a:noFill/>
            <a:extLst>
              <a:ext uri="{909E8E84-426E-40DD-AFC4-6F175D3DCCD1}">
                <a14:hiddenFill xmlns:a14="http://schemas.microsoft.com/office/drawing/2010/main">
                  <a:solidFill>
                    <a:srgbClr val="FFFFFF"/>
                  </a:solidFill>
                </a14:hiddenFill>
              </a:ext>
            </a:extLst>
          </p:spPr>
        </p:pic>
        <p:pic>
          <p:nvPicPr>
            <p:cNvPr id="17549" name="Picture 141" descr="C:\Users\Laurent\Desktop\f2ferr.png"/>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4840804" y="2435998"/>
              <a:ext cx="3459182" cy="227838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880961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83273" y="54272"/>
            <a:ext cx="7577457" cy="422405"/>
          </a:xfrm>
        </p:spPr>
        <p:txBody>
          <a:bodyPr/>
          <a:lstStyle/>
          <a:p>
            <a:r>
              <a:rPr lang="en-US" dirty="0"/>
              <a:t>Numerical experiments: Nonlinear </a:t>
            </a:r>
            <a:r>
              <a:rPr lang="en-US" dirty="0" smtClean="0"/>
              <a:t>permeability</a:t>
            </a:r>
            <a:endParaRPr lang="en-US" dirty="0"/>
          </a:p>
        </p:txBody>
      </p:sp>
      <p:sp>
        <p:nvSpPr>
          <p:cNvPr id="3" name="TextBox 2"/>
          <p:cNvSpPr txBox="1"/>
          <p:nvPr/>
        </p:nvSpPr>
        <p:spPr>
          <a:xfrm>
            <a:off x="683568" y="635546"/>
            <a:ext cx="7776864"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Microwave ferrite circulator: Domain decomposition</a:t>
            </a:r>
          </a:p>
        </p:txBody>
      </p:sp>
      <p:sp>
        <p:nvSpPr>
          <p:cNvPr id="4" name="TextBox 3"/>
          <p:cNvSpPr txBox="1"/>
          <p:nvPr/>
        </p:nvSpPr>
        <p:spPr>
          <a:xfrm>
            <a:off x="323528" y="1340768"/>
            <a:ext cx="8568952" cy="4801314"/>
          </a:xfrm>
          <a:prstGeom prst="rect">
            <a:avLst/>
          </a:prstGeom>
          <a:noFill/>
        </p:spPr>
        <p:txBody>
          <a:bodyPr wrap="square" rtlCol="0">
            <a:spAutoFit/>
          </a:bodyPr>
          <a:lstStyle/>
          <a:p>
            <a:pPr marL="285750" indent="-285750">
              <a:buFont typeface="Arial" pitchFamily="34" charset="0"/>
              <a:buChar char="•"/>
            </a:pPr>
            <a:r>
              <a:rPr lang="en-US" dirty="0" smtClean="0">
                <a:latin typeface="Times New Roman" pitchFamily="18" charset="0"/>
                <a:cs typeface="Times New Roman" pitchFamily="18" charset="0"/>
              </a:rPr>
              <a:t>Depending on </a:t>
            </a:r>
            <a:r>
              <a:rPr lang="en-US" dirty="0" err="1" smtClean="0">
                <a:latin typeface="Times New Roman" pitchFamily="18" charset="0"/>
                <a:cs typeface="Times New Roman" pitchFamily="18" charset="0"/>
              </a:rPr>
              <a:t>gcd</a:t>
            </a:r>
            <a:r>
              <a:rPr lang="en-US" dirty="0" smtClean="0">
                <a:latin typeface="Times New Roman" pitchFamily="18" charset="0"/>
                <a:cs typeface="Times New Roman" pitchFamily="18" charset="0"/>
              </a:rPr>
              <a:t>(</a:t>
            </a:r>
            <a:r>
              <a:rPr lang="el-GR" i="1" dirty="0" smtClean="0">
                <a:latin typeface="Times New Roman" pitchFamily="18" charset="0"/>
                <a:cs typeface="Times New Roman" pitchFamily="18" charset="0"/>
              </a:rPr>
              <a:t>ω</a:t>
            </a:r>
            <a:r>
              <a:rPr lang="it-IT" baseline="-25000" dirty="0" smtClean="0">
                <a:latin typeface="Times New Roman" pitchFamily="18" charset="0"/>
                <a:cs typeface="Times New Roman" pitchFamily="18" charset="0"/>
              </a:rPr>
              <a:t>1</a:t>
            </a:r>
            <a:r>
              <a:rPr lang="it-IT" dirty="0" smtClean="0">
                <a:latin typeface="Times New Roman" pitchFamily="18" charset="0"/>
                <a:cs typeface="Times New Roman" pitchFamily="18" charset="0"/>
              </a:rPr>
              <a:t>,</a:t>
            </a:r>
            <a:r>
              <a:rPr lang="el-GR" i="1" dirty="0" smtClean="0">
                <a:latin typeface="Times New Roman" pitchFamily="18" charset="0"/>
                <a:cs typeface="Times New Roman" pitchFamily="18" charset="0"/>
              </a:rPr>
              <a:t> ω</a:t>
            </a:r>
            <a:r>
              <a:rPr lang="it-IT"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the FFT algorithm employed to perform the permeability harmonic expansion required different amount of times, leading to significantly variable spectral acceleration:</a:t>
            </a: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endParaRPr lang="en-US" dirty="0">
              <a:latin typeface="Times New Roman" pitchFamily="18" charset="0"/>
              <a:cs typeface="Times New Roman" pitchFamily="18" charset="0"/>
            </a:endParaRPr>
          </a:p>
          <a:p>
            <a:pPr marL="285750" indent="-285750">
              <a:buFont typeface="Arial" pitchFamily="34" charset="0"/>
              <a:buChar char="•"/>
            </a:pPr>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The mean acceleration </a:t>
            </a:r>
            <a:r>
              <a:rPr lang="en-US" dirty="0" smtClean="0">
                <a:latin typeface="Times New Roman" pitchFamily="18" charset="0"/>
                <a:cs typeface="Times New Roman" pitchFamily="18" charset="0"/>
              </a:rPr>
              <a:t>has been </a:t>
            </a:r>
            <a:r>
              <a:rPr lang="en-US" dirty="0" smtClean="0">
                <a:latin typeface="Times New Roman" pitchFamily="18" charset="0"/>
                <a:cs typeface="Times New Roman" pitchFamily="18" charset="0"/>
              </a:rPr>
              <a:t>found between 1.5 and 1.65 for the studied impinging power cases</a:t>
            </a:r>
          </a:p>
        </p:txBody>
      </p:sp>
      <p:pic>
        <p:nvPicPr>
          <p:cNvPr id="19458" name="Picture 2" descr="C:\Users\Laurent\Desktop\accFer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784" y="2420888"/>
            <a:ext cx="3950940" cy="2815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1743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Conclusions</a:t>
            </a:r>
            <a:endParaRPr lang="en-US" dirty="0"/>
          </a:p>
        </p:txBody>
      </p:sp>
      <p:sp>
        <p:nvSpPr>
          <p:cNvPr id="3" name="TextBox 2"/>
          <p:cNvSpPr txBox="1"/>
          <p:nvPr/>
        </p:nvSpPr>
        <p:spPr>
          <a:xfrm>
            <a:off x="323528" y="2420888"/>
            <a:ext cx="8568952" cy="2031325"/>
          </a:xfrm>
          <a:prstGeom prst="rect">
            <a:avLst/>
          </a:prstGeom>
          <a:noFill/>
        </p:spPr>
        <p:txBody>
          <a:bodyPr wrap="square" rtlCol="0">
            <a:spAutoFit/>
          </a:bodyPr>
          <a:lstStyle/>
          <a:p>
            <a:pPr marL="285750" indent="-285750">
              <a:buFont typeface="Arial" pitchFamily="34" charset="0"/>
              <a:buChar char="•"/>
            </a:pPr>
            <a:r>
              <a:rPr lang="it-IT" dirty="0">
                <a:latin typeface="Times New Roman" pitchFamily="18" charset="0"/>
                <a:cs typeface="Times New Roman" pitchFamily="18" charset="0"/>
              </a:rPr>
              <a:t>A </a:t>
            </a:r>
            <a:r>
              <a:rPr lang="en-US" dirty="0">
                <a:latin typeface="Times New Roman" pitchFamily="18" charset="0"/>
                <a:cs typeface="Times New Roman" pitchFamily="18" charset="0"/>
              </a:rPr>
              <a:t>Harmonic</a:t>
            </a:r>
            <a:r>
              <a:rPr lang="it-IT" dirty="0">
                <a:latin typeface="Times New Roman" pitchFamily="18" charset="0"/>
                <a:cs typeface="Times New Roman" pitchFamily="18" charset="0"/>
              </a:rPr>
              <a:t> Balance Finite </a:t>
            </a:r>
            <a:r>
              <a:rPr lang="it-IT" dirty="0" err="1">
                <a:latin typeface="Times New Roman" pitchFamily="18" charset="0"/>
                <a:cs typeface="Times New Roman" pitchFamily="18" charset="0"/>
              </a:rPr>
              <a:t>Element</a:t>
            </a:r>
            <a:r>
              <a:rPr lang="it-IT" dirty="0">
                <a:latin typeface="Times New Roman" pitchFamily="18" charset="0"/>
                <a:cs typeface="Times New Roman" pitchFamily="18" charset="0"/>
              </a:rPr>
              <a:t> </a:t>
            </a:r>
            <a:r>
              <a:rPr lang="it-IT" dirty="0" err="1">
                <a:latin typeface="Times New Roman" pitchFamily="18" charset="0"/>
                <a:cs typeface="Times New Roman" pitchFamily="18" charset="0"/>
              </a:rPr>
              <a:t>technique</a:t>
            </a:r>
            <a:r>
              <a:rPr lang="it-IT" dirty="0">
                <a:latin typeface="Times New Roman" pitchFamily="18" charset="0"/>
                <a:cs typeface="Times New Roman" pitchFamily="18" charset="0"/>
              </a:rPr>
              <a:t> </a:t>
            </a:r>
            <a:r>
              <a:rPr lang="it-IT" dirty="0" err="1" smtClean="0">
                <a:latin typeface="Times New Roman" pitchFamily="18" charset="0"/>
                <a:cs typeface="Times New Roman" pitchFamily="18" charset="0"/>
              </a:rPr>
              <a:t>has</a:t>
            </a:r>
            <a:r>
              <a:rPr lang="it-IT" dirty="0" smtClean="0">
                <a:latin typeface="Times New Roman" pitchFamily="18" charset="0"/>
                <a:cs typeface="Times New Roman" pitchFamily="18" charset="0"/>
              </a:rPr>
              <a:t> </a:t>
            </a:r>
            <a:r>
              <a:rPr lang="it-IT" dirty="0" err="1">
                <a:latin typeface="Times New Roman" pitchFamily="18" charset="0"/>
                <a:cs typeface="Times New Roman" pitchFamily="18" charset="0"/>
              </a:rPr>
              <a:t>been</a:t>
            </a:r>
            <a:r>
              <a:rPr lang="it-IT" dirty="0">
                <a:latin typeface="Times New Roman" pitchFamily="18" charset="0"/>
                <a:cs typeface="Times New Roman" pitchFamily="18" charset="0"/>
              </a:rPr>
              <a:t> </a:t>
            </a:r>
            <a:r>
              <a:rPr lang="it-IT" dirty="0" err="1">
                <a:latin typeface="Times New Roman" pitchFamily="18" charset="0"/>
                <a:cs typeface="Times New Roman" pitchFamily="18" charset="0"/>
              </a:rPr>
              <a:t>presented</a:t>
            </a:r>
            <a:r>
              <a:rPr lang="it-IT" dirty="0">
                <a:latin typeface="Times New Roman" pitchFamily="18" charset="0"/>
                <a:cs typeface="Times New Roman" pitchFamily="18" charset="0"/>
              </a:rPr>
              <a:t> for </a:t>
            </a:r>
            <a:r>
              <a:rPr lang="it-IT" dirty="0" err="1">
                <a:latin typeface="Times New Roman" pitchFamily="18" charset="0"/>
                <a:cs typeface="Times New Roman" pitchFamily="18" charset="0"/>
              </a:rPr>
              <a:t>solving</a:t>
            </a:r>
            <a:r>
              <a:rPr lang="it-IT" dirty="0">
                <a:latin typeface="Times New Roman" pitchFamily="18" charset="0"/>
                <a:cs typeface="Times New Roman" pitchFamily="18" charset="0"/>
              </a:rPr>
              <a:t> the </a:t>
            </a:r>
            <a:r>
              <a:rPr lang="it-IT" dirty="0" err="1">
                <a:latin typeface="Times New Roman" pitchFamily="18" charset="0"/>
                <a:cs typeface="Times New Roman" pitchFamily="18" charset="0"/>
              </a:rPr>
              <a:t>wave</a:t>
            </a:r>
            <a:r>
              <a:rPr lang="it-IT" dirty="0">
                <a:latin typeface="Times New Roman" pitchFamily="18" charset="0"/>
                <a:cs typeface="Times New Roman" pitchFamily="18" charset="0"/>
              </a:rPr>
              <a:t> </a:t>
            </a:r>
            <a:r>
              <a:rPr lang="it-IT" dirty="0" err="1">
                <a:latin typeface="Times New Roman" pitchFamily="18" charset="0"/>
                <a:cs typeface="Times New Roman" pitchFamily="18" charset="0"/>
              </a:rPr>
              <a:t>equation</a:t>
            </a:r>
            <a:r>
              <a:rPr lang="it-IT" dirty="0">
                <a:latin typeface="Times New Roman" pitchFamily="18" charset="0"/>
                <a:cs typeface="Times New Roman" pitchFamily="18" charset="0"/>
              </a:rPr>
              <a:t> in </a:t>
            </a:r>
            <a:r>
              <a:rPr lang="it-IT" dirty="0" err="1">
                <a:latin typeface="Times New Roman" pitchFamily="18" charset="0"/>
                <a:cs typeface="Times New Roman" pitchFamily="18" charset="0"/>
              </a:rPr>
              <a:t>presence</a:t>
            </a:r>
            <a:r>
              <a:rPr lang="it-IT" dirty="0">
                <a:latin typeface="Times New Roman" pitchFamily="18" charset="0"/>
                <a:cs typeface="Times New Roman" pitchFamily="18" charset="0"/>
              </a:rPr>
              <a:t> of </a:t>
            </a:r>
            <a:r>
              <a:rPr lang="en-US" dirty="0">
                <a:latin typeface="Times New Roman" pitchFamily="18" charset="0"/>
                <a:cs typeface="Times New Roman" pitchFamily="18" charset="0"/>
              </a:rPr>
              <a:t>nonlinear</a:t>
            </a:r>
            <a:r>
              <a:rPr lang="it-IT" dirty="0">
                <a:latin typeface="Times New Roman" pitchFamily="18" charset="0"/>
                <a:cs typeface="Times New Roman" pitchFamily="18" charset="0"/>
              </a:rPr>
              <a:t> </a:t>
            </a:r>
            <a:r>
              <a:rPr lang="it-IT" dirty="0" smtClean="0">
                <a:latin typeface="Times New Roman" pitchFamily="18" charset="0"/>
                <a:cs typeface="Times New Roman" pitchFamily="18" charset="0"/>
              </a:rPr>
              <a:t>media</a:t>
            </a:r>
            <a:endParaRPr lang="it-IT" dirty="0" smtClean="0">
              <a:latin typeface="Times New Roman" pitchFamily="18" charset="0"/>
              <a:cs typeface="Times New Roman" pitchFamily="18" charset="0"/>
            </a:endParaRPr>
          </a:p>
          <a:p>
            <a:pPr marL="285750" indent="-285750">
              <a:buFont typeface="Arial" pitchFamily="34" charset="0"/>
              <a:buChar char="•"/>
            </a:pPr>
            <a:endParaRPr lang="it-IT" dirty="0" smtClean="0">
              <a:latin typeface="Times New Roman" pitchFamily="18" charset="0"/>
              <a:cs typeface="Times New Roman" pitchFamily="18" charset="0"/>
            </a:endParaRPr>
          </a:p>
          <a:p>
            <a:pPr marL="285750" indent="-285750">
              <a:buFont typeface="Arial" pitchFamily="34" charset="0"/>
              <a:buChar char="•"/>
            </a:pPr>
            <a:endParaRPr lang="it-IT" dirty="0">
              <a:latin typeface="Times New Roman" pitchFamily="18" charset="0"/>
              <a:cs typeface="Times New Roman" pitchFamily="18" charset="0"/>
            </a:endParaRPr>
          </a:p>
          <a:p>
            <a:pPr marL="285750" indent="-285750">
              <a:buFont typeface="Arial" pitchFamily="34" charset="0"/>
              <a:buChar char="•"/>
            </a:pPr>
            <a:endParaRPr lang="it-IT" dirty="0">
              <a:latin typeface="Times New Roman" pitchFamily="18" charset="0"/>
              <a:cs typeface="Times New Roman" pitchFamily="18" charset="0"/>
            </a:endParaRPr>
          </a:p>
          <a:p>
            <a:pPr marL="285750" indent="-285750">
              <a:buFont typeface="Arial" pitchFamily="34" charset="0"/>
              <a:buChar char="•"/>
            </a:pPr>
            <a:r>
              <a:rPr lang="it-IT" dirty="0" smtClean="0">
                <a:latin typeface="Times New Roman" pitchFamily="18" charset="0"/>
                <a:cs typeface="Times New Roman" pitchFamily="18" charset="0"/>
              </a:rPr>
              <a:t>A </a:t>
            </a:r>
            <a:r>
              <a:rPr lang="it-IT" dirty="0" err="1" smtClean="0">
                <a:latin typeface="Times New Roman" pitchFamily="18" charset="0"/>
                <a:cs typeface="Times New Roman" pitchFamily="18" charset="0"/>
              </a:rPr>
              <a:t>substructuring</a:t>
            </a:r>
            <a:r>
              <a:rPr lang="it-IT" dirty="0" smtClean="0">
                <a:latin typeface="Times New Roman" pitchFamily="18" charset="0"/>
                <a:cs typeface="Times New Roman" pitchFamily="18" charset="0"/>
              </a:rPr>
              <a:t> domain </a:t>
            </a:r>
            <a:r>
              <a:rPr lang="it-IT" dirty="0" err="1" smtClean="0">
                <a:latin typeface="Times New Roman" pitchFamily="18" charset="0"/>
                <a:cs typeface="Times New Roman" pitchFamily="18" charset="0"/>
              </a:rPr>
              <a:t>decomposition</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technique</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have</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been</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employed</a:t>
            </a:r>
            <a:r>
              <a:rPr lang="it-IT" dirty="0" smtClean="0">
                <a:latin typeface="Times New Roman" pitchFamily="18" charset="0"/>
                <a:cs typeface="Times New Roman" pitchFamily="18" charset="0"/>
              </a:rPr>
              <a:t> to </a:t>
            </a:r>
            <a:r>
              <a:rPr lang="it-IT" dirty="0" err="1" smtClean="0">
                <a:latin typeface="Times New Roman" pitchFamily="18" charset="0"/>
                <a:cs typeface="Times New Roman" pitchFamily="18" charset="0"/>
              </a:rPr>
              <a:t>restrict</a:t>
            </a:r>
            <a:r>
              <a:rPr lang="it-IT" dirty="0" smtClean="0">
                <a:latin typeface="Times New Roman" pitchFamily="18" charset="0"/>
                <a:cs typeface="Times New Roman" pitchFamily="18" charset="0"/>
              </a:rPr>
              <a:t> the </a:t>
            </a:r>
            <a:r>
              <a:rPr lang="it-IT" dirty="0" err="1" smtClean="0">
                <a:latin typeface="Times New Roman" pitchFamily="18" charset="0"/>
                <a:cs typeface="Times New Roman" pitchFamily="18" charset="0"/>
              </a:rPr>
              <a:t>nonlinear</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solving</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loop</a:t>
            </a:r>
            <a:r>
              <a:rPr lang="it-IT" dirty="0" smtClean="0">
                <a:latin typeface="Times New Roman" pitchFamily="18" charset="0"/>
                <a:cs typeface="Times New Roman" pitchFamily="18" charset="0"/>
              </a:rPr>
              <a:t> to </a:t>
            </a:r>
            <a:r>
              <a:rPr lang="it-IT" dirty="0" err="1" smtClean="0">
                <a:latin typeface="Times New Roman" pitchFamily="18" charset="0"/>
                <a:cs typeface="Times New Roman" pitchFamily="18" charset="0"/>
              </a:rPr>
              <a:t>fewer</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DoFs</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leading</a:t>
            </a:r>
            <a:r>
              <a:rPr lang="it-IT" dirty="0" smtClean="0">
                <a:latin typeface="Times New Roman" pitchFamily="18" charset="0"/>
                <a:cs typeface="Times New Roman" pitchFamily="18" charset="0"/>
              </a:rPr>
              <a:t> to </a:t>
            </a:r>
            <a:r>
              <a:rPr lang="it-IT" dirty="0" err="1" smtClean="0">
                <a:latin typeface="Times New Roman" pitchFamily="18" charset="0"/>
                <a:cs typeface="Times New Roman" pitchFamily="18" charset="0"/>
              </a:rPr>
              <a:t>noticeable</a:t>
            </a:r>
            <a:r>
              <a:rPr lang="it-IT" dirty="0" smtClean="0">
                <a:latin typeface="Times New Roman" pitchFamily="18" charset="0"/>
                <a:cs typeface="Times New Roman" pitchFamily="18" charset="0"/>
              </a:rPr>
              <a:t> </a:t>
            </a:r>
            <a:r>
              <a:rPr lang="it-IT" dirty="0" err="1" smtClean="0">
                <a:latin typeface="Times New Roman" pitchFamily="18" charset="0"/>
                <a:cs typeface="Times New Roman" pitchFamily="18" charset="0"/>
              </a:rPr>
              <a:t>acceleration</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234520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Tema di Office">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A50021"/>
        </a:solidFill>
        <a:ln w="9525">
          <a:solidFill>
            <a:srgbClr val="A50021"/>
          </a:solidFill>
          <a:miter lim="800000"/>
          <a:headEnd/>
          <a:tailEnd/>
        </a:ln>
      </a:spPr>
      <a:bodyPr wrap="none" anchor="ctr"/>
      <a:lstStyle>
        <a:defPPr>
          <a:defRPr>
            <a:latin typeface="Calibri" pitchFamily="34" charset="0"/>
          </a:defRPr>
        </a:defPPr>
      </a:lstStyle>
    </a:spDef>
    <a:txDef>
      <a:spPr>
        <a:noFill/>
      </a:spPr>
      <a:bodyPr wrap="none" rtlCol="0">
        <a:spAutoFit/>
      </a:bodyPr>
      <a:lstStyle>
        <a:defPPr>
          <a:defRPr dirty="0" smtClean="0">
            <a:latin typeface="Times New Roman" pitchFamily="18" charset="0"/>
            <a:cs typeface="Times New Roman"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2443</TotalTime>
  <Words>1314</Words>
  <Application>Microsoft Office PowerPoint</Application>
  <PresentationFormat>On-screen Show (4:3)</PresentationFormat>
  <Paragraphs>231</Paragraphs>
  <Slides>22</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22</vt:i4>
      </vt:variant>
    </vt:vector>
  </HeadingPairs>
  <TitlesOfParts>
    <vt:vector size="25" baseType="lpstr">
      <vt:lpstr>1_Tema di Office</vt:lpstr>
      <vt:lpstr>Equation</vt:lpstr>
      <vt:lpstr>MathType 6.0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Laurent</dc:creator>
  <cp:lastModifiedBy>Laurent Ntibarikure</cp:lastModifiedBy>
  <cp:revision>109</cp:revision>
  <cp:lastPrinted>2012-06-01T09:38:02Z</cp:lastPrinted>
  <dcterms:created xsi:type="dcterms:W3CDTF">2012-04-19T09:41:03Z</dcterms:created>
  <dcterms:modified xsi:type="dcterms:W3CDTF">2012-06-01T11:38:41Z</dcterms:modified>
</cp:coreProperties>
</file>