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7" r:id="rId1"/>
  </p:sldMasterIdLst>
  <p:notesMasterIdLst>
    <p:notesMasterId r:id="rId20"/>
  </p:notesMasterIdLst>
  <p:handoutMasterIdLst>
    <p:handoutMasterId r:id="rId21"/>
  </p:handoutMasterIdLst>
  <p:sldIdLst>
    <p:sldId id="256" r:id="rId2"/>
    <p:sldId id="257" r:id="rId3"/>
    <p:sldId id="258" r:id="rId4"/>
    <p:sldId id="261" r:id="rId5"/>
    <p:sldId id="287" r:id="rId6"/>
    <p:sldId id="262" r:id="rId7"/>
    <p:sldId id="263" r:id="rId8"/>
    <p:sldId id="264" r:id="rId9"/>
    <p:sldId id="265" r:id="rId10"/>
    <p:sldId id="277" r:id="rId11"/>
    <p:sldId id="282" r:id="rId12"/>
    <p:sldId id="266" r:id="rId13"/>
    <p:sldId id="281" r:id="rId14"/>
    <p:sldId id="279" r:id="rId15"/>
    <p:sldId id="288" r:id="rId16"/>
    <p:sldId id="284" r:id="rId17"/>
    <p:sldId id="286" r:id="rId18"/>
    <p:sldId id="276" r:id="rId19"/>
  </p:sldIdLst>
  <p:sldSz cx="9144000" cy="6858000" type="screen4x3"/>
  <p:notesSz cx="9928225" cy="6797675"/>
  <p:defaultTextStyle>
    <a:defPPr>
      <a:defRPr lang="it-IT"/>
    </a:defPPr>
    <a:lvl1pPr algn="l" defTabSz="457200" rtl="0" fontAlgn="base">
      <a:spcBef>
        <a:spcPct val="0"/>
      </a:spcBef>
      <a:spcAft>
        <a:spcPct val="0"/>
      </a:spcAft>
      <a:defRPr kern="1200">
        <a:solidFill>
          <a:schemeClr val="tx1"/>
        </a:solidFill>
        <a:latin typeface="Calibri" pitchFamily="34" charset="0"/>
        <a:ea typeface="+mn-ea"/>
        <a:cs typeface="Arial" charset="0"/>
      </a:defRPr>
    </a:lvl1pPr>
    <a:lvl2pPr marL="457200" algn="l" defTabSz="457200" rtl="0" fontAlgn="base">
      <a:spcBef>
        <a:spcPct val="0"/>
      </a:spcBef>
      <a:spcAft>
        <a:spcPct val="0"/>
      </a:spcAft>
      <a:defRPr kern="1200">
        <a:solidFill>
          <a:schemeClr val="tx1"/>
        </a:solidFill>
        <a:latin typeface="Calibri" pitchFamily="34" charset="0"/>
        <a:ea typeface="+mn-ea"/>
        <a:cs typeface="Arial" charset="0"/>
      </a:defRPr>
    </a:lvl2pPr>
    <a:lvl3pPr marL="914400" algn="l" defTabSz="457200" rtl="0" fontAlgn="base">
      <a:spcBef>
        <a:spcPct val="0"/>
      </a:spcBef>
      <a:spcAft>
        <a:spcPct val="0"/>
      </a:spcAft>
      <a:defRPr kern="1200">
        <a:solidFill>
          <a:schemeClr val="tx1"/>
        </a:solidFill>
        <a:latin typeface="Calibri" pitchFamily="34" charset="0"/>
        <a:ea typeface="+mn-ea"/>
        <a:cs typeface="Arial" charset="0"/>
      </a:defRPr>
    </a:lvl3pPr>
    <a:lvl4pPr marL="1371600" algn="l" defTabSz="457200" rtl="0" fontAlgn="base">
      <a:spcBef>
        <a:spcPct val="0"/>
      </a:spcBef>
      <a:spcAft>
        <a:spcPct val="0"/>
      </a:spcAft>
      <a:defRPr kern="1200">
        <a:solidFill>
          <a:schemeClr val="tx1"/>
        </a:solidFill>
        <a:latin typeface="Calibri" pitchFamily="34" charset="0"/>
        <a:ea typeface="+mn-ea"/>
        <a:cs typeface="Arial" charset="0"/>
      </a:defRPr>
    </a:lvl4pPr>
    <a:lvl5pPr marL="1828800" algn="l" defTabSz="457200"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279" autoAdjust="0"/>
    <p:restoredTop sz="94671" autoAdjust="0"/>
  </p:normalViewPr>
  <p:slideViewPr>
    <p:cSldViewPr snapToGrid="0" snapToObjects="1">
      <p:cViewPr varScale="1">
        <p:scale>
          <a:sx n="66" d="100"/>
          <a:sy n="66" d="100"/>
        </p:scale>
        <p:origin x="-1554" y="-108"/>
      </p:cViewPr>
      <p:guideLst>
        <p:guide orient="horz" pos="2160"/>
        <p:guide pos="2880"/>
      </p:guideLst>
    </p:cSldViewPr>
  </p:slideViewPr>
  <p:outlineViewPr>
    <p:cViewPr>
      <p:scale>
        <a:sx n="33" d="100"/>
        <a:sy n="33" d="100"/>
      </p:scale>
      <p:origin x="48" y="26016"/>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 Id="rId4" Type="http://schemas.openxmlformats.org/officeDocument/2006/relationships/image" Target="../media/image17.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emf"/><Relationship Id="rId6" Type="http://schemas.openxmlformats.org/officeDocument/2006/relationships/image" Target="../media/image24.wmf"/><Relationship Id="rId5" Type="http://schemas.openxmlformats.org/officeDocument/2006/relationships/image" Target="../media/image23.wmf"/><Relationship Id="rId4" Type="http://schemas.openxmlformats.org/officeDocument/2006/relationships/image" Target="../media/image22.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emf"/><Relationship Id="rId4" Type="http://schemas.openxmlformats.org/officeDocument/2006/relationships/image" Target="../media/image31.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wmf"/><Relationship Id="rId5" Type="http://schemas.openxmlformats.org/officeDocument/2006/relationships/image" Target="../media/image37.wmf"/><Relationship Id="rId4" Type="http://schemas.openxmlformats.org/officeDocument/2006/relationships/image" Target="../media/image3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4302125" cy="339725"/>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it-IT"/>
          </a:p>
        </p:txBody>
      </p:sp>
      <p:sp>
        <p:nvSpPr>
          <p:cNvPr id="3" name="Segnaposto data 2"/>
          <p:cNvSpPr>
            <a:spLocks noGrp="1"/>
          </p:cNvSpPr>
          <p:nvPr>
            <p:ph type="dt" sz="quarter" idx="1"/>
          </p:nvPr>
        </p:nvSpPr>
        <p:spPr>
          <a:xfrm>
            <a:off x="5622925" y="0"/>
            <a:ext cx="4303713" cy="339725"/>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346DE357-2EA5-4045-8E29-C498960309B0}" type="datetimeFigureOut">
              <a:rPr lang="it-IT"/>
              <a:pPr>
                <a:defRPr/>
              </a:pPr>
              <a:t>04/06/2012</a:t>
            </a:fld>
            <a:endParaRPr lang="it-IT"/>
          </a:p>
        </p:txBody>
      </p:sp>
      <p:sp>
        <p:nvSpPr>
          <p:cNvPr id="4" name="Segnaposto piè di pagina 3"/>
          <p:cNvSpPr>
            <a:spLocks noGrp="1"/>
          </p:cNvSpPr>
          <p:nvPr>
            <p:ph type="ftr" sz="quarter" idx="2"/>
          </p:nvPr>
        </p:nvSpPr>
        <p:spPr>
          <a:xfrm>
            <a:off x="0" y="6456363"/>
            <a:ext cx="4302125" cy="339725"/>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it-IT"/>
          </a:p>
        </p:txBody>
      </p:sp>
      <p:sp>
        <p:nvSpPr>
          <p:cNvPr id="5" name="Segnaposto numero diapositiva 4"/>
          <p:cNvSpPr>
            <a:spLocks noGrp="1"/>
          </p:cNvSpPr>
          <p:nvPr>
            <p:ph type="sldNum" sz="quarter" idx="3"/>
          </p:nvPr>
        </p:nvSpPr>
        <p:spPr>
          <a:xfrm>
            <a:off x="5622925" y="6456363"/>
            <a:ext cx="4303713" cy="339725"/>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85D0B332-D0DC-4043-8615-95A311ABCF7D}" type="slidenum">
              <a:rPr lang="it-IT"/>
              <a:pPr>
                <a:defRPr/>
              </a:pPr>
              <a:t>‹#›</a:t>
            </a:fld>
            <a:endParaRPr lang="it-IT"/>
          </a:p>
        </p:txBody>
      </p:sp>
    </p:spTree>
    <p:extLst>
      <p:ext uri="{BB962C8B-B14F-4D97-AF65-F5344CB8AC3E}">
        <p14:creationId xmlns:p14="http://schemas.microsoft.com/office/powerpoint/2010/main" val="21580910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4302125" cy="339725"/>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it-IT"/>
          </a:p>
        </p:txBody>
      </p:sp>
      <p:sp>
        <p:nvSpPr>
          <p:cNvPr id="3" name="Segnaposto data 2"/>
          <p:cNvSpPr>
            <a:spLocks noGrp="1"/>
          </p:cNvSpPr>
          <p:nvPr>
            <p:ph type="dt" idx="1"/>
          </p:nvPr>
        </p:nvSpPr>
        <p:spPr>
          <a:xfrm>
            <a:off x="5622925" y="0"/>
            <a:ext cx="4303713" cy="339725"/>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DCB088C4-619E-4025-A2B0-8AE2FC748FE1}" type="datetimeFigureOut">
              <a:rPr lang="it-IT"/>
              <a:pPr>
                <a:defRPr/>
              </a:pPr>
              <a:t>04/06/2012</a:t>
            </a:fld>
            <a:endParaRPr lang="it-IT"/>
          </a:p>
        </p:txBody>
      </p:sp>
      <p:sp>
        <p:nvSpPr>
          <p:cNvPr id="4" name="Segnaposto immagine diapositiva 3"/>
          <p:cNvSpPr>
            <a:spLocks noGrp="1" noRot="1" noChangeAspect="1"/>
          </p:cNvSpPr>
          <p:nvPr>
            <p:ph type="sldImg" idx="2"/>
          </p:nvPr>
        </p:nvSpPr>
        <p:spPr>
          <a:xfrm>
            <a:off x="3263900" y="509588"/>
            <a:ext cx="3400425" cy="2549525"/>
          </a:xfrm>
          <a:prstGeom prst="rect">
            <a:avLst/>
          </a:prstGeom>
          <a:noFill/>
          <a:ln w="12700">
            <a:solidFill>
              <a:prstClr val="black"/>
            </a:solidFill>
          </a:ln>
        </p:spPr>
        <p:txBody>
          <a:bodyPr vert="horz" lIns="91440" tIns="45720" rIns="91440" bIns="45720" rtlCol="0" anchor="ctr"/>
          <a:lstStyle/>
          <a:p>
            <a:pPr lvl="0"/>
            <a:endParaRPr lang="it-IT" noProof="0"/>
          </a:p>
        </p:txBody>
      </p:sp>
      <p:sp>
        <p:nvSpPr>
          <p:cNvPr id="5" name="Segnaposto note 4"/>
          <p:cNvSpPr>
            <a:spLocks noGrp="1"/>
          </p:cNvSpPr>
          <p:nvPr>
            <p:ph type="body" sz="quarter" idx="3"/>
          </p:nvPr>
        </p:nvSpPr>
        <p:spPr>
          <a:xfrm>
            <a:off x="992188" y="3228975"/>
            <a:ext cx="7943850" cy="3059113"/>
          </a:xfrm>
          <a:prstGeom prst="rect">
            <a:avLst/>
          </a:prstGeom>
        </p:spPr>
        <p:txBody>
          <a:bodyPr vert="horz" lIns="91440" tIns="45720" rIns="91440" bIns="45720" rtlCol="0"/>
          <a:lstStyle/>
          <a:p>
            <a:pPr lvl="0"/>
            <a:r>
              <a:rPr lang="it-IT" noProof="0" smtClean="0"/>
              <a:t>Fare clic per modificare gli stili del testo dello schema</a:t>
            </a:r>
          </a:p>
          <a:p>
            <a:pPr lvl="1"/>
            <a:r>
              <a:rPr lang="it-IT" noProof="0" smtClean="0"/>
              <a:t>Secondo livello</a:t>
            </a:r>
          </a:p>
          <a:p>
            <a:pPr lvl="2"/>
            <a:r>
              <a:rPr lang="it-IT" noProof="0" smtClean="0"/>
              <a:t>Terzo livello</a:t>
            </a:r>
          </a:p>
          <a:p>
            <a:pPr lvl="3"/>
            <a:r>
              <a:rPr lang="it-IT" noProof="0" smtClean="0"/>
              <a:t>Quarto livello</a:t>
            </a:r>
          </a:p>
          <a:p>
            <a:pPr lvl="4"/>
            <a:r>
              <a:rPr lang="it-IT" noProof="0" smtClean="0"/>
              <a:t>Quinto livello</a:t>
            </a:r>
            <a:endParaRPr lang="it-IT" noProof="0"/>
          </a:p>
        </p:txBody>
      </p:sp>
      <p:sp>
        <p:nvSpPr>
          <p:cNvPr id="6" name="Segnaposto piè di pagina 5"/>
          <p:cNvSpPr>
            <a:spLocks noGrp="1"/>
          </p:cNvSpPr>
          <p:nvPr>
            <p:ph type="ftr" sz="quarter" idx="4"/>
          </p:nvPr>
        </p:nvSpPr>
        <p:spPr>
          <a:xfrm>
            <a:off x="0" y="6456363"/>
            <a:ext cx="4302125" cy="339725"/>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it-IT"/>
          </a:p>
        </p:txBody>
      </p:sp>
      <p:sp>
        <p:nvSpPr>
          <p:cNvPr id="7" name="Segnaposto numero diapositiva 6"/>
          <p:cNvSpPr>
            <a:spLocks noGrp="1"/>
          </p:cNvSpPr>
          <p:nvPr>
            <p:ph type="sldNum" sz="quarter" idx="5"/>
          </p:nvPr>
        </p:nvSpPr>
        <p:spPr>
          <a:xfrm>
            <a:off x="5622925" y="6456363"/>
            <a:ext cx="4303713" cy="339725"/>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2CC10B17-491E-4A97-817F-53A76696B332}" type="slidenum">
              <a:rPr lang="it-IT"/>
              <a:pPr>
                <a:defRPr/>
              </a:pPr>
              <a:t>‹#›</a:t>
            </a:fld>
            <a:endParaRPr lang="it-IT"/>
          </a:p>
        </p:txBody>
      </p:sp>
    </p:spTree>
    <p:extLst>
      <p:ext uri="{BB962C8B-B14F-4D97-AF65-F5344CB8AC3E}">
        <p14:creationId xmlns:p14="http://schemas.microsoft.com/office/powerpoint/2010/main" val="1503032823"/>
      </p:ext>
    </p:extLst>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mn-ea"/>
        <a:cs typeface="+mn-cs"/>
      </a:defRPr>
    </a:lvl1pPr>
    <a:lvl2pPr marL="457200" algn="l" defTabSz="457200" rtl="0" eaLnBrk="0" fontAlgn="base" hangingPunct="0">
      <a:spcBef>
        <a:spcPct val="30000"/>
      </a:spcBef>
      <a:spcAft>
        <a:spcPct val="0"/>
      </a:spcAft>
      <a:defRPr sz="1200" kern="1200">
        <a:solidFill>
          <a:schemeClr val="tx1"/>
        </a:solidFill>
        <a:latin typeface="+mn-lt"/>
        <a:ea typeface="+mn-ea"/>
        <a:cs typeface="+mn-cs"/>
      </a:defRPr>
    </a:lvl2pPr>
    <a:lvl3pPr marL="914400" algn="l" defTabSz="457200" rtl="0" eaLnBrk="0" fontAlgn="base" hangingPunct="0">
      <a:spcBef>
        <a:spcPct val="30000"/>
      </a:spcBef>
      <a:spcAft>
        <a:spcPct val="0"/>
      </a:spcAft>
      <a:defRPr sz="1200" kern="1200">
        <a:solidFill>
          <a:schemeClr val="tx1"/>
        </a:solidFill>
        <a:latin typeface="+mn-lt"/>
        <a:ea typeface="+mn-ea"/>
        <a:cs typeface="+mn-cs"/>
      </a:defRPr>
    </a:lvl3pPr>
    <a:lvl4pPr marL="1371600" algn="l" defTabSz="457200" rtl="0" eaLnBrk="0" fontAlgn="base" hangingPunct="0">
      <a:spcBef>
        <a:spcPct val="30000"/>
      </a:spcBef>
      <a:spcAft>
        <a:spcPct val="0"/>
      </a:spcAft>
      <a:defRPr sz="1200" kern="1200">
        <a:solidFill>
          <a:schemeClr val="tx1"/>
        </a:solidFill>
        <a:latin typeface="+mn-lt"/>
        <a:ea typeface="+mn-ea"/>
        <a:cs typeface="+mn-cs"/>
      </a:defRPr>
    </a:lvl4pPr>
    <a:lvl5pPr marL="1828800" algn="l" defTabSz="457200" rtl="0" eaLnBrk="0" fontAlgn="base" hangingPunct="0">
      <a:spcBef>
        <a:spcPct val="30000"/>
      </a:spcBef>
      <a:spcAft>
        <a:spcPct val="0"/>
      </a:spcAft>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egnaposto immagin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Segnaposto note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smtClean="0"/>
          </a:p>
        </p:txBody>
      </p:sp>
      <p:sp>
        <p:nvSpPr>
          <p:cNvPr id="4" name="Segnaposto numero diapositiva 3"/>
          <p:cNvSpPr>
            <a:spLocks noGrp="1"/>
          </p:cNvSpPr>
          <p:nvPr>
            <p:ph type="sldNum" sz="quarter" idx="5"/>
          </p:nvPr>
        </p:nvSpPr>
        <p:spPr/>
        <p:txBody>
          <a:bodyPr/>
          <a:lstStyle/>
          <a:p>
            <a:pPr>
              <a:defRPr/>
            </a:pPr>
            <a:fld id="{0DC12967-29F3-4A20-AFFA-2094162594EA}" type="slidenum">
              <a:rPr lang="it-IT" smtClean="0"/>
              <a:pPr>
                <a:defRPr/>
              </a:pPr>
              <a:t>8</a:t>
            </a:fld>
            <a:endParaRPr lang="it-IT"/>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CC10B17-491E-4A97-817F-53A76696B332}" type="slidenum">
              <a:rPr lang="it-IT" smtClean="0"/>
              <a:pPr>
                <a:defRPr/>
              </a:pPr>
              <a:t>12</a:t>
            </a:fld>
            <a:endParaRPr lang="it-IT"/>
          </a:p>
        </p:txBody>
      </p:sp>
    </p:spTree>
    <p:extLst>
      <p:ext uri="{BB962C8B-B14F-4D97-AF65-F5344CB8AC3E}">
        <p14:creationId xmlns:p14="http://schemas.microsoft.com/office/powerpoint/2010/main" val="1975286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QUESTO">
    <p:spTree>
      <p:nvGrpSpPr>
        <p:cNvPr id="1" name=""/>
        <p:cNvGrpSpPr/>
        <p:nvPr/>
      </p:nvGrpSpPr>
      <p:grpSpPr>
        <a:xfrm>
          <a:off x="0" y="0"/>
          <a:ext cx="0" cy="0"/>
          <a:chOff x="0" y="0"/>
          <a:chExt cx="0" cy="0"/>
        </a:xfrm>
      </p:grpSpPr>
      <p:sp>
        <p:nvSpPr>
          <p:cNvPr id="4" name="CasellaDiTesto 5"/>
          <p:cNvSpPr txBox="1">
            <a:spLocks noChangeArrowheads="1"/>
          </p:cNvSpPr>
          <p:nvPr userDrawn="1"/>
        </p:nvSpPr>
        <p:spPr bwMode="auto">
          <a:xfrm>
            <a:off x="8428038" y="6546850"/>
            <a:ext cx="949325" cy="368300"/>
          </a:xfrm>
          <a:prstGeom prst="rect">
            <a:avLst/>
          </a:prstGeom>
          <a:noFill/>
          <a:ln>
            <a:noFill/>
          </a:ln>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fld id="{2EB94B65-ECB2-405A-9FA6-328C4635FDBD}" type="slidenum">
              <a:rPr lang="it-IT" smtClean="0">
                <a:solidFill>
                  <a:schemeClr val="bg1"/>
                </a:solidFill>
                <a:latin typeface="Times New Roman" pitchFamily="18" charset="0"/>
                <a:cs typeface="Times New Roman" pitchFamily="18" charset="0"/>
              </a:rPr>
              <a:pPr eaLnBrk="1" hangingPunct="1">
                <a:defRPr/>
              </a:pPr>
              <a:t>‹#›</a:t>
            </a:fld>
            <a:r>
              <a:rPr lang="it-IT" dirty="0" smtClean="0">
                <a:solidFill>
                  <a:schemeClr val="bg1"/>
                </a:solidFill>
                <a:latin typeface="Times New Roman" pitchFamily="18" charset="0"/>
                <a:cs typeface="Times New Roman" pitchFamily="18" charset="0"/>
              </a:rPr>
              <a:t>/4</a:t>
            </a:r>
          </a:p>
        </p:txBody>
      </p:sp>
      <p:sp>
        <p:nvSpPr>
          <p:cNvPr id="3" name="Segnaposto contenuto 2"/>
          <p:cNvSpPr>
            <a:spLocks noGrp="1"/>
          </p:cNvSpPr>
          <p:nvPr>
            <p:ph idx="1"/>
          </p:nvPr>
        </p:nvSpPr>
        <p:spPr>
          <a:xfrm>
            <a:off x="310319" y="116635"/>
            <a:ext cx="8523366" cy="422405"/>
          </a:xfrm>
          <a:prstGeom prst="rect">
            <a:avLst/>
          </a:prstGeom>
          <a:noFill/>
        </p:spPr>
        <p:txBody>
          <a:bodyPr wrap="square" lIns="180000" tIns="72000" rIns="180000" bIns="72000">
            <a:spAutoFit/>
          </a:bodyPr>
          <a:lstStyle>
            <a:lvl1pPr marL="0" indent="0" algn="ctr">
              <a:buFont typeface="Calibri" pitchFamily="34" charset="0"/>
              <a:buNone/>
              <a:defRPr sz="1800" b="1" cap="small" baseline="0">
                <a:solidFill>
                  <a:schemeClr val="tx1"/>
                </a:solidFill>
                <a:latin typeface="Times New Roman" pitchFamily="18" charset="0"/>
                <a:cs typeface="Times New Roman" pitchFamily="18" charset="0"/>
              </a:defRPr>
            </a:lvl1pPr>
            <a:lvl2pPr marL="182563" indent="0" algn="just">
              <a:buFont typeface="Calibri" pitchFamily="34" charset="0"/>
              <a:buChar char=" "/>
              <a:defRPr sz="1600">
                <a:solidFill>
                  <a:schemeClr val="bg1"/>
                </a:solidFill>
                <a:latin typeface="Times New Roman" pitchFamily="18" charset="0"/>
                <a:cs typeface="Times New Roman" pitchFamily="18" charset="0"/>
              </a:defRPr>
            </a:lvl2pPr>
          </a:lstStyle>
          <a:p>
            <a:pPr lvl="0"/>
            <a:r>
              <a:rPr lang="it-IT" dirty="0" smtClean="0"/>
              <a:t>Fare clic per modificare stili del testo dello</a:t>
            </a:r>
          </a:p>
        </p:txBody>
      </p:sp>
    </p:spTree>
    <p:extLst>
      <p:ext uri="{BB962C8B-B14F-4D97-AF65-F5344CB8AC3E}">
        <p14:creationId xmlns:p14="http://schemas.microsoft.com/office/powerpoint/2010/main" val="22063097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rima">
    <p:spTree>
      <p:nvGrpSpPr>
        <p:cNvPr id="1" name=""/>
        <p:cNvGrpSpPr/>
        <p:nvPr/>
      </p:nvGrpSpPr>
      <p:grpSpPr>
        <a:xfrm>
          <a:off x="0" y="0"/>
          <a:ext cx="0" cy="0"/>
          <a:chOff x="0" y="0"/>
          <a:chExt cx="0" cy="0"/>
        </a:xfrm>
      </p:grpSpPr>
      <p:sp>
        <p:nvSpPr>
          <p:cNvPr id="3" name="Segnaposto contenuto 2"/>
          <p:cNvSpPr>
            <a:spLocks noGrp="1"/>
          </p:cNvSpPr>
          <p:nvPr>
            <p:ph idx="1"/>
          </p:nvPr>
        </p:nvSpPr>
        <p:spPr>
          <a:xfrm>
            <a:off x="310319" y="116635"/>
            <a:ext cx="8523366" cy="422405"/>
          </a:xfrm>
          <a:prstGeom prst="rect">
            <a:avLst/>
          </a:prstGeom>
          <a:noFill/>
        </p:spPr>
        <p:txBody>
          <a:bodyPr wrap="square" lIns="180000" tIns="72000" rIns="180000" bIns="72000">
            <a:spAutoFit/>
          </a:bodyPr>
          <a:lstStyle>
            <a:lvl1pPr marL="0" indent="0" algn="ctr">
              <a:buFont typeface="Calibri" pitchFamily="34" charset="0"/>
              <a:buNone/>
              <a:defRPr sz="1800" b="1" i="0" cap="small" baseline="0">
                <a:solidFill>
                  <a:schemeClr val="tx1"/>
                </a:solidFill>
                <a:latin typeface="Times New Roman" pitchFamily="18" charset="0"/>
                <a:cs typeface="Times New Roman" pitchFamily="18" charset="0"/>
              </a:defRPr>
            </a:lvl1pPr>
            <a:lvl2pPr marL="182563" indent="0" algn="just">
              <a:buFont typeface="Calibri" pitchFamily="34" charset="0"/>
              <a:buChar char=" "/>
              <a:defRPr sz="1600">
                <a:solidFill>
                  <a:schemeClr val="bg1"/>
                </a:solidFill>
                <a:latin typeface="Times New Roman" pitchFamily="18" charset="0"/>
                <a:cs typeface="Times New Roman" pitchFamily="18" charset="0"/>
              </a:defRPr>
            </a:lvl2pPr>
          </a:lstStyle>
          <a:p>
            <a:pPr lvl="0"/>
            <a:r>
              <a:rPr lang="it-IT" dirty="0" smtClean="0"/>
              <a:t>Fare clic per modificare stili del testo dello</a:t>
            </a:r>
          </a:p>
        </p:txBody>
      </p:sp>
    </p:spTree>
    <p:extLst>
      <p:ext uri="{BB962C8B-B14F-4D97-AF65-F5344CB8AC3E}">
        <p14:creationId xmlns:p14="http://schemas.microsoft.com/office/powerpoint/2010/main" val="3769112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a:prstGeom prst="rect">
            <a:avLst/>
          </a:prstGeom>
        </p:spPr>
        <p:txBody>
          <a:bodyPr/>
          <a:lstStyle/>
          <a:p>
            <a:r>
              <a:rPr lang="it-IT" smtClean="0"/>
              <a:t>Fare clic per modificare stile</a:t>
            </a:r>
            <a:endParaRPr lang="it-IT"/>
          </a:p>
        </p:txBody>
      </p:sp>
      <p:sp>
        <p:nvSpPr>
          <p:cNvPr id="3" name="Sottotitolo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smtClean="0"/>
              <a:t>Fare clic per modificare lo stile del sottotitolo dello schema</a:t>
            </a:r>
            <a:endParaRPr lang="it-IT"/>
          </a:p>
        </p:txBody>
      </p:sp>
    </p:spTree>
    <p:extLst>
      <p:ext uri="{BB962C8B-B14F-4D97-AF65-F5344CB8AC3E}">
        <p14:creationId xmlns:p14="http://schemas.microsoft.com/office/powerpoint/2010/main" val="9916253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a:xfrm>
            <a:off x="457200" y="5697"/>
            <a:ext cx="8229600" cy="733891"/>
          </a:xfrm>
          <a:prstGeom prst="rect">
            <a:avLst/>
          </a:prstGeom>
        </p:spPr>
        <p:txBody>
          <a:bodyPr/>
          <a:lstStyle>
            <a:lvl1pPr>
              <a:defRPr sz="3600"/>
            </a:lvl1pPr>
          </a:lstStyle>
          <a:p>
            <a:r>
              <a:rPr lang="it-IT" smtClean="0"/>
              <a:t>Fare clic per modificare stile</a:t>
            </a:r>
            <a:endParaRPr lang="it-IT"/>
          </a:p>
        </p:txBody>
      </p:sp>
      <p:sp>
        <p:nvSpPr>
          <p:cNvPr id="3" name="Segnaposto contenuto 2"/>
          <p:cNvSpPr>
            <a:spLocks noGrp="1"/>
          </p:cNvSpPr>
          <p:nvPr>
            <p:ph idx="1"/>
          </p:nvPr>
        </p:nvSpPr>
        <p:spPr>
          <a:xfrm>
            <a:off x="457200" y="1600200"/>
            <a:ext cx="8229600" cy="4525963"/>
          </a:xfrm>
          <a:prstGeom prst="rect">
            <a:avLst/>
          </a:prstGeom>
        </p:spPr>
        <p:txBody>
          <a:bodyPr/>
          <a:lstStyle/>
          <a:p>
            <a:pPr lvl="0"/>
            <a:r>
              <a:rPr lang="it-IT" smtClean="0"/>
              <a:t>Fare clic per modificare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numero diapositiva 5"/>
          <p:cNvSpPr>
            <a:spLocks noGrp="1"/>
          </p:cNvSpPr>
          <p:nvPr>
            <p:ph type="sldNum" sz="quarter" idx="10"/>
          </p:nvPr>
        </p:nvSpPr>
        <p:spPr>
          <a:xfrm>
            <a:off x="8529638" y="6602413"/>
            <a:ext cx="614362" cy="255587"/>
          </a:xfrm>
          <a:prstGeom prst="rect">
            <a:avLst/>
          </a:prstGeom>
        </p:spPr>
        <p:txBody>
          <a:bodyPr/>
          <a:lstStyle>
            <a:lvl1pPr>
              <a:defRPr sz="1600">
                <a:solidFill>
                  <a:schemeClr val="bg1"/>
                </a:solidFill>
              </a:defRPr>
            </a:lvl1pPr>
          </a:lstStyle>
          <a:p>
            <a:pPr>
              <a:defRPr/>
            </a:pPr>
            <a:fld id="{C97E79C4-2722-4E2E-936F-CB51F7A44DB3}" type="slidenum">
              <a:rPr lang="it-IT"/>
              <a:pPr>
                <a:defRPr/>
              </a:pPr>
              <a:t>‹#›</a:t>
            </a:fld>
            <a:endParaRPr lang="it-IT"/>
          </a:p>
        </p:txBody>
      </p:sp>
    </p:spTree>
    <p:extLst>
      <p:ext uri="{BB962C8B-B14F-4D97-AF65-F5344CB8AC3E}">
        <p14:creationId xmlns:p14="http://schemas.microsoft.com/office/powerpoint/2010/main" val="1891631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cSld name="Contenuto 2">
    <p:spTree>
      <p:nvGrpSpPr>
        <p:cNvPr id="1" name=""/>
        <p:cNvGrpSpPr/>
        <p:nvPr/>
      </p:nvGrpSpPr>
      <p:grpSpPr>
        <a:xfrm>
          <a:off x="0" y="0"/>
          <a:ext cx="0" cy="0"/>
          <a:chOff x="0" y="0"/>
          <a:chExt cx="0" cy="0"/>
        </a:xfrm>
      </p:grpSpPr>
      <p:sp>
        <p:nvSpPr>
          <p:cNvPr id="2" name="Titolo 1"/>
          <p:cNvSpPr>
            <a:spLocks noGrp="1"/>
          </p:cNvSpPr>
          <p:nvPr>
            <p:ph type="title"/>
          </p:nvPr>
        </p:nvSpPr>
        <p:spPr>
          <a:xfrm>
            <a:off x="457200" y="32591"/>
            <a:ext cx="8229600" cy="706997"/>
          </a:xfrm>
          <a:prstGeom prst="rect">
            <a:avLst/>
          </a:prstGeom>
        </p:spPr>
        <p:txBody>
          <a:bodyPr/>
          <a:lstStyle>
            <a:lvl1pPr>
              <a:defRPr sz="3600"/>
            </a:lvl1pPr>
          </a:lstStyle>
          <a:p>
            <a:r>
              <a:rPr lang="it-IT" smtClean="0"/>
              <a:t>Fare clic per modificare stile</a:t>
            </a:r>
            <a:endParaRPr lang="it-IT"/>
          </a:p>
        </p:txBody>
      </p:sp>
      <p:sp>
        <p:nvSpPr>
          <p:cNvPr id="3" name="Segnaposto contenuto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contenuto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numero diapositiva 5"/>
          <p:cNvSpPr>
            <a:spLocks noGrp="1"/>
          </p:cNvSpPr>
          <p:nvPr>
            <p:ph type="sldNum" sz="quarter" idx="10"/>
          </p:nvPr>
        </p:nvSpPr>
        <p:spPr>
          <a:xfrm>
            <a:off x="8529638" y="6602413"/>
            <a:ext cx="614362" cy="255587"/>
          </a:xfrm>
          <a:prstGeom prst="rect">
            <a:avLst/>
          </a:prstGeom>
        </p:spPr>
        <p:txBody>
          <a:bodyPr/>
          <a:lstStyle>
            <a:lvl1pPr>
              <a:defRPr sz="1600">
                <a:solidFill>
                  <a:schemeClr val="bg1"/>
                </a:solidFill>
              </a:defRPr>
            </a:lvl1pPr>
          </a:lstStyle>
          <a:p>
            <a:pPr>
              <a:defRPr/>
            </a:pPr>
            <a:fld id="{0C4F6C83-11BA-45C2-B643-1D776A809B4B}" type="slidenum">
              <a:rPr lang="it-IT"/>
              <a:pPr>
                <a:defRPr/>
              </a:pPr>
              <a:t>‹#›</a:t>
            </a:fld>
            <a:endParaRPr lang="it-IT"/>
          </a:p>
        </p:txBody>
      </p:sp>
    </p:spTree>
    <p:extLst>
      <p:ext uri="{BB962C8B-B14F-4D97-AF65-F5344CB8AC3E}">
        <p14:creationId xmlns:p14="http://schemas.microsoft.com/office/powerpoint/2010/main" val="2242707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image" Target="../media/image1.w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ctangle 10"/>
          <p:cNvSpPr>
            <a:spLocks noChangeArrowheads="1"/>
          </p:cNvSpPr>
          <p:nvPr userDrawn="1"/>
        </p:nvSpPr>
        <p:spPr bwMode="auto">
          <a:xfrm>
            <a:off x="0" y="0"/>
            <a:ext cx="9144000" cy="692150"/>
          </a:xfrm>
          <a:prstGeom prst="rect">
            <a:avLst/>
          </a:prstGeom>
          <a:solidFill>
            <a:schemeClr val="accent2">
              <a:lumMod val="40000"/>
              <a:lumOff val="60000"/>
            </a:schemeClr>
          </a:solidFill>
          <a:ln w="9525">
            <a:noFill/>
            <a:miter lim="800000"/>
            <a:headEnd/>
            <a:tailEnd/>
          </a:ln>
        </p:spPr>
        <p:txBody>
          <a:bodyPr wrap="none" anchor="ctr"/>
          <a:lstStyle/>
          <a:p>
            <a:pPr>
              <a:defRPr/>
            </a:pPr>
            <a:endParaRPr lang="en-US" dirty="0"/>
          </a:p>
        </p:txBody>
      </p:sp>
      <p:pic>
        <p:nvPicPr>
          <p:cNvPr id="1027" name="Immagine 13"/>
          <p:cNvPicPr>
            <a:picLocks noChangeAspect="1"/>
          </p:cNvPicPr>
          <p:nvPr userDrawn="1"/>
        </p:nvPicPr>
        <p:blipFill>
          <a:blip r:embed="rId7">
            <a:lum bright="-40000" contrast="-40000"/>
            <a:extLst>
              <a:ext uri="{28A0092B-C50C-407E-A947-70E740481C1C}">
                <a14:useLocalDpi xmlns:a14="http://schemas.microsoft.com/office/drawing/2010/main" val="0"/>
              </a:ext>
            </a:extLst>
          </a:blip>
          <a:srcRect/>
          <a:stretch>
            <a:fillRect/>
          </a:stretch>
        </p:blipFill>
        <p:spPr bwMode="auto">
          <a:xfrm>
            <a:off x="100013" y="115888"/>
            <a:ext cx="469900" cy="50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Immagine 14"/>
          <p:cNvPicPr>
            <a:picLocks noChangeAspect="1"/>
          </p:cNvPicPr>
          <p:nvPr userDrawn="1"/>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447088" y="98425"/>
            <a:ext cx="663575"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CasellaDiTesto 15"/>
          <p:cNvSpPr txBox="1"/>
          <p:nvPr userDrawn="1"/>
        </p:nvSpPr>
        <p:spPr>
          <a:xfrm>
            <a:off x="0" y="6577013"/>
            <a:ext cx="9144000" cy="307975"/>
          </a:xfrm>
          <a:prstGeom prst="rect">
            <a:avLst/>
          </a:prstGeom>
          <a:solidFill>
            <a:schemeClr val="accent2">
              <a:lumMod val="50000"/>
            </a:schemeClr>
          </a:solidFill>
          <a:ln>
            <a:noFill/>
          </a:ln>
        </p:spPr>
        <p:txBody>
          <a:bodyPr anchor="ctr">
            <a:spAutoFit/>
          </a:bodyPr>
          <a:lstStyle/>
          <a:p>
            <a:pPr algn="ctr">
              <a:defRPr/>
            </a:pPr>
            <a:r>
              <a:rPr lang="en-US" sz="1400" kern="0"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Finite element analysis of wideband nanostructures for photovoltaic applications</a:t>
            </a:r>
          </a:p>
        </p:txBody>
      </p:sp>
    </p:spTree>
  </p:cSld>
  <p:clrMap bg1="lt1" tx1="dk1" bg2="lt2" tx2="dk2" accent1="accent1" accent2="accent2" accent3="accent3" accent4="accent4" accent5="accent5" accent6="accent6" hlink="hlink" folHlink="folHlink"/>
  <p:sldLayoutIdLst>
    <p:sldLayoutId id="2147483740" r:id="rId1"/>
    <p:sldLayoutId id="2147483738" r:id="rId2"/>
    <p:sldLayoutId id="2147483739" r:id="rId3"/>
    <p:sldLayoutId id="2147483741" r:id="rId4"/>
    <p:sldLayoutId id="2147483742" r:id="rId5"/>
  </p:sldLayoutIdLst>
  <p:timing>
    <p:tnLst>
      <p:par>
        <p:cTn id="1" dur="indefinite" restart="never" nodeType="tmRoot"/>
      </p:par>
    </p:tnLst>
  </p:timing>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image" Target="../media/image5.png"/><Relationship Id="rId5" Type="http://schemas.openxmlformats.org/officeDocument/2006/relationships/image" Target="../media/image3.wmf"/><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oleObject" Target="../embeddings/oleObject2.bin"/><Relationship Id="rId7" Type="http://schemas.openxmlformats.org/officeDocument/2006/relationships/image" Target="../media/image9.jpeg"/><Relationship Id="rId2" Type="http://schemas.openxmlformats.org/officeDocument/2006/relationships/slideLayout" Target="../slideLayouts/slideLayout4.xml"/><Relationship Id="rId1" Type="http://schemas.openxmlformats.org/officeDocument/2006/relationships/vmlDrawing" Target="../drawings/vmlDrawing2.vml"/><Relationship Id="rId6" Type="http://schemas.openxmlformats.org/officeDocument/2006/relationships/image" Target="../media/image7.wmf"/><Relationship Id="rId5" Type="http://schemas.openxmlformats.org/officeDocument/2006/relationships/oleObject" Target="../embeddings/oleObject3.bin"/><Relationship Id="rId10" Type="http://schemas.openxmlformats.org/officeDocument/2006/relationships/image" Target="../media/image8.wmf"/><Relationship Id="rId4" Type="http://schemas.openxmlformats.org/officeDocument/2006/relationships/image" Target="../media/image6.wmf"/><Relationship Id="rId9" Type="http://schemas.openxmlformats.org/officeDocument/2006/relationships/oleObject" Target="../embeddings/oleObject4.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4.xml"/><Relationship Id="rId4" Type="http://schemas.openxmlformats.org/officeDocument/2006/relationships/image" Target="../media/image13.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notesSlide" Target="../notesSlides/notesSlide1.xml"/><Relationship Id="rId7" Type="http://schemas.openxmlformats.org/officeDocument/2006/relationships/oleObject" Target="../embeddings/oleObject6.bin"/><Relationship Id="rId12" Type="http://schemas.openxmlformats.org/officeDocument/2006/relationships/image" Target="../media/image17.wmf"/><Relationship Id="rId2" Type="http://schemas.openxmlformats.org/officeDocument/2006/relationships/slideLayout" Target="../slideLayouts/slideLayout4.xml"/><Relationship Id="rId1" Type="http://schemas.openxmlformats.org/officeDocument/2006/relationships/vmlDrawing" Target="../drawings/vmlDrawing3.vml"/><Relationship Id="rId6" Type="http://schemas.openxmlformats.org/officeDocument/2006/relationships/image" Target="../media/image14.wmf"/><Relationship Id="rId11" Type="http://schemas.openxmlformats.org/officeDocument/2006/relationships/oleObject" Target="../embeddings/oleObject8.bin"/><Relationship Id="rId5" Type="http://schemas.openxmlformats.org/officeDocument/2006/relationships/oleObject" Target="../embeddings/oleObject5.bin"/><Relationship Id="rId10" Type="http://schemas.openxmlformats.org/officeDocument/2006/relationships/image" Target="../media/image16.wmf"/><Relationship Id="rId4" Type="http://schemas.openxmlformats.org/officeDocument/2006/relationships/image" Target="../media/image18.png"/><Relationship Id="rId9" Type="http://schemas.openxmlformats.org/officeDocument/2006/relationships/oleObject" Target="../embeddings/oleObject7.bin"/></Relationships>
</file>

<file path=ppt/slides/_rels/slide9.xml.rels><?xml version="1.0" encoding="UTF-8" standalone="yes"?>
<Relationships xmlns="http://schemas.openxmlformats.org/package/2006/relationships"><Relationship Id="rId8" Type="http://schemas.openxmlformats.org/officeDocument/2006/relationships/image" Target="../media/image21.wmf"/><Relationship Id="rId13" Type="http://schemas.openxmlformats.org/officeDocument/2006/relationships/oleObject" Target="../embeddings/oleObject14.bin"/><Relationship Id="rId3" Type="http://schemas.openxmlformats.org/officeDocument/2006/relationships/oleObject" Target="../embeddings/oleObject9.bin"/><Relationship Id="rId7" Type="http://schemas.openxmlformats.org/officeDocument/2006/relationships/oleObject" Target="../embeddings/oleObject11.bin"/><Relationship Id="rId12" Type="http://schemas.openxmlformats.org/officeDocument/2006/relationships/image" Target="../media/image23.wmf"/><Relationship Id="rId2" Type="http://schemas.openxmlformats.org/officeDocument/2006/relationships/slideLayout" Target="../slideLayouts/slideLayout4.xml"/><Relationship Id="rId1" Type="http://schemas.openxmlformats.org/officeDocument/2006/relationships/vmlDrawing" Target="../drawings/vmlDrawing4.vml"/><Relationship Id="rId6" Type="http://schemas.openxmlformats.org/officeDocument/2006/relationships/image" Target="../media/image20.wmf"/><Relationship Id="rId11" Type="http://schemas.openxmlformats.org/officeDocument/2006/relationships/oleObject" Target="../embeddings/oleObject13.bin"/><Relationship Id="rId5" Type="http://schemas.openxmlformats.org/officeDocument/2006/relationships/oleObject" Target="../embeddings/oleObject10.bin"/><Relationship Id="rId10" Type="http://schemas.openxmlformats.org/officeDocument/2006/relationships/image" Target="../media/image22.wmf"/><Relationship Id="rId4" Type="http://schemas.openxmlformats.org/officeDocument/2006/relationships/image" Target="../media/image19.emf"/><Relationship Id="rId9" Type="http://schemas.openxmlformats.org/officeDocument/2006/relationships/oleObject" Target="../embeddings/oleObject12.bin"/><Relationship Id="rId14" Type="http://schemas.openxmlformats.org/officeDocument/2006/relationships/image" Target="../media/image24.wmf"/></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image" Target="../media/image18.png"/><Relationship Id="rId7" Type="http://schemas.openxmlformats.org/officeDocument/2006/relationships/image" Target="../media/image26.wmf"/><Relationship Id="rId2" Type="http://schemas.openxmlformats.org/officeDocument/2006/relationships/slideLayout" Target="../slideLayouts/slideLayout4.xml"/><Relationship Id="rId1" Type="http://schemas.openxmlformats.org/officeDocument/2006/relationships/vmlDrawing" Target="../drawings/vmlDrawing5.vml"/><Relationship Id="rId6" Type="http://schemas.openxmlformats.org/officeDocument/2006/relationships/oleObject" Target="../embeddings/oleObject16.bin"/><Relationship Id="rId5" Type="http://schemas.openxmlformats.org/officeDocument/2006/relationships/image" Target="../media/image25.wmf"/><Relationship Id="rId4" Type="http://schemas.openxmlformats.org/officeDocument/2006/relationships/oleObject" Target="../embeddings/oleObject15.bin"/><Relationship Id="rId9" Type="http://schemas.openxmlformats.org/officeDocument/2006/relationships/image" Target="../media/image27.w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image" Target="../media/image32.png"/><Relationship Id="rId7" Type="http://schemas.openxmlformats.org/officeDocument/2006/relationships/image" Target="../media/image29.wmf"/><Relationship Id="rId2" Type="http://schemas.openxmlformats.org/officeDocument/2006/relationships/slideLayout" Target="../slideLayouts/slideLayout5.xml"/><Relationship Id="rId1" Type="http://schemas.openxmlformats.org/officeDocument/2006/relationships/vmlDrawing" Target="../drawings/vmlDrawing6.vml"/><Relationship Id="rId6" Type="http://schemas.openxmlformats.org/officeDocument/2006/relationships/oleObject" Target="../embeddings/oleObject19.bin"/><Relationship Id="rId11" Type="http://schemas.openxmlformats.org/officeDocument/2006/relationships/image" Target="../media/image31.wmf"/><Relationship Id="rId5" Type="http://schemas.openxmlformats.org/officeDocument/2006/relationships/image" Target="../media/image28.emf"/><Relationship Id="rId10" Type="http://schemas.openxmlformats.org/officeDocument/2006/relationships/oleObject" Target="../embeddings/oleObject21.bin"/><Relationship Id="rId4" Type="http://schemas.openxmlformats.org/officeDocument/2006/relationships/oleObject" Target="../embeddings/oleObject18.bin"/><Relationship Id="rId9" Type="http://schemas.openxmlformats.org/officeDocument/2006/relationships/image" Target="../media/image30.wmf"/></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24.bin"/><Relationship Id="rId13" Type="http://schemas.openxmlformats.org/officeDocument/2006/relationships/image" Target="../media/image37.wmf"/><Relationship Id="rId3" Type="http://schemas.openxmlformats.org/officeDocument/2006/relationships/notesSlide" Target="../notesSlides/notesSlide2.xml"/><Relationship Id="rId7" Type="http://schemas.openxmlformats.org/officeDocument/2006/relationships/image" Target="../media/image34.wmf"/><Relationship Id="rId12" Type="http://schemas.openxmlformats.org/officeDocument/2006/relationships/oleObject" Target="../embeddings/oleObject26.bin"/><Relationship Id="rId2" Type="http://schemas.openxmlformats.org/officeDocument/2006/relationships/slideLayout" Target="../slideLayouts/slideLayout4.xml"/><Relationship Id="rId1" Type="http://schemas.openxmlformats.org/officeDocument/2006/relationships/vmlDrawing" Target="../drawings/vmlDrawing7.vml"/><Relationship Id="rId6" Type="http://schemas.openxmlformats.org/officeDocument/2006/relationships/oleObject" Target="../embeddings/oleObject23.bin"/><Relationship Id="rId11" Type="http://schemas.openxmlformats.org/officeDocument/2006/relationships/image" Target="../media/image36.wmf"/><Relationship Id="rId5" Type="http://schemas.openxmlformats.org/officeDocument/2006/relationships/image" Target="../media/image33.wmf"/><Relationship Id="rId10" Type="http://schemas.openxmlformats.org/officeDocument/2006/relationships/oleObject" Target="../embeddings/oleObject25.bin"/><Relationship Id="rId4" Type="http://schemas.openxmlformats.org/officeDocument/2006/relationships/oleObject" Target="../embeddings/oleObject22.bin"/><Relationship Id="rId9" Type="http://schemas.openxmlformats.org/officeDocument/2006/relationships/image" Target="../media/image35.wmf"/></Relationships>
</file>

<file path=ppt/slides/_rels/slide1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Layout" Target="../slideLayouts/slideLayout4.xml"/><Relationship Id="rId5" Type="http://schemas.openxmlformats.org/officeDocument/2006/relationships/image" Target="../media/image44.wmf"/><Relationship Id="rId4" Type="http://schemas.openxmlformats.org/officeDocument/2006/relationships/image" Target="../media/image43.wmf"/></Relationships>
</file>

<file path=ppt/slides/_rels/slide16.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slideLayout" Target="../slideLayouts/slideLayout4.xml"/><Relationship Id="rId4" Type="http://schemas.openxmlformats.org/officeDocument/2006/relationships/image" Target="../media/image47.wmf"/></Relationships>
</file>

<file path=ppt/slides/_rels/slide17.x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emf"/><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sellaDiTesto 1"/>
          <p:cNvSpPr txBox="1"/>
          <p:nvPr/>
        </p:nvSpPr>
        <p:spPr>
          <a:xfrm>
            <a:off x="396875" y="1401763"/>
            <a:ext cx="8350250" cy="4554537"/>
          </a:xfrm>
          <a:prstGeom prst="rect">
            <a:avLst/>
          </a:prstGeom>
          <a:noFill/>
        </p:spPr>
        <p:txBody>
          <a:bodyPr>
            <a:spAutoFit/>
          </a:bodyPr>
          <a:lstStyle/>
          <a:p>
            <a:pPr algn="ctr" fontAlgn="auto">
              <a:spcBef>
                <a:spcPts val="0"/>
              </a:spcBef>
              <a:spcAft>
                <a:spcPts val="0"/>
              </a:spcAft>
              <a:defRPr/>
            </a:pPr>
            <a:r>
              <a:rPr lang="it-IT" sz="3200" dirty="0">
                <a:latin typeface="+mj-lt"/>
                <a:cs typeface="Times New Roman" pitchFamily="18" charset="0"/>
              </a:rPr>
              <a:t>Finite </a:t>
            </a:r>
            <a:r>
              <a:rPr lang="it-IT" sz="3200" dirty="0" err="1">
                <a:latin typeface="+mj-lt"/>
                <a:cs typeface="Times New Roman" pitchFamily="18" charset="0"/>
              </a:rPr>
              <a:t>element</a:t>
            </a:r>
            <a:r>
              <a:rPr lang="it-IT" sz="3200" dirty="0">
                <a:latin typeface="+mj-lt"/>
                <a:cs typeface="Times New Roman" pitchFamily="18" charset="0"/>
              </a:rPr>
              <a:t> </a:t>
            </a:r>
            <a:r>
              <a:rPr lang="it-IT" sz="3200" dirty="0" err="1">
                <a:latin typeface="+mj-lt"/>
                <a:cs typeface="Times New Roman" pitchFamily="18" charset="0"/>
              </a:rPr>
              <a:t>analysis</a:t>
            </a:r>
            <a:r>
              <a:rPr lang="it-IT" sz="3200" dirty="0">
                <a:latin typeface="+mj-lt"/>
                <a:cs typeface="Times New Roman" pitchFamily="18" charset="0"/>
              </a:rPr>
              <a:t> of </a:t>
            </a:r>
            <a:r>
              <a:rPr lang="it-IT" sz="3200" dirty="0" err="1">
                <a:latin typeface="+mj-lt"/>
                <a:cs typeface="Times New Roman" pitchFamily="18" charset="0"/>
              </a:rPr>
              <a:t>wideband</a:t>
            </a:r>
            <a:r>
              <a:rPr lang="it-IT" sz="3200" dirty="0">
                <a:latin typeface="+mj-lt"/>
                <a:cs typeface="Times New Roman" pitchFamily="18" charset="0"/>
              </a:rPr>
              <a:t> </a:t>
            </a:r>
            <a:r>
              <a:rPr lang="it-IT" sz="3200" dirty="0" err="1">
                <a:latin typeface="+mj-lt"/>
                <a:cs typeface="Times New Roman" pitchFamily="18" charset="0"/>
              </a:rPr>
              <a:t>nanostructures</a:t>
            </a:r>
            <a:endParaRPr lang="it-IT" sz="3200" dirty="0">
              <a:latin typeface="+mj-lt"/>
              <a:cs typeface="Times New Roman" pitchFamily="18" charset="0"/>
            </a:endParaRPr>
          </a:p>
          <a:p>
            <a:pPr algn="ctr" fontAlgn="auto">
              <a:spcBef>
                <a:spcPts val="0"/>
              </a:spcBef>
              <a:spcAft>
                <a:spcPts val="0"/>
              </a:spcAft>
              <a:defRPr/>
            </a:pPr>
            <a:r>
              <a:rPr lang="it-IT" sz="3200" dirty="0">
                <a:latin typeface="+mj-lt"/>
                <a:cs typeface="Times New Roman" pitchFamily="18" charset="0"/>
              </a:rPr>
              <a:t>for </a:t>
            </a:r>
            <a:r>
              <a:rPr lang="it-IT" sz="3200" dirty="0" err="1">
                <a:latin typeface="+mj-lt"/>
                <a:cs typeface="Times New Roman" pitchFamily="18" charset="0"/>
              </a:rPr>
              <a:t>photovoltaic</a:t>
            </a:r>
            <a:r>
              <a:rPr lang="it-IT" sz="3200" dirty="0">
                <a:latin typeface="+mj-lt"/>
                <a:cs typeface="Times New Roman" pitchFamily="18" charset="0"/>
              </a:rPr>
              <a:t> </a:t>
            </a:r>
            <a:r>
              <a:rPr lang="it-IT" sz="3200" dirty="0" err="1">
                <a:latin typeface="+mj-lt"/>
                <a:cs typeface="Times New Roman" pitchFamily="18" charset="0"/>
              </a:rPr>
              <a:t>applications</a:t>
            </a:r>
            <a:endParaRPr lang="it-IT" sz="3200" dirty="0">
              <a:latin typeface="+mj-lt"/>
              <a:cs typeface="Times New Roman" pitchFamily="18" charset="0"/>
            </a:endParaRPr>
          </a:p>
          <a:p>
            <a:pPr algn="ctr" fontAlgn="auto">
              <a:spcBef>
                <a:spcPts val="0"/>
              </a:spcBef>
              <a:spcAft>
                <a:spcPts val="0"/>
              </a:spcAft>
              <a:defRPr/>
            </a:pPr>
            <a:endParaRPr lang="it-IT" sz="3200" dirty="0">
              <a:latin typeface="+mj-lt"/>
              <a:cs typeface="Times New Roman" pitchFamily="18" charset="0"/>
            </a:endParaRPr>
          </a:p>
          <a:p>
            <a:pPr algn="ctr" fontAlgn="auto">
              <a:spcBef>
                <a:spcPts val="0"/>
              </a:spcBef>
              <a:spcAft>
                <a:spcPts val="0"/>
              </a:spcAft>
              <a:defRPr/>
            </a:pPr>
            <a:endParaRPr lang="it-IT" dirty="0">
              <a:latin typeface="+mj-lt"/>
              <a:cs typeface="Times New Roman" pitchFamily="18" charset="0"/>
            </a:endParaRPr>
          </a:p>
          <a:p>
            <a:pPr algn="ctr" fontAlgn="auto">
              <a:spcBef>
                <a:spcPts val="0"/>
              </a:spcBef>
              <a:spcAft>
                <a:spcPts val="0"/>
              </a:spcAft>
              <a:defRPr/>
            </a:pPr>
            <a:r>
              <a:rPr lang="it-IT" sz="2000" dirty="0">
                <a:latin typeface="+mj-lt"/>
                <a:cs typeface="Times New Roman" pitchFamily="18" charset="0"/>
              </a:rPr>
              <a:t>Niccolò Breda, Giuseppe Pelosi, Stefano Selleri, and Ruggero </a:t>
            </a:r>
            <a:r>
              <a:rPr lang="it-IT" sz="2000" dirty="0" err="1">
                <a:latin typeface="+mj-lt"/>
                <a:cs typeface="Times New Roman" pitchFamily="18" charset="0"/>
              </a:rPr>
              <a:t>Taddei</a:t>
            </a:r>
            <a:endParaRPr lang="it-IT" sz="2000" dirty="0">
              <a:latin typeface="+mj-lt"/>
              <a:cs typeface="Times New Roman" pitchFamily="18" charset="0"/>
            </a:endParaRPr>
          </a:p>
          <a:p>
            <a:pPr algn="ctr" fontAlgn="auto">
              <a:spcBef>
                <a:spcPts val="0"/>
              </a:spcBef>
              <a:spcAft>
                <a:spcPts val="0"/>
              </a:spcAft>
              <a:defRPr/>
            </a:pPr>
            <a:endParaRPr lang="it-IT" dirty="0">
              <a:latin typeface="+mj-lt"/>
              <a:cs typeface="Times New Roman" pitchFamily="18" charset="0"/>
            </a:endParaRPr>
          </a:p>
          <a:p>
            <a:pPr algn="ctr" fontAlgn="auto">
              <a:spcBef>
                <a:spcPts val="0"/>
              </a:spcBef>
              <a:spcAft>
                <a:spcPts val="0"/>
              </a:spcAft>
              <a:defRPr/>
            </a:pPr>
            <a:endParaRPr lang="it-IT" dirty="0">
              <a:latin typeface="+mj-lt"/>
              <a:cs typeface="Times New Roman" pitchFamily="18" charset="0"/>
            </a:endParaRPr>
          </a:p>
          <a:p>
            <a:pPr algn="ctr" fontAlgn="auto">
              <a:spcBef>
                <a:spcPts val="0"/>
              </a:spcBef>
              <a:spcAft>
                <a:spcPts val="0"/>
              </a:spcAft>
              <a:defRPr/>
            </a:pPr>
            <a:r>
              <a:rPr lang="it-IT" dirty="0" err="1">
                <a:latin typeface="+mj-lt"/>
                <a:cs typeface="Times New Roman" pitchFamily="18" charset="0"/>
              </a:rPr>
              <a:t>Department</a:t>
            </a:r>
            <a:r>
              <a:rPr lang="it-IT" dirty="0">
                <a:latin typeface="+mj-lt"/>
                <a:cs typeface="Times New Roman" pitchFamily="18" charset="0"/>
              </a:rPr>
              <a:t> of </a:t>
            </a:r>
            <a:r>
              <a:rPr lang="it-IT" dirty="0" err="1">
                <a:latin typeface="+mj-lt"/>
                <a:cs typeface="Times New Roman" pitchFamily="18" charset="0"/>
              </a:rPr>
              <a:t>Electronics</a:t>
            </a:r>
            <a:r>
              <a:rPr lang="it-IT" dirty="0">
                <a:latin typeface="+mj-lt"/>
                <a:cs typeface="Times New Roman" pitchFamily="18" charset="0"/>
              </a:rPr>
              <a:t> and </a:t>
            </a:r>
            <a:r>
              <a:rPr lang="it-IT" dirty="0" err="1">
                <a:latin typeface="+mj-lt"/>
                <a:cs typeface="Times New Roman" pitchFamily="18" charset="0"/>
              </a:rPr>
              <a:t>Telecommunications</a:t>
            </a:r>
            <a:r>
              <a:rPr lang="it-IT" dirty="0">
                <a:latin typeface="+mj-lt"/>
                <a:cs typeface="Times New Roman" pitchFamily="18" charset="0"/>
              </a:rPr>
              <a:t>, </a:t>
            </a:r>
            <a:r>
              <a:rPr lang="it-IT" dirty="0" err="1">
                <a:latin typeface="+mj-lt"/>
                <a:cs typeface="Times New Roman" pitchFamily="18" charset="0"/>
              </a:rPr>
              <a:t>University</a:t>
            </a:r>
            <a:r>
              <a:rPr lang="it-IT" dirty="0">
                <a:latin typeface="+mj-lt"/>
                <a:cs typeface="Times New Roman" pitchFamily="18" charset="0"/>
              </a:rPr>
              <a:t> of Florence,</a:t>
            </a:r>
          </a:p>
          <a:p>
            <a:pPr algn="ctr" fontAlgn="auto">
              <a:spcBef>
                <a:spcPts val="0"/>
              </a:spcBef>
              <a:spcAft>
                <a:spcPts val="0"/>
              </a:spcAft>
              <a:defRPr/>
            </a:pPr>
            <a:r>
              <a:rPr lang="it-IT" dirty="0">
                <a:latin typeface="+mj-lt"/>
                <a:cs typeface="Times New Roman" pitchFamily="18" charset="0"/>
              </a:rPr>
              <a:t>Via di S. Marta 3, 50139, Florence, </a:t>
            </a:r>
            <a:r>
              <a:rPr lang="it-IT" dirty="0" err="1">
                <a:latin typeface="+mj-lt"/>
                <a:cs typeface="Times New Roman" pitchFamily="18" charset="0"/>
              </a:rPr>
              <a:t>Italy</a:t>
            </a:r>
            <a:endParaRPr lang="it-IT" dirty="0">
              <a:latin typeface="+mj-lt"/>
              <a:cs typeface="Times New Roman" pitchFamily="18" charset="0"/>
            </a:endParaRPr>
          </a:p>
          <a:p>
            <a:pPr algn="ctr" fontAlgn="auto">
              <a:spcBef>
                <a:spcPts val="0"/>
              </a:spcBef>
              <a:spcAft>
                <a:spcPts val="0"/>
              </a:spcAft>
              <a:defRPr/>
            </a:pPr>
            <a:endParaRPr lang="it-IT" dirty="0">
              <a:latin typeface="+mj-lt"/>
              <a:cs typeface="Times New Roman" pitchFamily="18" charset="0"/>
            </a:endParaRPr>
          </a:p>
          <a:p>
            <a:pPr algn="ctr" fontAlgn="auto">
              <a:spcBef>
                <a:spcPts val="0"/>
              </a:spcBef>
              <a:spcAft>
                <a:spcPts val="0"/>
              </a:spcAft>
              <a:defRPr/>
            </a:pPr>
            <a:r>
              <a:rPr lang="en-US" dirty="0">
                <a:latin typeface="+mj-lt"/>
                <a:cs typeface="Times New Roman" pitchFamily="18" charset="0"/>
              </a:rPr>
              <a:t>11th International Workshop on Finite Elements for Microwave Engineering – FEM2012</a:t>
            </a:r>
          </a:p>
          <a:p>
            <a:pPr algn="ctr" fontAlgn="auto">
              <a:spcBef>
                <a:spcPts val="0"/>
              </a:spcBef>
              <a:spcAft>
                <a:spcPts val="0"/>
              </a:spcAft>
              <a:defRPr/>
            </a:pPr>
            <a:r>
              <a:rPr lang="en-US" dirty="0">
                <a:latin typeface="+mj-lt"/>
                <a:cs typeface="Times New Roman" pitchFamily="18" charset="0"/>
              </a:rPr>
              <a:t>June 4-6, 2012, Estes Park, Colorado, USA</a:t>
            </a:r>
            <a:endParaRPr lang="it-IT" dirty="0">
              <a:latin typeface="+mj-lt"/>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egnaposto contenuto 10"/>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it-IT" sz="2400" smtClean="0"/>
              <a:t>Objectives:</a:t>
            </a:r>
          </a:p>
          <a:p>
            <a:pPr eaLnBrk="1" hangingPunct="1"/>
            <a:endParaRPr lang="it-IT" sz="2400" smtClean="0"/>
          </a:p>
          <a:p>
            <a:pPr lvl="1" eaLnBrk="1" hangingPunct="1"/>
            <a:r>
              <a:rPr lang="it-IT" sz="2000" smtClean="0"/>
              <a:t>Increase the efficiency of a solar cell through nanostructures, capable of triggering plasmonic resonances</a:t>
            </a:r>
          </a:p>
          <a:p>
            <a:pPr lvl="1" eaLnBrk="1" hangingPunct="1"/>
            <a:endParaRPr lang="it-IT" sz="2000" smtClean="0"/>
          </a:p>
          <a:p>
            <a:pPr lvl="1" eaLnBrk="1" hangingPunct="1"/>
            <a:r>
              <a:rPr lang="it-IT" sz="2000" smtClean="0"/>
              <a:t>Extend the resonant bandwidth of such nanostructures</a:t>
            </a:r>
          </a:p>
        </p:txBody>
      </p:sp>
      <p:sp>
        <p:nvSpPr>
          <p:cNvPr id="6147" name="Segnaposto numero diapositiva 6"/>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charset="0"/>
              </a:defRPr>
            </a:lvl9pPr>
          </a:lstStyle>
          <a:p>
            <a:pPr eaLnBrk="1" hangingPunct="1"/>
            <a:fld id="{C575F76A-7B47-4651-BF42-D4F42368373D}" type="slidenum">
              <a:rPr lang="it-IT" smtClean="0">
                <a:solidFill>
                  <a:schemeClr val="bg1"/>
                </a:solidFill>
              </a:rPr>
              <a:pPr eaLnBrk="1" hangingPunct="1"/>
              <a:t>2</a:t>
            </a:fld>
            <a:endParaRPr lang="it-IT" smtClean="0">
              <a:solidFill>
                <a:schemeClr val="bg1"/>
              </a:solidFill>
            </a:endParaRPr>
          </a:p>
        </p:txBody>
      </p:sp>
      <p:sp>
        <p:nvSpPr>
          <p:cNvPr id="6148" name="Titolo 1"/>
          <p:cNvSpPr txBox="1">
            <a:spLocks/>
          </p:cNvSpPr>
          <p:nvPr/>
        </p:nvSpPr>
        <p:spPr bwMode="auto">
          <a:xfrm>
            <a:off x="457200" y="33338"/>
            <a:ext cx="8229600"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it-IT" sz="3600"/>
              <a:t>Introduction</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egnaposto contenuto 7"/>
          <p:cNvSpPr>
            <a:spLocks noGrp="1"/>
          </p:cNvSpPr>
          <p:nvPr>
            <p:ph sz="half" idx="4294967295"/>
          </p:nvPr>
        </p:nvSpPr>
        <p:spPr bwMode="auto">
          <a:xfrm>
            <a:off x="293688" y="1220788"/>
            <a:ext cx="8556625" cy="28860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Arial" charset="0"/>
              <a:buNone/>
            </a:pPr>
            <a:r>
              <a:rPr lang="en-US" sz="1600" smtClean="0"/>
              <a:t>When light is striking over a semiconductor layer, a certain number of electrons passes from the valence band to the conduction band; at the same time an equal number of holes cover the opposite path, reaching the valence band (photoelectric effect).</a:t>
            </a:r>
          </a:p>
          <a:p>
            <a:pPr marL="0" indent="0" eaLnBrk="1" hangingPunct="1">
              <a:buFont typeface="Arial" charset="0"/>
              <a:buNone/>
            </a:pPr>
            <a:r>
              <a:rPr lang="en-US" sz="1600" smtClean="0"/>
              <a:t>Only the impinging photons with an energy greater than the bandgap        </a:t>
            </a:r>
          </a:p>
          <a:p>
            <a:pPr marL="0" indent="0" eaLnBrk="1" hangingPunct="1">
              <a:buFont typeface="Arial" charset="0"/>
              <a:buNone/>
            </a:pPr>
            <a:r>
              <a:rPr lang="en-US" sz="1600" smtClean="0"/>
              <a:t>are capable of triggering interband transitions, hence actively foraging the energy conversion process</a:t>
            </a:r>
          </a:p>
          <a:p>
            <a:pPr marL="0" indent="0" eaLnBrk="1" hangingPunct="1">
              <a:buFont typeface="Arial" charset="0"/>
              <a:buNone/>
            </a:pPr>
            <a:endParaRPr lang="en-US" sz="1600" smtClean="0"/>
          </a:p>
          <a:p>
            <a:pPr marL="0" indent="0" eaLnBrk="1" hangingPunct="1">
              <a:buFont typeface="Arial" charset="0"/>
              <a:buNone/>
            </a:pPr>
            <a:r>
              <a:rPr lang="en-US" sz="1600" smtClean="0"/>
              <a:t>In the presence of an electric field within the layer, free carriers generated with this process can be exploited to produce a current density.</a:t>
            </a:r>
          </a:p>
          <a:p>
            <a:pPr marL="0" indent="0" eaLnBrk="1" hangingPunct="1">
              <a:buFont typeface="Arial" charset="0"/>
              <a:buNone/>
            </a:pPr>
            <a:r>
              <a:rPr lang="en-US" sz="1600" smtClean="0"/>
              <a:t>Electric field  in a p-n junction is generated via spontaneous electron-hole recombinations </a:t>
            </a:r>
          </a:p>
          <a:p>
            <a:pPr marL="0" indent="0" eaLnBrk="1" hangingPunct="1">
              <a:buFont typeface="Arial" charset="0"/>
              <a:buNone/>
            </a:pPr>
            <a:r>
              <a:rPr lang="en-US" sz="1600" smtClean="0"/>
              <a:t>As a result, a depletion region is formed. A built-in electric field is associated with this region</a:t>
            </a:r>
          </a:p>
        </p:txBody>
      </p:sp>
      <p:sp>
        <p:nvSpPr>
          <p:cNvPr id="7171" name="Titolo 1"/>
          <p:cNvSpPr>
            <a:spLocks noGrp="1"/>
          </p:cNvSpPr>
          <p:nvPr>
            <p:ph type="title"/>
          </p:nvPr>
        </p:nvSpPr>
        <p:spPr bwMode="auto">
          <a:xfrm>
            <a:off x="457200" y="6350"/>
            <a:ext cx="8229600" cy="7334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it-IT" smtClean="0"/>
              <a:t>Photovoltaic Effect</a:t>
            </a:r>
          </a:p>
        </p:txBody>
      </p:sp>
      <p:pic>
        <p:nvPicPr>
          <p:cNvPr id="7172" name="Segnaposto contenuto 7" descr="regione di svuotamento..jpg"/>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949825" y="4302125"/>
            <a:ext cx="3265488" cy="20367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Segnaposto numero diapositiva 5"/>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charset="0"/>
              </a:defRPr>
            </a:lvl9pPr>
          </a:lstStyle>
          <a:p>
            <a:pPr eaLnBrk="1" hangingPunct="1"/>
            <a:fld id="{BCCF0EBE-AEF4-4D07-B976-BF1B8A605EA1}" type="slidenum">
              <a:rPr lang="it-IT" smtClean="0">
                <a:solidFill>
                  <a:schemeClr val="bg1"/>
                </a:solidFill>
              </a:rPr>
              <a:pPr eaLnBrk="1" hangingPunct="1"/>
              <a:t>3</a:t>
            </a:fld>
            <a:endParaRPr lang="it-IT" smtClean="0">
              <a:solidFill>
                <a:schemeClr val="bg1"/>
              </a:solidFill>
            </a:endParaRPr>
          </a:p>
        </p:txBody>
      </p:sp>
      <p:graphicFrame>
        <p:nvGraphicFramePr>
          <p:cNvPr id="7174" name="Oggetto 11"/>
          <p:cNvGraphicFramePr>
            <a:graphicFrameLocks noChangeAspect="1"/>
          </p:cNvGraphicFramePr>
          <p:nvPr>
            <p:extLst>
              <p:ext uri="{D42A27DB-BD31-4B8C-83A1-F6EECF244321}">
                <p14:modId xmlns:p14="http://schemas.microsoft.com/office/powerpoint/2010/main" val="371190874"/>
              </p:ext>
            </p:extLst>
          </p:nvPr>
        </p:nvGraphicFramePr>
        <p:xfrm>
          <a:off x="6546851" y="2024063"/>
          <a:ext cx="1668462" cy="311150"/>
        </p:xfrm>
        <a:graphic>
          <a:graphicData uri="http://schemas.openxmlformats.org/presentationml/2006/ole">
            <mc:AlternateContent xmlns:mc="http://schemas.openxmlformats.org/markup-compatibility/2006">
              <mc:Choice xmlns:v="urn:schemas-microsoft-com:vml" Requires="v">
                <p:oleObj spid="_x0000_s7183" name="Equation" r:id="rId4" imgW="1282680" imgH="228600" progId="Equation.DSMT4">
                  <p:embed/>
                </p:oleObj>
              </mc:Choice>
              <mc:Fallback>
                <p:oleObj name="Equation" r:id="rId4" imgW="1282680" imgH="228600" progId="Equation.DSMT4">
                  <p:embed/>
                  <p:pic>
                    <p:nvPicPr>
                      <p:cNvPr id="0" name="Oggetto 11"/>
                      <p:cNvPicPr>
                        <a:picLocks noChangeAspect="1" noChangeArrowheads="1"/>
                      </p:cNvPicPr>
                      <p:nvPr/>
                    </p:nvPicPr>
                    <p:blipFill>
                      <a:blip r:embed="rId5"/>
                      <a:srcRect/>
                      <a:stretch>
                        <a:fillRect/>
                      </a:stretch>
                    </p:blipFill>
                    <p:spPr bwMode="auto">
                      <a:xfrm>
                        <a:off x="6546851" y="2024063"/>
                        <a:ext cx="1668462"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7175"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8663" y="4041775"/>
            <a:ext cx="3146425" cy="229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olo 1"/>
          <p:cNvSpPr>
            <a:spLocks noGrp="1"/>
          </p:cNvSpPr>
          <p:nvPr>
            <p:ph type="title"/>
          </p:nvPr>
        </p:nvSpPr>
        <p:spPr bwMode="auto">
          <a:xfrm>
            <a:off x="457200" y="6350"/>
            <a:ext cx="8229600" cy="7334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smtClean="0"/>
              <a:t>Conversion Efficiency</a:t>
            </a:r>
          </a:p>
        </p:txBody>
      </p:sp>
      <p:sp>
        <p:nvSpPr>
          <p:cNvPr id="8195" name="Segnaposto numero diapositiva 6"/>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charset="0"/>
              </a:defRPr>
            </a:lvl9pPr>
          </a:lstStyle>
          <a:p>
            <a:pPr eaLnBrk="1" hangingPunct="1"/>
            <a:fld id="{C64551D0-6B9B-4B75-AD8B-9F87028C9BA3}" type="slidenum">
              <a:rPr lang="it-IT" smtClean="0">
                <a:solidFill>
                  <a:schemeClr val="bg1"/>
                </a:solidFill>
              </a:rPr>
              <a:pPr eaLnBrk="1" hangingPunct="1"/>
              <a:t>4</a:t>
            </a:fld>
            <a:endParaRPr lang="it-IT" smtClean="0">
              <a:solidFill>
                <a:schemeClr val="bg1"/>
              </a:solidFill>
            </a:endParaRPr>
          </a:p>
        </p:txBody>
      </p:sp>
      <p:sp>
        <p:nvSpPr>
          <p:cNvPr id="8196" name="CasellaDiTesto 16"/>
          <p:cNvSpPr txBox="1">
            <a:spLocks noChangeArrowheads="1"/>
          </p:cNvSpPr>
          <p:nvPr/>
        </p:nvSpPr>
        <p:spPr bwMode="auto">
          <a:xfrm>
            <a:off x="461963" y="2433638"/>
            <a:ext cx="44084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t>         is the power transferred to the load</a:t>
            </a:r>
          </a:p>
        </p:txBody>
      </p:sp>
      <p:graphicFrame>
        <p:nvGraphicFramePr>
          <p:cNvPr id="8197" name="Oggetto 17"/>
          <p:cNvGraphicFramePr>
            <a:graphicFrameLocks noChangeAspect="1"/>
          </p:cNvGraphicFramePr>
          <p:nvPr>
            <p:extLst>
              <p:ext uri="{D42A27DB-BD31-4B8C-83A1-F6EECF244321}">
                <p14:modId xmlns:p14="http://schemas.microsoft.com/office/powerpoint/2010/main" val="3905179639"/>
              </p:ext>
            </p:extLst>
          </p:nvPr>
        </p:nvGraphicFramePr>
        <p:xfrm>
          <a:off x="582613" y="2384425"/>
          <a:ext cx="349250" cy="455613"/>
        </p:xfrm>
        <a:graphic>
          <a:graphicData uri="http://schemas.openxmlformats.org/presentationml/2006/ole">
            <mc:AlternateContent xmlns:mc="http://schemas.openxmlformats.org/markup-compatibility/2006">
              <mc:Choice xmlns:v="urn:schemas-microsoft-com:vml" Requires="v">
                <p:oleObj spid="_x0000_s8225" name="Equation" r:id="rId3" imgW="177480" imgH="228600" progId="Equation.DSMT4">
                  <p:embed/>
                </p:oleObj>
              </mc:Choice>
              <mc:Fallback>
                <p:oleObj name="Equation" r:id="rId3" imgW="177480" imgH="228600" progId="Equation.DSMT4">
                  <p:embed/>
                  <p:pic>
                    <p:nvPicPr>
                      <p:cNvPr id="0" name="Oggetto 17"/>
                      <p:cNvPicPr>
                        <a:picLocks noChangeAspect="1" noChangeArrowheads="1"/>
                      </p:cNvPicPr>
                      <p:nvPr/>
                    </p:nvPicPr>
                    <p:blipFill>
                      <a:blip r:embed="rId4"/>
                      <a:srcRect/>
                      <a:stretch>
                        <a:fillRect/>
                      </a:stretch>
                    </p:blipFill>
                    <p:spPr bwMode="auto">
                      <a:xfrm>
                        <a:off x="582613" y="2384425"/>
                        <a:ext cx="34925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198" name="CasellaDiTesto 19"/>
          <p:cNvSpPr txBox="1">
            <a:spLocks noChangeArrowheads="1"/>
          </p:cNvSpPr>
          <p:nvPr/>
        </p:nvSpPr>
        <p:spPr bwMode="auto">
          <a:xfrm>
            <a:off x="671513" y="2949575"/>
            <a:ext cx="43132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dirty="0"/>
              <a:t>      is the impinging </a:t>
            </a:r>
            <a:r>
              <a:rPr lang="en-US"/>
              <a:t>spectral </a:t>
            </a:r>
            <a:r>
              <a:rPr lang="en-US" smtClean="0"/>
              <a:t>power</a:t>
            </a:r>
            <a:endParaRPr lang="en-US" dirty="0"/>
          </a:p>
        </p:txBody>
      </p:sp>
      <p:graphicFrame>
        <p:nvGraphicFramePr>
          <p:cNvPr id="8199" name="Oggetto 20"/>
          <p:cNvGraphicFramePr>
            <a:graphicFrameLocks noChangeAspect="1"/>
          </p:cNvGraphicFramePr>
          <p:nvPr>
            <p:extLst>
              <p:ext uri="{D42A27DB-BD31-4B8C-83A1-F6EECF244321}">
                <p14:modId xmlns:p14="http://schemas.microsoft.com/office/powerpoint/2010/main" val="1718150738"/>
              </p:ext>
            </p:extLst>
          </p:nvPr>
        </p:nvGraphicFramePr>
        <p:xfrm>
          <a:off x="593725" y="2913063"/>
          <a:ext cx="323850" cy="455612"/>
        </p:xfrm>
        <a:graphic>
          <a:graphicData uri="http://schemas.openxmlformats.org/presentationml/2006/ole">
            <mc:AlternateContent xmlns:mc="http://schemas.openxmlformats.org/markup-compatibility/2006">
              <mc:Choice xmlns:v="urn:schemas-microsoft-com:vml" Requires="v">
                <p:oleObj spid="_x0000_s8226" name="Equation" r:id="rId5" imgW="164880" imgH="228600" progId="Equation.DSMT4">
                  <p:embed/>
                </p:oleObj>
              </mc:Choice>
              <mc:Fallback>
                <p:oleObj name="Equation" r:id="rId5" imgW="164880" imgH="228600" progId="Equation.DSMT4">
                  <p:embed/>
                  <p:pic>
                    <p:nvPicPr>
                      <p:cNvPr id="0" name="Oggetto 20"/>
                      <p:cNvPicPr>
                        <a:picLocks noChangeAspect="1" noChangeArrowheads="1"/>
                      </p:cNvPicPr>
                      <p:nvPr/>
                    </p:nvPicPr>
                    <p:blipFill>
                      <a:blip r:embed="rId6"/>
                      <a:srcRect/>
                      <a:stretch>
                        <a:fillRect/>
                      </a:stretch>
                    </p:blipFill>
                    <p:spPr bwMode="auto">
                      <a:xfrm>
                        <a:off x="593725" y="2913063"/>
                        <a:ext cx="32385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8200" name="Immagine 2" descr="pannelli.jpg"/>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61963" y="3786188"/>
            <a:ext cx="4257675" cy="235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01" name="Picture 13" descr="http://org.ntnu.no/solarcells/pics/chap2/Solar_Spectrum.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84750" y="3449638"/>
            <a:ext cx="4076700" cy="303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202" name="Segnaposto contenuto 7"/>
          <p:cNvGraphicFramePr>
            <a:graphicFrameLocks noGrp="1" noChangeAspect="1"/>
          </p:cNvGraphicFramePr>
          <p:nvPr>
            <p:ph sz="half" idx="1"/>
            <p:extLst>
              <p:ext uri="{D42A27DB-BD31-4B8C-83A1-F6EECF244321}">
                <p14:modId xmlns:p14="http://schemas.microsoft.com/office/powerpoint/2010/main" val="3256550615"/>
              </p:ext>
            </p:extLst>
          </p:nvPr>
        </p:nvGraphicFramePr>
        <p:xfrm>
          <a:off x="496888" y="1317625"/>
          <a:ext cx="935037" cy="935038"/>
        </p:xfrm>
        <a:graphic>
          <a:graphicData uri="http://schemas.openxmlformats.org/presentationml/2006/ole">
            <mc:AlternateContent xmlns:mc="http://schemas.openxmlformats.org/markup-compatibility/2006">
              <mc:Choice xmlns:v="urn:schemas-microsoft-com:vml" Requires="v">
                <p:oleObj spid="_x0000_s8227" name="Equation" r:id="rId9" imgW="444240" imgH="444240" progId="Equation.DSMT4">
                  <p:embed/>
                </p:oleObj>
              </mc:Choice>
              <mc:Fallback>
                <p:oleObj name="Equation" r:id="rId9" imgW="444240" imgH="444240" progId="Equation.DSMT4">
                  <p:embed/>
                  <p:pic>
                    <p:nvPicPr>
                      <p:cNvPr id="0" name="Segnaposto contenuto 7"/>
                      <p:cNvPicPr>
                        <a:picLocks noGrp="1" noChangeAspect="1" noChangeArrowheads="1"/>
                      </p:cNvPicPr>
                      <p:nvPr/>
                    </p:nvPicPr>
                    <p:blipFill>
                      <a:blip r:embed="rId10"/>
                      <a:srcRect/>
                      <a:stretch>
                        <a:fillRect/>
                      </a:stretch>
                    </p:blipFill>
                    <p:spPr bwMode="auto">
                      <a:xfrm>
                        <a:off x="496888" y="1317625"/>
                        <a:ext cx="93503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203" name="Segnaposto contenuto 15"/>
          <p:cNvSpPr txBox="1">
            <a:spLocks/>
          </p:cNvSpPr>
          <p:nvPr/>
        </p:nvSpPr>
        <p:spPr bwMode="auto">
          <a:xfrm>
            <a:off x="1728788" y="1346200"/>
            <a:ext cx="7332662" cy="160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charset="0"/>
              </a:defRPr>
            </a:lvl9pPr>
          </a:lstStyle>
          <a:p>
            <a:pPr eaLnBrk="1" hangingPunct="1">
              <a:spcBef>
                <a:spcPct val="20000"/>
              </a:spcBef>
              <a:buFont typeface="Arial" charset="0"/>
              <a:buNone/>
            </a:pPr>
            <a:r>
              <a:rPr lang="en-US"/>
              <a:t>Quantifies the amount of power converted by a solar cell when it is connected to an electric circuit, and in maximum power transfer conditions.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olo 1"/>
          <p:cNvSpPr>
            <a:spLocks noGrp="1"/>
          </p:cNvSpPr>
          <p:nvPr>
            <p:ph type="title"/>
          </p:nvPr>
        </p:nvSpPr>
        <p:spPr bwMode="auto">
          <a:xfrm>
            <a:off x="457200" y="6350"/>
            <a:ext cx="8229600" cy="7334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it-IT" smtClean="0"/>
              <a:t>Three generations of Solar Cells</a:t>
            </a:r>
          </a:p>
        </p:txBody>
      </p:sp>
      <p:sp>
        <p:nvSpPr>
          <p:cNvPr id="9219" name="Segnaposto contenuto 2"/>
          <p:cNvSpPr>
            <a:spLocks noGrp="1"/>
          </p:cNvSpPr>
          <p:nvPr>
            <p:ph idx="1"/>
          </p:nvPr>
        </p:nvSpPr>
        <p:spPr bwMode="auto">
          <a:xfrm>
            <a:off x="254000" y="1600200"/>
            <a:ext cx="4303713" cy="4525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buFont typeface="Arial" charset="0"/>
              <a:buNone/>
            </a:pPr>
            <a:r>
              <a:rPr lang="it-IT" sz="2000" b="1" smtClean="0"/>
              <a:t>First and Second Generation Solar Cells</a:t>
            </a:r>
          </a:p>
          <a:p>
            <a:pPr marL="0" indent="0">
              <a:buFont typeface="Arial" charset="0"/>
              <a:buNone/>
            </a:pPr>
            <a:endParaRPr lang="it-IT" sz="2000" b="1" smtClean="0"/>
          </a:p>
          <a:p>
            <a:pPr marL="0" indent="0">
              <a:buFont typeface="Arial" charset="0"/>
              <a:buNone/>
            </a:pPr>
            <a:r>
              <a:rPr lang="it-IT" sz="1600" smtClean="0"/>
              <a:t>Conventional p-n junctions (1</a:t>
            </a:r>
            <a:r>
              <a:rPr lang="it-IT" sz="1600" baseline="30000" smtClean="0"/>
              <a:t>st</a:t>
            </a:r>
            <a:r>
              <a:rPr lang="it-IT" sz="1600" smtClean="0"/>
              <a:t> gen)</a:t>
            </a:r>
          </a:p>
          <a:p>
            <a:pPr marL="0" indent="0">
              <a:buFont typeface="Arial" charset="0"/>
              <a:buNone/>
            </a:pPr>
            <a:r>
              <a:rPr lang="it-IT" sz="1600" smtClean="0"/>
              <a:t>Thin film solar cells (2</a:t>
            </a:r>
            <a:r>
              <a:rPr lang="it-IT" sz="1600" baseline="30000" smtClean="0"/>
              <a:t>nd</a:t>
            </a:r>
            <a:r>
              <a:rPr lang="it-IT" sz="1600" smtClean="0"/>
              <a:t> gen)</a:t>
            </a:r>
          </a:p>
          <a:p>
            <a:pPr marL="0" indent="0">
              <a:buFont typeface="Arial" charset="0"/>
              <a:buNone/>
            </a:pPr>
            <a:endParaRPr lang="it-IT" sz="1800" smtClean="0"/>
          </a:p>
          <a:p>
            <a:pPr marL="0" indent="0">
              <a:buFont typeface="Arial" charset="0"/>
              <a:buNone/>
            </a:pPr>
            <a:r>
              <a:rPr lang="it-IT" sz="1600" smtClean="0"/>
              <a:t>Theoretical limit on efficiency at 33.7 %,</a:t>
            </a:r>
          </a:p>
          <a:p>
            <a:pPr marL="0" indent="0">
              <a:buFont typeface="Arial" charset="0"/>
              <a:buNone/>
            </a:pPr>
            <a:r>
              <a:rPr lang="it-IT" sz="1600" smtClean="0"/>
              <a:t>due to  </a:t>
            </a:r>
            <a:r>
              <a:rPr lang="en-US" sz="1600" smtClean="0"/>
              <a:t>the difference in energy between the bandgap of the substrate (usually silicon) and solar photons</a:t>
            </a:r>
          </a:p>
          <a:p>
            <a:pPr marL="0" indent="0">
              <a:buFont typeface="Arial" charset="0"/>
              <a:buNone/>
            </a:pPr>
            <a:endParaRPr lang="en-US" sz="1600" smtClean="0"/>
          </a:p>
          <a:p>
            <a:pPr marL="0" indent="0">
              <a:buFont typeface="Arial" charset="0"/>
              <a:buNone/>
            </a:pPr>
            <a:r>
              <a:rPr lang="en-US" sz="1600" smtClean="0"/>
              <a:t>High manufacturing cost for1</a:t>
            </a:r>
            <a:r>
              <a:rPr lang="en-US" sz="1600" baseline="30000" smtClean="0"/>
              <a:t>st</a:t>
            </a:r>
            <a:r>
              <a:rPr lang="en-US" sz="1600" smtClean="0"/>
              <a:t> gen</a:t>
            </a:r>
          </a:p>
          <a:p>
            <a:pPr marL="0" indent="0">
              <a:buFont typeface="Arial" charset="0"/>
              <a:buNone/>
            </a:pPr>
            <a:r>
              <a:rPr lang="en-US" sz="1600" smtClean="0"/>
              <a:t>Lower cost and flexibility for 2</a:t>
            </a:r>
            <a:r>
              <a:rPr lang="en-US" sz="1600" baseline="30000" smtClean="0"/>
              <a:t>nd</a:t>
            </a:r>
            <a:r>
              <a:rPr lang="en-US" sz="1600" smtClean="0"/>
              <a:t> gen, but associated with lower efficiency</a:t>
            </a:r>
            <a:endParaRPr lang="it-IT" sz="1600" smtClean="0"/>
          </a:p>
        </p:txBody>
      </p:sp>
      <p:sp>
        <p:nvSpPr>
          <p:cNvPr id="9220" name="Segnaposto numero diapositiva 5"/>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charset="0"/>
              </a:defRPr>
            </a:lvl9pPr>
          </a:lstStyle>
          <a:p>
            <a:pPr eaLnBrk="1" hangingPunct="1"/>
            <a:fld id="{43435165-4052-4F83-8488-72D8717691C8}" type="slidenum">
              <a:rPr lang="it-IT" smtClean="0">
                <a:solidFill>
                  <a:schemeClr val="bg1"/>
                </a:solidFill>
              </a:rPr>
              <a:pPr eaLnBrk="1" hangingPunct="1"/>
              <a:t>5</a:t>
            </a:fld>
            <a:endParaRPr lang="it-IT" smtClean="0">
              <a:solidFill>
                <a:schemeClr val="bg1"/>
              </a:solidFill>
            </a:endParaRPr>
          </a:p>
        </p:txBody>
      </p:sp>
      <p:sp>
        <p:nvSpPr>
          <p:cNvPr id="9221" name="Segnaposto contenuto 3"/>
          <p:cNvSpPr>
            <a:spLocks noGrp="1"/>
          </p:cNvSpPr>
          <p:nvPr>
            <p:ph sz="half" idx="4294967295"/>
          </p:nvPr>
        </p:nvSpPr>
        <p:spPr bwMode="auto">
          <a:xfrm>
            <a:off x="4902200" y="1600200"/>
            <a:ext cx="4038600" cy="45259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a:buFont typeface="Arial" charset="0"/>
              <a:buNone/>
            </a:pPr>
            <a:r>
              <a:rPr lang="it-IT" sz="2000" b="1" dirty="0" smtClean="0"/>
              <a:t>Third Generation Solar </a:t>
            </a:r>
            <a:r>
              <a:rPr lang="it-IT" sz="2000" b="1" dirty="0" err="1" smtClean="0"/>
              <a:t>Cells</a:t>
            </a:r>
            <a:endParaRPr lang="it-IT" sz="2000" b="1" dirty="0" smtClean="0"/>
          </a:p>
          <a:p>
            <a:pPr marL="0" indent="0">
              <a:buFont typeface="Arial" charset="0"/>
              <a:buNone/>
            </a:pPr>
            <a:endParaRPr lang="it-IT" sz="2000" dirty="0" smtClean="0"/>
          </a:p>
          <a:p>
            <a:pPr marL="0" indent="0">
              <a:buFont typeface="Arial" charset="0"/>
              <a:buNone/>
            </a:pPr>
            <a:r>
              <a:rPr lang="it-IT" sz="1600" dirty="0" smtClean="0"/>
              <a:t>No </a:t>
            </a:r>
            <a:r>
              <a:rPr lang="it-IT" sz="1600" dirty="0" err="1" smtClean="0"/>
              <a:t>need</a:t>
            </a:r>
            <a:r>
              <a:rPr lang="it-IT" sz="1600" dirty="0" smtClean="0"/>
              <a:t> for a </a:t>
            </a:r>
            <a:r>
              <a:rPr lang="it-IT" sz="1600" dirty="0" err="1" smtClean="0"/>
              <a:t>silicon-based</a:t>
            </a:r>
            <a:r>
              <a:rPr lang="it-IT" sz="1600" dirty="0" smtClean="0"/>
              <a:t> </a:t>
            </a:r>
            <a:r>
              <a:rPr lang="it-IT" sz="1600" dirty="0" err="1" smtClean="0"/>
              <a:t>substrate</a:t>
            </a:r>
            <a:r>
              <a:rPr lang="it-IT" sz="1600" dirty="0" smtClean="0"/>
              <a:t>, </a:t>
            </a:r>
            <a:r>
              <a:rPr lang="it-IT" sz="1600" dirty="0" err="1" smtClean="0"/>
              <a:t>hence</a:t>
            </a:r>
            <a:r>
              <a:rPr lang="it-IT" sz="1600" dirty="0" smtClean="0"/>
              <a:t> no </a:t>
            </a:r>
            <a:r>
              <a:rPr lang="it-IT" sz="1600" dirty="0" err="1" smtClean="0"/>
              <a:t>theoretical</a:t>
            </a:r>
            <a:r>
              <a:rPr lang="it-IT" sz="1600" dirty="0" smtClean="0"/>
              <a:t> </a:t>
            </a:r>
            <a:r>
              <a:rPr lang="it-IT" sz="1600" dirty="0" err="1" smtClean="0"/>
              <a:t>limit</a:t>
            </a:r>
            <a:r>
              <a:rPr lang="it-IT" sz="1600" dirty="0" smtClean="0"/>
              <a:t> on </a:t>
            </a:r>
            <a:r>
              <a:rPr lang="it-IT" sz="1600" dirty="0" err="1" smtClean="0"/>
              <a:t>efficiency</a:t>
            </a:r>
            <a:endParaRPr lang="it-IT" sz="1600" dirty="0" smtClean="0"/>
          </a:p>
          <a:p>
            <a:pPr marL="0" indent="0">
              <a:buFont typeface="Arial" charset="0"/>
              <a:buNone/>
            </a:pPr>
            <a:endParaRPr lang="it-IT" sz="1600" dirty="0" smtClean="0"/>
          </a:p>
          <a:p>
            <a:pPr marL="0" indent="0">
              <a:buFont typeface="Arial" charset="0"/>
              <a:buNone/>
            </a:pPr>
            <a:r>
              <a:rPr lang="en-US" sz="1600" dirty="0" smtClean="0"/>
              <a:t>Many possibilities currently under investigation, in </a:t>
            </a:r>
            <a:r>
              <a:rPr lang="en-US" sz="1600" dirty="0" err="1" smtClean="0"/>
              <a:t>cluding</a:t>
            </a:r>
            <a:r>
              <a:rPr lang="en-US" sz="1600" dirty="0" smtClean="0"/>
              <a:t> polymer solar cells, </a:t>
            </a:r>
            <a:r>
              <a:rPr lang="en-US" sz="1600" dirty="0" err="1" smtClean="0"/>
              <a:t>nanocrystalline</a:t>
            </a:r>
            <a:r>
              <a:rPr lang="en-US" sz="1600" dirty="0" smtClean="0"/>
              <a:t> cells, and dye-sensitized solar cells</a:t>
            </a:r>
          </a:p>
          <a:p>
            <a:pPr marL="0" indent="0">
              <a:buFont typeface="Arial" charset="0"/>
              <a:buNone/>
            </a:pPr>
            <a:endParaRPr lang="en-US" sz="1600" dirty="0" smtClean="0"/>
          </a:p>
          <a:p>
            <a:pPr marL="0" indent="0">
              <a:buFont typeface="Arial" charset="0"/>
              <a:buNone/>
            </a:pPr>
            <a:r>
              <a:rPr lang="it-IT" sz="1600" dirty="0" err="1" smtClean="0"/>
              <a:t>Objectives</a:t>
            </a:r>
            <a:r>
              <a:rPr lang="it-IT" sz="1600" dirty="0" smtClean="0"/>
              <a:t>: </a:t>
            </a:r>
            <a:r>
              <a:rPr lang="it-IT" sz="1600" dirty="0" err="1" smtClean="0"/>
              <a:t>low-cost</a:t>
            </a:r>
            <a:r>
              <a:rPr lang="it-IT" sz="1600" dirty="0" smtClean="0"/>
              <a:t>, high </a:t>
            </a:r>
            <a:r>
              <a:rPr lang="it-IT" sz="1600" dirty="0" err="1" smtClean="0"/>
              <a:t>efficiency</a:t>
            </a:r>
            <a:endParaRPr lang="it-IT" sz="1600" dirty="0"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olo 7"/>
          <p:cNvSpPr>
            <a:spLocks noGrp="1"/>
          </p:cNvSpPr>
          <p:nvPr>
            <p:ph type="title"/>
          </p:nvPr>
        </p:nvSpPr>
        <p:spPr bwMode="auto">
          <a:xfrm>
            <a:off x="457200" y="6350"/>
            <a:ext cx="8229600" cy="7334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it-IT" smtClean="0"/>
              <a:t>“Plasmonics”</a:t>
            </a:r>
          </a:p>
        </p:txBody>
      </p:sp>
      <p:sp>
        <p:nvSpPr>
          <p:cNvPr id="9" name="Segnaposto contenuto 8"/>
          <p:cNvSpPr>
            <a:spLocks noGrp="1"/>
          </p:cNvSpPr>
          <p:nvPr>
            <p:ph idx="1"/>
          </p:nvPr>
        </p:nvSpPr>
        <p:spPr/>
        <p:txBody>
          <a:bodyPr rtlCol="0">
            <a:normAutofit/>
          </a:bodyPr>
          <a:lstStyle/>
          <a:p>
            <a:pPr marL="0" indent="0" eaLnBrk="1" fontAlgn="auto" hangingPunct="1">
              <a:spcAft>
                <a:spcPts val="0"/>
              </a:spcAft>
              <a:buFont typeface="Arial"/>
              <a:buNone/>
              <a:defRPr/>
            </a:pPr>
            <a:r>
              <a:rPr lang="en-US" sz="1600" dirty="0" smtClean="0"/>
              <a:t>An innovative approach in the pursuit of an increment in the total conversion efficiency of conventional semiconductor solar cells is emerging. It consists in the exploitation of a deposition of metal nanoparticles over the semiconductor layer, capable of triggering a localized surface </a:t>
            </a:r>
            <a:r>
              <a:rPr lang="en-US" sz="1600" dirty="0" err="1" smtClean="0"/>
              <a:t>plasmon</a:t>
            </a:r>
            <a:r>
              <a:rPr lang="en-US" sz="1600" dirty="0" smtClean="0"/>
              <a:t> resonance.</a:t>
            </a:r>
          </a:p>
          <a:p>
            <a:pPr marL="0" indent="0" eaLnBrk="1" fontAlgn="auto" hangingPunct="1">
              <a:spcAft>
                <a:spcPts val="0"/>
              </a:spcAft>
              <a:buFont typeface="Arial"/>
              <a:buNone/>
              <a:defRPr/>
            </a:pPr>
            <a:endParaRPr lang="en-US" sz="1600" dirty="0" smtClean="0"/>
          </a:p>
          <a:p>
            <a:pPr marL="0" indent="0" eaLnBrk="1" fontAlgn="auto" hangingPunct="1">
              <a:spcAft>
                <a:spcPts val="0"/>
              </a:spcAft>
              <a:buFont typeface="Arial"/>
              <a:buNone/>
              <a:defRPr/>
            </a:pPr>
            <a:r>
              <a:rPr lang="en-US" sz="1600" b="1" dirty="0" smtClean="0"/>
              <a:t>Localized surface </a:t>
            </a:r>
            <a:r>
              <a:rPr lang="en-US" sz="1600" b="1" dirty="0" err="1" smtClean="0"/>
              <a:t>plasmons</a:t>
            </a:r>
            <a:r>
              <a:rPr lang="en-US" sz="1600" b="1" dirty="0" smtClean="0"/>
              <a:t> (LSP):</a:t>
            </a:r>
          </a:p>
          <a:p>
            <a:pPr marL="0" indent="0" eaLnBrk="1" fontAlgn="auto" hangingPunct="1">
              <a:spcAft>
                <a:spcPts val="0"/>
              </a:spcAft>
              <a:buFont typeface="Arial"/>
              <a:buNone/>
              <a:defRPr/>
            </a:pPr>
            <a:r>
              <a:rPr lang="en-US" sz="1600" dirty="0" smtClean="0"/>
              <a:t>Collective oscillations of the electrons in a metal,  associated with a great increment of the electromagnetic field in the vicinity of the particle</a:t>
            </a:r>
          </a:p>
          <a:p>
            <a:pPr eaLnBrk="1" fontAlgn="auto" hangingPunct="1">
              <a:spcAft>
                <a:spcPts val="0"/>
              </a:spcAft>
              <a:buFont typeface="Arial"/>
              <a:buChar char="•"/>
              <a:defRPr/>
            </a:pPr>
            <a:endParaRPr lang="en-US" sz="2000" dirty="0" smtClean="0"/>
          </a:p>
          <a:p>
            <a:pPr marL="0" indent="0" eaLnBrk="1" fontAlgn="auto" hangingPunct="1">
              <a:spcAft>
                <a:spcPts val="0"/>
              </a:spcAft>
              <a:buFont typeface="Arial"/>
              <a:buNone/>
              <a:defRPr/>
            </a:pPr>
            <a:endParaRPr lang="en-US" sz="2000" dirty="0"/>
          </a:p>
        </p:txBody>
      </p:sp>
      <p:sp>
        <p:nvSpPr>
          <p:cNvPr id="10244" name="Segnaposto numero diapositiva 6"/>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charset="0"/>
              </a:defRPr>
            </a:lvl9pPr>
          </a:lstStyle>
          <a:p>
            <a:pPr eaLnBrk="1" hangingPunct="1"/>
            <a:fld id="{A330DE7F-D419-4885-9417-2680B80E762F}" type="slidenum">
              <a:rPr lang="it-IT" smtClean="0">
                <a:solidFill>
                  <a:schemeClr val="bg1"/>
                </a:solidFill>
              </a:rPr>
              <a:pPr eaLnBrk="1" hangingPunct="1"/>
              <a:t>6</a:t>
            </a:fld>
            <a:endParaRPr lang="it-IT" smtClean="0">
              <a:solidFill>
                <a:schemeClr val="bg1"/>
              </a:solidFill>
            </a:endParaRPr>
          </a:p>
        </p:txBody>
      </p:sp>
      <p:pic>
        <p:nvPicPr>
          <p:cNvPr id="10245" name="Immagine 9"/>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5950" y="4146550"/>
            <a:ext cx="3094038" cy="1300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6" name="Immagine 2" descr="stanford-plasmonics-nanodomes.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52900" y="4138613"/>
            <a:ext cx="2078038" cy="155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7" name="Immagine 3" descr="stanford-plasmonics-imprints.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553200" y="4146550"/>
            <a:ext cx="2078038" cy="155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olo 1"/>
          <p:cNvSpPr>
            <a:spLocks noGrp="1"/>
          </p:cNvSpPr>
          <p:nvPr>
            <p:ph type="title"/>
          </p:nvPr>
        </p:nvSpPr>
        <p:spPr bwMode="auto">
          <a:xfrm>
            <a:off x="457200" y="6350"/>
            <a:ext cx="8229600" cy="7334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smtClean="0"/>
              <a:t>Frequency behavior of metals</a:t>
            </a:r>
          </a:p>
        </p:txBody>
      </p:sp>
      <p:sp>
        <p:nvSpPr>
          <p:cNvPr id="3" name="Segnaposto contenuto 2"/>
          <p:cNvSpPr>
            <a:spLocks noGrp="1"/>
          </p:cNvSpPr>
          <p:nvPr>
            <p:ph idx="1"/>
          </p:nvPr>
        </p:nvSpPr>
        <p:spPr/>
        <p:txBody>
          <a:bodyPr rtlCol="0">
            <a:normAutofit/>
          </a:bodyPr>
          <a:lstStyle/>
          <a:p>
            <a:pPr eaLnBrk="1" fontAlgn="auto" hangingPunct="1">
              <a:spcAft>
                <a:spcPts val="0"/>
              </a:spcAft>
              <a:buFont typeface="Arial"/>
              <a:buChar char="•"/>
              <a:defRPr/>
            </a:pPr>
            <a:r>
              <a:rPr lang="en-US" sz="1600" b="1" dirty="0" smtClean="0"/>
              <a:t>Microwaves:</a:t>
            </a:r>
          </a:p>
          <a:p>
            <a:pPr marL="0" indent="0" eaLnBrk="1" fontAlgn="auto" hangingPunct="1">
              <a:spcAft>
                <a:spcPts val="0"/>
              </a:spcAft>
              <a:buFont typeface="Arial"/>
              <a:buNone/>
              <a:defRPr/>
            </a:pPr>
            <a:r>
              <a:rPr lang="en-US" sz="1600" b="1" dirty="0" smtClean="0"/>
              <a:t>	</a:t>
            </a:r>
            <a:r>
              <a:rPr lang="en-US" sz="1600" dirty="0" smtClean="0"/>
              <a:t>metals are reflective: propagation through them is not possible. The perfect electric 	conductor (PEC) approximation is valid.</a:t>
            </a:r>
          </a:p>
          <a:p>
            <a:pPr marL="0" indent="0" eaLnBrk="1" fontAlgn="auto" hangingPunct="1">
              <a:spcAft>
                <a:spcPts val="0"/>
              </a:spcAft>
              <a:buFont typeface="Arial"/>
              <a:buNone/>
              <a:defRPr/>
            </a:pPr>
            <a:endParaRPr lang="en-US" sz="1600" dirty="0" smtClean="0"/>
          </a:p>
          <a:p>
            <a:pPr eaLnBrk="1" fontAlgn="auto" hangingPunct="1">
              <a:spcAft>
                <a:spcPts val="0"/>
              </a:spcAft>
              <a:buFont typeface="Arial"/>
              <a:buChar char="•"/>
              <a:defRPr/>
            </a:pPr>
            <a:r>
              <a:rPr lang="en-US" sz="1600" b="1" dirty="0" smtClean="0"/>
              <a:t>Near Infrared and Visible:</a:t>
            </a:r>
          </a:p>
          <a:p>
            <a:pPr marL="0" indent="0" eaLnBrk="1" fontAlgn="auto" hangingPunct="1">
              <a:spcAft>
                <a:spcPts val="0"/>
              </a:spcAft>
              <a:buFont typeface="Arial"/>
              <a:buNone/>
              <a:defRPr/>
            </a:pPr>
            <a:r>
              <a:rPr lang="en-US" sz="1600" b="1" dirty="0" smtClean="0"/>
              <a:t>	</a:t>
            </a:r>
            <a:r>
              <a:rPr lang="en-US" sz="1600" dirty="0" smtClean="0"/>
              <a:t>penetration of the field into the metal increases, despite the high levels of dispersion</a:t>
            </a:r>
          </a:p>
          <a:p>
            <a:pPr marL="0" indent="0" eaLnBrk="1" fontAlgn="auto" hangingPunct="1">
              <a:spcAft>
                <a:spcPts val="0"/>
              </a:spcAft>
              <a:buFont typeface="Arial"/>
              <a:buNone/>
              <a:defRPr/>
            </a:pPr>
            <a:endParaRPr lang="en-US" sz="1600" dirty="0" smtClean="0"/>
          </a:p>
          <a:p>
            <a:pPr eaLnBrk="1" fontAlgn="auto" hangingPunct="1">
              <a:spcAft>
                <a:spcPts val="0"/>
              </a:spcAft>
              <a:buFont typeface="Arial"/>
              <a:buChar char="•"/>
              <a:defRPr/>
            </a:pPr>
            <a:r>
              <a:rPr lang="en-US" sz="1600" b="1" dirty="0" smtClean="0"/>
              <a:t>Ultraviolet:</a:t>
            </a:r>
          </a:p>
          <a:p>
            <a:pPr marL="0" indent="0" eaLnBrk="1" fontAlgn="auto" hangingPunct="1">
              <a:spcAft>
                <a:spcPts val="0"/>
              </a:spcAft>
              <a:buFont typeface="Arial"/>
              <a:buNone/>
              <a:defRPr/>
            </a:pPr>
            <a:r>
              <a:rPr lang="en-US" sz="1600" b="1" dirty="0" smtClean="0"/>
              <a:t>	</a:t>
            </a:r>
            <a:r>
              <a:rPr lang="en-US" sz="1600" dirty="0" smtClean="0"/>
              <a:t>metals acquire dielectric behavior and propagation through them is possible.</a:t>
            </a:r>
          </a:p>
          <a:p>
            <a:pPr marL="0" indent="0" eaLnBrk="1" fontAlgn="auto" hangingPunct="1">
              <a:spcAft>
                <a:spcPts val="0"/>
              </a:spcAft>
              <a:buFont typeface="Arial"/>
              <a:buNone/>
              <a:defRPr/>
            </a:pPr>
            <a:r>
              <a:rPr lang="en-US" sz="1600" b="1" dirty="0" smtClean="0"/>
              <a:t>	</a:t>
            </a:r>
            <a:r>
              <a:rPr lang="en-US" sz="1600" dirty="0" smtClean="0"/>
              <a:t>Noble metals like gold and silver have their plasma frequency in this range, hence they 	exhibit a resonant behavior</a:t>
            </a:r>
            <a:endParaRPr lang="en-US" sz="1600" dirty="0"/>
          </a:p>
        </p:txBody>
      </p:sp>
      <p:sp>
        <p:nvSpPr>
          <p:cNvPr id="11268" name="Segnaposto numero diapositiva 5"/>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charset="0"/>
              </a:defRPr>
            </a:lvl9pPr>
          </a:lstStyle>
          <a:p>
            <a:pPr eaLnBrk="1" hangingPunct="1"/>
            <a:fld id="{E5B2D3C8-C1A0-4AA0-891F-13C038F717CA}" type="slidenum">
              <a:rPr lang="it-IT" smtClean="0">
                <a:solidFill>
                  <a:schemeClr val="bg1"/>
                </a:solidFill>
              </a:rPr>
              <a:pPr eaLnBrk="1" hangingPunct="1"/>
              <a:t>7</a:t>
            </a:fld>
            <a:endParaRPr lang="it-IT" smtClean="0">
              <a:solidFill>
                <a:schemeClr val="bg1"/>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olo 1"/>
          <p:cNvSpPr>
            <a:spLocks noGrp="1"/>
          </p:cNvSpPr>
          <p:nvPr>
            <p:ph type="title"/>
          </p:nvPr>
        </p:nvSpPr>
        <p:spPr bwMode="auto">
          <a:xfrm>
            <a:off x="457200" y="6350"/>
            <a:ext cx="8229600" cy="7334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it-IT" smtClean="0"/>
              <a:t>Drude Model- 1</a:t>
            </a:r>
          </a:p>
        </p:txBody>
      </p:sp>
      <p:sp>
        <p:nvSpPr>
          <p:cNvPr id="12291" name="Segnaposto contenuto 2"/>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sz="1600" smtClean="0"/>
              <a:t>Electromagnetic properties of metals have been expressed by the German physicist P.K.L. Drude with a complex dielectric function, derived from a modified plasma model of the metal; at optical frequencies the metal is modeled as a fixed lattice of positive charges, surrounded by a gas of free electrons:</a:t>
            </a:r>
          </a:p>
        </p:txBody>
      </p:sp>
      <p:sp>
        <p:nvSpPr>
          <p:cNvPr id="12292" name="Segnaposto numero diapositiva 5"/>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charset="0"/>
              </a:defRPr>
            </a:lvl9pPr>
          </a:lstStyle>
          <a:p>
            <a:pPr eaLnBrk="1" hangingPunct="1"/>
            <a:fld id="{F363CA7E-4899-4005-A71B-2E856C3F51C7}" type="slidenum">
              <a:rPr lang="it-IT" smtClean="0">
                <a:solidFill>
                  <a:schemeClr val="bg1"/>
                </a:solidFill>
              </a:rPr>
              <a:pPr eaLnBrk="1" hangingPunct="1"/>
              <a:t>8</a:t>
            </a:fld>
            <a:endParaRPr lang="it-IT" smtClean="0">
              <a:solidFill>
                <a:schemeClr val="bg1"/>
              </a:solidFill>
            </a:endParaRPr>
          </a:p>
        </p:txBody>
      </p:sp>
      <p:pic>
        <p:nvPicPr>
          <p:cNvPr id="12293" name="Immagine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42963" y="3187700"/>
            <a:ext cx="2406650" cy="204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2294" name="Oggetto 9"/>
          <p:cNvGraphicFramePr>
            <a:graphicFrameLocks noChangeAspect="1"/>
          </p:cNvGraphicFramePr>
          <p:nvPr>
            <p:extLst>
              <p:ext uri="{D42A27DB-BD31-4B8C-83A1-F6EECF244321}">
                <p14:modId xmlns:p14="http://schemas.microsoft.com/office/powerpoint/2010/main" val="2364492118"/>
              </p:ext>
            </p:extLst>
          </p:nvPr>
        </p:nvGraphicFramePr>
        <p:xfrm>
          <a:off x="4284663" y="2633663"/>
          <a:ext cx="2659062" cy="741362"/>
        </p:xfrm>
        <a:graphic>
          <a:graphicData uri="http://schemas.openxmlformats.org/presentationml/2006/ole">
            <mc:AlternateContent xmlns:mc="http://schemas.openxmlformats.org/markup-compatibility/2006">
              <mc:Choice xmlns:v="urn:schemas-microsoft-com:vml" Requires="v">
                <p:oleObj spid="_x0000_s12329" name="Equation" r:id="rId5" imgW="1663560" imgH="457200" progId="Equation.DSMT4">
                  <p:embed/>
                </p:oleObj>
              </mc:Choice>
              <mc:Fallback>
                <p:oleObj name="Equation" r:id="rId5" imgW="1663560" imgH="457200" progId="Equation.DSMT4">
                  <p:embed/>
                  <p:pic>
                    <p:nvPicPr>
                      <p:cNvPr id="0" name="Oggetto 9"/>
                      <p:cNvPicPr>
                        <a:picLocks noChangeAspect="1" noChangeArrowheads="1"/>
                      </p:cNvPicPr>
                      <p:nvPr/>
                    </p:nvPicPr>
                    <p:blipFill>
                      <a:blip r:embed="rId6"/>
                      <a:srcRect/>
                      <a:stretch>
                        <a:fillRect/>
                      </a:stretch>
                    </p:blipFill>
                    <p:spPr bwMode="auto">
                      <a:xfrm>
                        <a:off x="4284663" y="2633663"/>
                        <a:ext cx="2659062" cy="74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295" name="Oggetto 10"/>
          <p:cNvGraphicFramePr>
            <a:graphicFrameLocks noChangeAspect="1"/>
          </p:cNvGraphicFramePr>
          <p:nvPr>
            <p:extLst>
              <p:ext uri="{D42A27DB-BD31-4B8C-83A1-F6EECF244321}">
                <p14:modId xmlns:p14="http://schemas.microsoft.com/office/powerpoint/2010/main" val="3378719756"/>
              </p:ext>
            </p:extLst>
          </p:nvPr>
        </p:nvGraphicFramePr>
        <p:xfrm>
          <a:off x="3697288" y="4892675"/>
          <a:ext cx="1082675" cy="665163"/>
        </p:xfrm>
        <a:graphic>
          <a:graphicData uri="http://schemas.openxmlformats.org/presentationml/2006/ole">
            <mc:AlternateContent xmlns:mc="http://schemas.openxmlformats.org/markup-compatibility/2006">
              <mc:Choice xmlns:v="urn:schemas-microsoft-com:vml" Requires="v">
                <p:oleObj spid="_x0000_s12330" name="Equation" r:id="rId7" imgW="799920" imgH="482400" progId="Equation.DSMT4">
                  <p:embed/>
                </p:oleObj>
              </mc:Choice>
              <mc:Fallback>
                <p:oleObj name="Equation" r:id="rId7" imgW="799920" imgH="482400" progId="Equation.DSMT4">
                  <p:embed/>
                  <p:pic>
                    <p:nvPicPr>
                      <p:cNvPr id="0" name="Oggetto 10"/>
                      <p:cNvPicPr>
                        <a:picLocks noChangeAspect="1" noChangeArrowheads="1"/>
                      </p:cNvPicPr>
                      <p:nvPr/>
                    </p:nvPicPr>
                    <p:blipFill>
                      <a:blip r:embed="rId8"/>
                      <a:srcRect/>
                      <a:stretch>
                        <a:fillRect/>
                      </a:stretch>
                    </p:blipFill>
                    <p:spPr bwMode="auto">
                      <a:xfrm>
                        <a:off x="3697288" y="4892675"/>
                        <a:ext cx="1082675"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296" name="CasellaDiTesto 11"/>
          <p:cNvSpPr txBox="1">
            <a:spLocks noChangeArrowheads="1"/>
          </p:cNvSpPr>
          <p:nvPr/>
        </p:nvSpPr>
        <p:spPr bwMode="auto">
          <a:xfrm>
            <a:off x="4779963" y="4892675"/>
            <a:ext cx="3738562"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sz="1400"/>
              <a:t>Is the plasma frequency of the electron gas, </a:t>
            </a:r>
            <a:r>
              <a:rPr lang="en-US" sz="1400" i="1"/>
              <a:t>N</a:t>
            </a:r>
            <a:r>
              <a:rPr lang="en-US" sz="1400"/>
              <a:t> is the electron density, </a:t>
            </a:r>
            <a:r>
              <a:rPr lang="en-US" sz="1400" i="1"/>
              <a:t>e</a:t>
            </a:r>
            <a:r>
              <a:rPr lang="en-US" sz="1400"/>
              <a:t> is the electron charge, </a:t>
            </a:r>
            <a:r>
              <a:rPr lang="en-US" sz="1400" i="1"/>
              <a:t>m</a:t>
            </a:r>
            <a:r>
              <a:rPr lang="en-US" sz="1400" i="1" baseline="-25000"/>
              <a:t>e </a:t>
            </a:r>
            <a:r>
              <a:rPr lang="en-US" sz="1400"/>
              <a:t>is the electron mass</a:t>
            </a:r>
          </a:p>
        </p:txBody>
      </p:sp>
      <p:graphicFrame>
        <p:nvGraphicFramePr>
          <p:cNvPr id="12297" name="Oggetto 12"/>
          <p:cNvGraphicFramePr>
            <a:graphicFrameLocks noChangeAspect="1"/>
          </p:cNvGraphicFramePr>
          <p:nvPr>
            <p:extLst>
              <p:ext uri="{D42A27DB-BD31-4B8C-83A1-F6EECF244321}">
                <p14:modId xmlns:p14="http://schemas.microsoft.com/office/powerpoint/2010/main" val="2415245234"/>
              </p:ext>
            </p:extLst>
          </p:nvPr>
        </p:nvGraphicFramePr>
        <p:xfrm>
          <a:off x="4006850" y="3973513"/>
          <a:ext cx="560388" cy="576262"/>
        </p:xfrm>
        <a:graphic>
          <a:graphicData uri="http://schemas.openxmlformats.org/presentationml/2006/ole">
            <mc:AlternateContent xmlns:mc="http://schemas.openxmlformats.org/markup-compatibility/2006">
              <mc:Choice xmlns:v="urn:schemas-microsoft-com:vml" Requires="v">
                <p:oleObj spid="_x0000_s12331" name="Equation" r:id="rId9" imgW="380880" imgH="393480" progId="Equation.DSMT4">
                  <p:embed/>
                </p:oleObj>
              </mc:Choice>
              <mc:Fallback>
                <p:oleObj name="Equation" r:id="rId9" imgW="380880" imgH="393480" progId="Equation.DSMT4">
                  <p:embed/>
                  <p:pic>
                    <p:nvPicPr>
                      <p:cNvPr id="0" name="Oggetto 12"/>
                      <p:cNvPicPr>
                        <a:picLocks noChangeAspect="1" noChangeArrowheads="1"/>
                      </p:cNvPicPr>
                      <p:nvPr/>
                    </p:nvPicPr>
                    <p:blipFill>
                      <a:blip r:embed="rId10"/>
                      <a:srcRect/>
                      <a:stretch>
                        <a:fillRect/>
                      </a:stretch>
                    </p:blipFill>
                    <p:spPr bwMode="auto">
                      <a:xfrm>
                        <a:off x="4006850" y="3973513"/>
                        <a:ext cx="560388"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298" name="CasellaDiTesto 13"/>
          <p:cNvSpPr txBox="1">
            <a:spLocks noChangeArrowheads="1"/>
          </p:cNvSpPr>
          <p:nvPr/>
        </p:nvSpPr>
        <p:spPr bwMode="auto">
          <a:xfrm>
            <a:off x="4779963" y="3890963"/>
            <a:ext cx="4162425"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sz="1400"/>
              <a:t>is the damping rate of the material, defined as the reciprocal of the relaxation time of the electron gas </a:t>
            </a:r>
            <a:r>
              <a:rPr lang="el-GR" sz="1400">
                <a:latin typeface="Times New Roman" pitchFamily="18" charset="0"/>
                <a:cs typeface="Times New Roman" pitchFamily="18" charset="0"/>
              </a:rPr>
              <a:t>τ</a:t>
            </a:r>
            <a:r>
              <a:rPr lang="en-US" sz="1400"/>
              <a:t>, defined as the mean free time between two  electron-lattice collisions and</a:t>
            </a:r>
          </a:p>
        </p:txBody>
      </p:sp>
      <p:sp>
        <p:nvSpPr>
          <p:cNvPr id="12299" name="CasellaDiTesto 13"/>
          <p:cNvSpPr txBox="1">
            <a:spLocks noChangeArrowheads="1"/>
          </p:cNvSpPr>
          <p:nvPr/>
        </p:nvSpPr>
        <p:spPr bwMode="auto">
          <a:xfrm>
            <a:off x="3540125" y="3441700"/>
            <a:ext cx="5402263"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sz="1400"/>
              <a:t>where                is the complex permittivity at infinite frequencies,</a:t>
            </a:r>
          </a:p>
        </p:txBody>
      </p:sp>
      <p:graphicFrame>
        <p:nvGraphicFramePr>
          <p:cNvPr id="12300" name="Oggetto 1"/>
          <p:cNvGraphicFramePr>
            <a:graphicFrameLocks noChangeAspect="1"/>
          </p:cNvGraphicFramePr>
          <p:nvPr>
            <p:extLst>
              <p:ext uri="{D42A27DB-BD31-4B8C-83A1-F6EECF244321}">
                <p14:modId xmlns:p14="http://schemas.microsoft.com/office/powerpoint/2010/main" val="1437384096"/>
              </p:ext>
            </p:extLst>
          </p:nvPr>
        </p:nvGraphicFramePr>
        <p:xfrm>
          <a:off x="4249738" y="3408363"/>
          <a:ext cx="384175" cy="373062"/>
        </p:xfrm>
        <a:graphic>
          <a:graphicData uri="http://schemas.openxmlformats.org/presentationml/2006/ole">
            <mc:AlternateContent xmlns:mc="http://schemas.openxmlformats.org/markup-compatibility/2006">
              <mc:Choice xmlns:v="urn:schemas-microsoft-com:vml" Requires="v">
                <p:oleObj spid="_x0000_s12332" name="Equation" r:id="rId11" imgW="253800" imgH="241200" progId="Equation.DSMT4">
                  <p:embed/>
                </p:oleObj>
              </mc:Choice>
              <mc:Fallback>
                <p:oleObj name="Equation" r:id="rId11" imgW="253800" imgH="241200" progId="Equation.DSMT4">
                  <p:embed/>
                  <p:pic>
                    <p:nvPicPr>
                      <p:cNvPr id="0" name="Oggetto 1"/>
                      <p:cNvPicPr>
                        <a:picLocks noChangeAspect="1" noChangeArrowheads="1"/>
                      </p:cNvPicPr>
                      <p:nvPr/>
                    </p:nvPicPr>
                    <p:blipFill>
                      <a:blip r:embed="rId12"/>
                      <a:srcRect/>
                      <a:stretch>
                        <a:fillRect/>
                      </a:stretch>
                    </p:blipFill>
                    <p:spPr bwMode="auto">
                      <a:xfrm>
                        <a:off x="4249738" y="3408363"/>
                        <a:ext cx="384175"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olo 1"/>
          <p:cNvSpPr>
            <a:spLocks noGrp="1"/>
          </p:cNvSpPr>
          <p:nvPr>
            <p:ph type="title"/>
          </p:nvPr>
        </p:nvSpPr>
        <p:spPr bwMode="auto">
          <a:xfrm>
            <a:off x="457200" y="6350"/>
            <a:ext cx="8229600" cy="7334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it-IT" smtClean="0"/>
              <a:t>Drude Model- 2</a:t>
            </a:r>
          </a:p>
        </p:txBody>
      </p:sp>
      <p:sp>
        <p:nvSpPr>
          <p:cNvPr id="3" name="Segnaposto contenuto 2"/>
          <p:cNvSpPr>
            <a:spLocks noGrp="1"/>
          </p:cNvSpPr>
          <p:nvPr>
            <p:ph idx="1"/>
          </p:nvPr>
        </p:nvSpPr>
        <p:spPr/>
        <p:txBody>
          <a:bodyPr rtlCol="0">
            <a:normAutofit/>
          </a:bodyPr>
          <a:lstStyle/>
          <a:p>
            <a:pPr eaLnBrk="1" fontAlgn="auto" hangingPunct="1">
              <a:spcAft>
                <a:spcPts val="0"/>
              </a:spcAft>
              <a:buFont typeface="Arial"/>
              <a:buChar char="•"/>
              <a:defRPr/>
            </a:pPr>
            <a:r>
              <a:rPr lang="en-US" sz="1600" dirty="0" smtClean="0"/>
              <a:t>Making explicit the real and imaginary of the complex permittivity:</a:t>
            </a:r>
          </a:p>
          <a:p>
            <a:pPr eaLnBrk="1" fontAlgn="auto" hangingPunct="1">
              <a:spcAft>
                <a:spcPts val="0"/>
              </a:spcAft>
              <a:buFont typeface="Arial"/>
              <a:buChar char="•"/>
              <a:defRPr/>
            </a:pPr>
            <a:endParaRPr lang="it-IT" sz="1600" dirty="0" smtClean="0"/>
          </a:p>
          <a:p>
            <a:pPr eaLnBrk="1" fontAlgn="auto" hangingPunct="1">
              <a:spcAft>
                <a:spcPts val="0"/>
              </a:spcAft>
              <a:buFont typeface="Arial"/>
              <a:buChar char="•"/>
              <a:defRPr/>
            </a:pPr>
            <a:endParaRPr lang="it-IT" sz="1600" dirty="0"/>
          </a:p>
          <a:p>
            <a:pPr eaLnBrk="1" fontAlgn="auto" hangingPunct="1">
              <a:spcAft>
                <a:spcPts val="0"/>
              </a:spcAft>
              <a:buFont typeface="Arial"/>
              <a:buChar char="•"/>
              <a:defRPr/>
            </a:pPr>
            <a:endParaRPr lang="it-IT" sz="1600" dirty="0" smtClean="0"/>
          </a:p>
          <a:p>
            <a:pPr eaLnBrk="1" fontAlgn="auto" hangingPunct="1">
              <a:spcAft>
                <a:spcPts val="0"/>
              </a:spcAft>
              <a:buFont typeface="Arial"/>
              <a:buChar char="•"/>
              <a:defRPr/>
            </a:pPr>
            <a:endParaRPr lang="it-IT" sz="1600" dirty="0" smtClean="0"/>
          </a:p>
          <a:p>
            <a:pPr eaLnBrk="1" fontAlgn="auto" hangingPunct="1">
              <a:spcAft>
                <a:spcPts val="0"/>
              </a:spcAft>
              <a:buFont typeface="Arial"/>
              <a:buChar char="•"/>
              <a:defRPr/>
            </a:pPr>
            <a:endParaRPr lang="it-IT" sz="1600" dirty="0"/>
          </a:p>
          <a:p>
            <a:pPr eaLnBrk="1" fontAlgn="auto" hangingPunct="1">
              <a:spcAft>
                <a:spcPts val="0"/>
              </a:spcAft>
              <a:buFont typeface="Arial"/>
              <a:buChar char="•"/>
              <a:defRPr/>
            </a:pPr>
            <a:endParaRPr lang="it-IT" sz="1600" dirty="0"/>
          </a:p>
          <a:p>
            <a:pPr eaLnBrk="1" fontAlgn="auto" hangingPunct="1">
              <a:spcAft>
                <a:spcPts val="0"/>
              </a:spcAft>
              <a:buFont typeface="Arial"/>
              <a:buChar char="•"/>
              <a:defRPr/>
            </a:pPr>
            <a:endParaRPr lang="it-IT" sz="1600" dirty="0" smtClean="0"/>
          </a:p>
          <a:p>
            <a:pPr marL="0" indent="0" eaLnBrk="1" fontAlgn="auto" hangingPunct="1">
              <a:spcAft>
                <a:spcPts val="0"/>
              </a:spcAft>
              <a:buFont typeface="Arial"/>
              <a:buNone/>
              <a:defRPr/>
            </a:pPr>
            <a:endParaRPr lang="it-IT" sz="1600" dirty="0"/>
          </a:p>
          <a:p>
            <a:pPr eaLnBrk="1" fontAlgn="auto" hangingPunct="1">
              <a:spcAft>
                <a:spcPts val="0"/>
              </a:spcAft>
              <a:buFont typeface="Arial"/>
              <a:buChar char="•"/>
              <a:defRPr/>
            </a:pPr>
            <a:r>
              <a:rPr lang="it-IT" sz="1600" dirty="0" smtClean="0"/>
              <a:t>                                           </a:t>
            </a:r>
          </a:p>
          <a:p>
            <a:pPr marL="0" indent="0" eaLnBrk="1" fontAlgn="auto" hangingPunct="1">
              <a:spcAft>
                <a:spcPts val="0"/>
              </a:spcAft>
              <a:buFont typeface="Arial"/>
              <a:buNone/>
              <a:defRPr/>
            </a:pPr>
            <a:r>
              <a:rPr lang="it-IT" sz="1600" dirty="0"/>
              <a:t>	</a:t>
            </a:r>
            <a:r>
              <a:rPr lang="en-US" sz="1600" dirty="0" smtClean="0"/>
              <a:t>The dielectric function is mostly real, hence propagation is possible through the metal</a:t>
            </a:r>
          </a:p>
          <a:p>
            <a:pPr marL="0" indent="0" eaLnBrk="1" fontAlgn="auto" hangingPunct="1">
              <a:spcAft>
                <a:spcPts val="0"/>
              </a:spcAft>
              <a:buFont typeface="Arial"/>
              <a:buNone/>
              <a:defRPr/>
            </a:pPr>
            <a:endParaRPr lang="it-IT" sz="1600" dirty="0" smtClean="0"/>
          </a:p>
          <a:p>
            <a:pPr eaLnBrk="1" fontAlgn="auto" hangingPunct="1">
              <a:spcAft>
                <a:spcPts val="0"/>
              </a:spcAft>
              <a:buFont typeface="Arial"/>
              <a:buChar char="•"/>
              <a:defRPr/>
            </a:pPr>
            <a:r>
              <a:rPr lang="it-IT" sz="1600" dirty="0"/>
              <a:t> </a:t>
            </a:r>
            <a:r>
              <a:rPr lang="it-IT" sz="1600" dirty="0" smtClean="0"/>
              <a:t>                 </a:t>
            </a:r>
          </a:p>
          <a:p>
            <a:pPr marL="0" indent="0" eaLnBrk="1" fontAlgn="auto" hangingPunct="1">
              <a:spcAft>
                <a:spcPts val="0"/>
              </a:spcAft>
              <a:buFont typeface="Arial"/>
              <a:buNone/>
              <a:defRPr/>
            </a:pPr>
            <a:r>
              <a:rPr lang="it-IT" sz="1600" dirty="0"/>
              <a:t>	</a:t>
            </a:r>
            <a:r>
              <a:rPr lang="en-US" sz="1600" dirty="0"/>
              <a:t> The dielectric function is mostly </a:t>
            </a:r>
            <a:r>
              <a:rPr lang="en-US" sz="1600" dirty="0" smtClean="0"/>
              <a:t>imaginary</a:t>
            </a:r>
            <a:r>
              <a:rPr lang="it-IT" sz="1600" dirty="0" smtClean="0"/>
              <a:t>, </a:t>
            </a:r>
            <a:r>
              <a:rPr lang="it-IT" sz="1600" dirty="0" err="1" smtClean="0"/>
              <a:t>hence</a:t>
            </a:r>
            <a:r>
              <a:rPr lang="it-IT" sz="1600" dirty="0" smtClean="0"/>
              <a:t> a </a:t>
            </a:r>
            <a:r>
              <a:rPr lang="it-IT" sz="1600" dirty="0" err="1" smtClean="0"/>
              <a:t>damping</a:t>
            </a:r>
            <a:r>
              <a:rPr lang="it-IT" sz="1600" dirty="0" smtClean="0"/>
              <a:t> </a:t>
            </a:r>
            <a:r>
              <a:rPr lang="it-IT" sz="1600" dirty="0" err="1" smtClean="0"/>
              <a:t>mechanism</a:t>
            </a:r>
            <a:r>
              <a:rPr lang="it-IT" sz="1600" dirty="0" smtClean="0"/>
              <a:t> </a:t>
            </a:r>
            <a:r>
              <a:rPr lang="it-IT" sz="1600" dirty="0" err="1" smtClean="0"/>
              <a:t>occurs</a:t>
            </a:r>
            <a:r>
              <a:rPr lang="it-IT" sz="1600" dirty="0" smtClean="0"/>
              <a:t>: no 	</a:t>
            </a:r>
            <a:r>
              <a:rPr lang="it-IT" sz="1600" dirty="0" err="1" smtClean="0"/>
              <a:t>propagation</a:t>
            </a:r>
            <a:r>
              <a:rPr lang="it-IT" sz="1600" dirty="0"/>
              <a:t> </a:t>
            </a:r>
            <a:r>
              <a:rPr lang="it-IT" sz="1600" dirty="0" err="1"/>
              <a:t>through</a:t>
            </a:r>
            <a:r>
              <a:rPr lang="it-IT" sz="1600" dirty="0"/>
              <a:t> the </a:t>
            </a:r>
            <a:r>
              <a:rPr lang="it-IT" sz="1600" dirty="0" smtClean="0"/>
              <a:t>metal </a:t>
            </a:r>
            <a:r>
              <a:rPr lang="it-IT" sz="1600" dirty="0" err="1" smtClean="0"/>
              <a:t>at</a:t>
            </a:r>
            <a:r>
              <a:rPr lang="it-IT" sz="1600" dirty="0" smtClean="0"/>
              <a:t> </a:t>
            </a:r>
            <a:r>
              <a:rPr lang="it-IT" sz="1600" dirty="0" err="1" smtClean="0"/>
              <a:t>frequencies</a:t>
            </a:r>
            <a:r>
              <a:rPr lang="it-IT" sz="1600" dirty="0" smtClean="0"/>
              <a:t> </a:t>
            </a:r>
            <a:r>
              <a:rPr lang="it-IT" sz="1600" dirty="0" err="1" smtClean="0"/>
              <a:t>below</a:t>
            </a:r>
            <a:r>
              <a:rPr lang="it-IT" sz="1600" dirty="0" smtClean="0"/>
              <a:t> the plasma </a:t>
            </a:r>
            <a:r>
              <a:rPr lang="it-IT" sz="1600" dirty="0" err="1" smtClean="0"/>
              <a:t>frequency</a:t>
            </a:r>
            <a:endParaRPr lang="it-IT" sz="1600" dirty="0"/>
          </a:p>
        </p:txBody>
      </p:sp>
      <p:sp>
        <p:nvSpPr>
          <p:cNvPr id="13316" name="Segnaposto numero diapositiva 5"/>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charset="0"/>
              </a:defRPr>
            </a:lvl9pPr>
          </a:lstStyle>
          <a:p>
            <a:pPr eaLnBrk="1" hangingPunct="1"/>
            <a:fld id="{1C3B150C-A33B-4280-AA1D-27B50DE89B65}" type="slidenum">
              <a:rPr lang="it-IT" smtClean="0">
                <a:solidFill>
                  <a:schemeClr val="bg1"/>
                </a:solidFill>
              </a:rPr>
              <a:pPr eaLnBrk="1" hangingPunct="1"/>
              <a:t>9</a:t>
            </a:fld>
            <a:endParaRPr lang="it-IT" smtClean="0">
              <a:solidFill>
                <a:schemeClr val="bg1"/>
              </a:solidFill>
            </a:endParaRPr>
          </a:p>
        </p:txBody>
      </p:sp>
      <p:graphicFrame>
        <p:nvGraphicFramePr>
          <p:cNvPr id="13317" name="Oggetto 6"/>
          <p:cNvGraphicFramePr>
            <a:graphicFrameLocks noChangeAspect="1"/>
          </p:cNvGraphicFramePr>
          <p:nvPr/>
        </p:nvGraphicFramePr>
        <p:xfrm>
          <a:off x="4514850" y="3346450"/>
          <a:ext cx="114300" cy="165100"/>
        </p:xfrm>
        <a:graphic>
          <a:graphicData uri="http://schemas.openxmlformats.org/presentationml/2006/ole">
            <mc:AlternateContent xmlns:mc="http://schemas.openxmlformats.org/markup-compatibility/2006">
              <mc:Choice xmlns:v="urn:schemas-microsoft-com:vml" Requires="v">
                <p:oleObj spid="_x0000_s13365" name="Equation" r:id="rId3" imgW="100440" imgH="155160" progId="Equation.DSMT4">
                  <p:embed/>
                </p:oleObj>
              </mc:Choice>
              <mc:Fallback>
                <p:oleObj name="Equation" r:id="rId3" imgW="100440" imgH="155160" progId="Equation.DSMT4">
                  <p:embed/>
                  <p:pic>
                    <p:nvPicPr>
                      <p:cNvPr id="0" name="Oggetto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46450"/>
                        <a:ext cx="114300"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318" name="Oggetto 7"/>
          <p:cNvGraphicFramePr>
            <a:graphicFrameLocks noChangeAspect="1"/>
          </p:cNvGraphicFramePr>
          <p:nvPr>
            <p:extLst>
              <p:ext uri="{D42A27DB-BD31-4B8C-83A1-F6EECF244321}">
                <p14:modId xmlns:p14="http://schemas.microsoft.com/office/powerpoint/2010/main" val="620011304"/>
              </p:ext>
            </p:extLst>
          </p:nvPr>
        </p:nvGraphicFramePr>
        <p:xfrm>
          <a:off x="3322638" y="2403475"/>
          <a:ext cx="2921000" cy="479425"/>
        </p:xfrm>
        <a:graphic>
          <a:graphicData uri="http://schemas.openxmlformats.org/presentationml/2006/ole">
            <mc:AlternateContent xmlns:mc="http://schemas.openxmlformats.org/markup-compatibility/2006">
              <mc:Choice xmlns:v="urn:schemas-microsoft-com:vml" Requires="v">
                <p:oleObj spid="_x0000_s13366" name="Equation" r:id="rId5" imgW="1600200" imgH="253800" progId="Equation.DSMT4">
                  <p:embed/>
                </p:oleObj>
              </mc:Choice>
              <mc:Fallback>
                <p:oleObj name="Equation" r:id="rId5" imgW="1600200" imgH="253800" progId="Equation.DSMT4">
                  <p:embed/>
                  <p:pic>
                    <p:nvPicPr>
                      <p:cNvPr id="0" name="Oggetto 7"/>
                      <p:cNvPicPr>
                        <a:picLocks noChangeAspect="1" noChangeArrowheads="1"/>
                      </p:cNvPicPr>
                      <p:nvPr/>
                    </p:nvPicPr>
                    <p:blipFill>
                      <a:blip r:embed="rId6"/>
                      <a:srcRect/>
                      <a:stretch>
                        <a:fillRect/>
                      </a:stretch>
                    </p:blipFill>
                    <p:spPr bwMode="auto">
                      <a:xfrm>
                        <a:off x="3322638" y="2403475"/>
                        <a:ext cx="29210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319" name="Oggetto 8"/>
          <p:cNvGraphicFramePr>
            <a:graphicFrameLocks noChangeAspect="1"/>
          </p:cNvGraphicFramePr>
          <p:nvPr>
            <p:extLst>
              <p:ext uri="{D42A27DB-BD31-4B8C-83A1-F6EECF244321}">
                <p14:modId xmlns:p14="http://schemas.microsoft.com/office/powerpoint/2010/main" val="2817872522"/>
              </p:ext>
            </p:extLst>
          </p:nvPr>
        </p:nvGraphicFramePr>
        <p:xfrm>
          <a:off x="908050" y="3035300"/>
          <a:ext cx="2886075" cy="615950"/>
        </p:xfrm>
        <a:graphic>
          <a:graphicData uri="http://schemas.openxmlformats.org/presentationml/2006/ole">
            <mc:AlternateContent xmlns:mc="http://schemas.openxmlformats.org/markup-compatibility/2006">
              <mc:Choice xmlns:v="urn:schemas-microsoft-com:vml" Requires="v">
                <p:oleObj spid="_x0000_s13367" name="Equation" r:id="rId7" imgW="2120760" imgH="444240" progId="Equation.DSMT4">
                  <p:embed/>
                </p:oleObj>
              </mc:Choice>
              <mc:Fallback>
                <p:oleObj name="Equation" r:id="rId7" imgW="2120760" imgH="444240" progId="Equation.DSMT4">
                  <p:embed/>
                  <p:pic>
                    <p:nvPicPr>
                      <p:cNvPr id="0" name="Oggetto 8"/>
                      <p:cNvPicPr>
                        <a:picLocks noChangeAspect="1" noChangeArrowheads="1"/>
                      </p:cNvPicPr>
                      <p:nvPr/>
                    </p:nvPicPr>
                    <p:blipFill>
                      <a:blip r:embed="rId8"/>
                      <a:srcRect/>
                      <a:stretch>
                        <a:fillRect/>
                      </a:stretch>
                    </p:blipFill>
                    <p:spPr bwMode="auto">
                      <a:xfrm>
                        <a:off x="908050" y="3035300"/>
                        <a:ext cx="28860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320" name="Oggetto 9"/>
          <p:cNvGraphicFramePr>
            <a:graphicFrameLocks noChangeAspect="1"/>
          </p:cNvGraphicFramePr>
          <p:nvPr>
            <p:extLst>
              <p:ext uri="{D42A27DB-BD31-4B8C-83A1-F6EECF244321}">
                <p14:modId xmlns:p14="http://schemas.microsoft.com/office/powerpoint/2010/main" val="457863378"/>
              </p:ext>
            </p:extLst>
          </p:nvPr>
        </p:nvGraphicFramePr>
        <p:xfrm>
          <a:off x="5745163" y="3035300"/>
          <a:ext cx="2776537" cy="688975"/>
        </p:xfrm>
        <a:graphic>
          <a:graphicData uri="http://schemas.openxmlformats.org/presentationml/2006/ole">
            <mc:AlternateContent xmlns:mc="http://schemas.openxmlformats.org/markup-compatibility/2006">
              <mc:Choice xmlns:v="urn:schemas-microsoft-com:vml" Requires="v">
                <p:oleObj spid="_x0000_s13368" name="Equation" r:id="rId9" imgW="2133360" imgH="520560" progId="Equation.DSMT4">
                  <p:embed/>
                </p:oleObj>
              </mc:Choice>
              <mc:Fallback>
                <p:oleObj name="Equation" r:id="rId9" imgW="2133360" imgH="520560" progId="Equation.DSMT4">
                  <p:embed/>
                  <p:pic>
                    <p:nvPicPr>
                      <p:cNvPr id="0" name="Oggetto 9"/>
                      <p:cNvPicPr>
                        <a:picLocks noChangeAspect="1" noChangeArrowheads="1"/>
                      </p:cNvPicPr>
                      <p:nvPr/>
                    </p:nvPicPr>
                    <p:blipFill>
                      <a:blip r:embed="rId10"/>
                      <a:srcRect/>
                      <a:stretch>
                        <a:fillRect/>
                      </a:stretch>
                    </p:blipFill>
                    <p:spPr bwMode="auto">
                      <a:xfrm>
                        <a:off x="5745163" y="3035300"/>
                        <a:ext cx="2776537"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321" name="Oggetto 10"/>
          <p:cNvGraphicFramePr>
            <a:graphicFrameLocks noChangeAspect="1"/>
          </p:cNvGraphicFramePr>
          <p:nvPr>
            <p:extLst>
              <p:ext uri="{D42A27DB-BD31-4B8C-83A1-F6EECF244321}">
                <p14:modId xmlns:p14="http://schemas.microsoft.com/office/powerpoint/2010/main" val="193427471"/>
              </p:ext>
            </p:extLst>
          </p:nvPr>
        </p:nvGraphicFramePr>
        <p:xfrm>
          <a:off x="944563" y="4160838"/>
          <a:ext cx="2349500" cy="369887"/>
        </p:xfrm>
        <a:graphic>
          <a:graphicData uri="http://schemas.openxmlformats.org/presentationml/2006/ole">
            <mc:AlternateContent xmlns:mc="http://schemas.openxmlformats.org/markup-compatibility/2006">
              <mc:Choice xmlns:v="urn:schemas-microsoft-com:vml" Requires="v">
                <p:oleObj spid="_x0000_s13369" name="Equation" r:id="rId11" imgW="1688760" imgH="253800" progId="Equation.DSMT4">
                  <p:embed/>
                </p:oleObj>
              </mc:Choice>
              <mc:Fallback>
                <p:oleObj name="Equation" r:id="rId11" imgW="1688760" imgH="253800" progId="Equation.DSMT4">
                  <p:embed/>
                  <p:pic>
                    <p:nvPicPr>
                      <p:cNvPr id="0" name="Oggetto 10"/>
                      <p:cNvPicPr>
                        <a:picLocks noChangeAspect="1" noChangeArrowheads="1"/>
                      </p:cNvPicPr>
                      <p:nvPr/>
                    </p:nvPicPr>
                    <p:blipFill>
                      <a:blip r:embed="rId12"/>
                      <a:srcRect/>
                      <a:stretch>
                        <a:fillRect/>
                      </a:stretch>
                    </p:blipFill>
                    <p:spPr bwMode="auto">
                      <a:xfrm>
                        <a:off x="944563" y="4160838"/>
                        <a:ext cx="23495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322" name="Oggetto 11"/>
          <p:cNvGraphicFramePr>
            <a:graphicFrameLocks noChangeAspect="1"/>
          </p:cNvGraphicFramePr>
          <p:nvPr>
            <p:extLst>
              <p:ext uri="{D42A27DB-BD31-4B8C-83A1-F6EECF244321}">
                <p14:modId xmlns:p14="http://schemas.microsoft.com/office/powerpoint/2010/main" val="2709462785"/>
              </p:ext>
            </p:extLst>
          </p:nvPr>
        </p:nvGraphicFramePr>
        <p:xfrm>
          <a:off x="933450" y="5037138"/>
          <a:ext cx="2360613" cy="371475"/>
        </p:xfrm>
        <a:graphic>
          <a:graphicData uri="http://schemas.openxmlformats.org/presentationml/2006/ole">
            <mc:AlternateContent xmlns:mc="http://schemas.openxmlformats.org/markup-compatibility/2006">
              <mc:Choice xmlns:v="urn:schemas-microsoft-com:vml" Requires="v">
                <p:oleObj spid="_x0000_s13370" name="Equation" r:id="rId13" imgW="1688760" imgH="253800" progId="Equation.DSMT4">
                  <p:embed/>
                </p:oleObj>
              </mc:Choice>
              <mc:Fallback>
                <p:oleObj name="Equation" r:id="rId13" imgW="1688760" imgH="253800" progId="Equation.DSMT4">
                  <p:embed/>
                  <p:pic>
                    <p:nvPicPr>
                      <p:cNvPr id="0" name="Oggetto 11"/>
                      <p:cNvPicPr>
                        <a:picLocks noChangeAspect="1" noChangeArrowheads="1"/>
                      </p:cNvPicPr>
                      <p:nvPr/>
                    </p:nvPicPr>
                    <p:blipFill>
                      <a:blip r:embed="rId14"/>
                      <a:srcRect/>
                      <a:stretch>
                        <a:fillRect/>
                      </a:stretch>
                    </p:blipFill>
                    <p:spPr bwMode="auto">
                      <a:xfrm>
                        <a:off x="933450" y="5037138"/>
                        <a:ext cx="2360613"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olo 1"/>
          <p:cNvSpPr>
            <a:spLocks noGrp="1"/>
          </p:cNvSpPr>
          <p:nvPr>
            <p:ph type="title"/>
          </p:nvPr>
        </p:nvSpPr>
        <p:spPr bwMode="auto">
          <a:xfrm>
            <a:off x="457200" y="6350"/>
            <a:ext cx="8229600" cy="7334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it-IT" smtClean="0"/>
              <a:t>Drude-Lorentz Model</a:t>
            </a:r>
          </a:p>
        </p:txBody>
      </p:sp>
      <p:sp>
        <p:nvSpPr>
          <p:cNvPr id="14339" name="Segnaposto numero diapositiva 5"/>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charset="0"/>
              </a:defRPr>
            </a:lvl9pPr>
          </a:lstStyle>
          <a:p>
            <a:pPr eaLnBrk="1" hangingPunct="1"/>
            <a:fld id="{5B0260F5-682E-49F7-A02F-83232BE09A5F}" type="slidenum">
              <a:rPr lang="it-IT" smtClean="0">
                <a:solidFill>
                  <a:schemeClr val="bg1"/>
                </a:solidFill>
              </a:rPr>
              <a:pPr eaLnBrk="1" hangingPunct="1"/>
              <a:t>10</a:t>
            </a:fld>
            <a:endParaRPr lang="it-IT" smtClean="0">
              <a:solidFill>
                <a:schemeClr val="bg1"/>
              </a:solidFill>
            </a:endParaRPr>
          </a:p>
        </p:txBody>
      </p:sp>
      <p:pic>
        <p:nvPicPr>
          <p:cNvPr id="14340" name="Immagin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3" y="3187700"/>
            <a:ext cx="2406650" cy="204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4341" name="Oggetto 9"/>
          <p:cNvGraphicFramePr>
            <a:graphicFrameLocks noChangeAspect="1"/>
          </p:cNvGraphicFramePr>
          <p:nvPr>
            <p:extLst>
              <p:ext uri="{D42A27DB-BD31-4B8C-83A1-F6EECF244321}">
                <p14:modId xmlns:p14="http://schemas.microsoft.com/office/powerpoint/2010/main" val="255520959"/>
              </p:ext>
            </p:extLst>
          </p:nvPr>
        </p:nvGraphicFramePr>
        <p:xfrm>
          <a:off x="3952875" y="3298825"/>
          <a:ext cx="3822700" cy="741363"/>
        </p:xfrm>
        <a:graphic>
          <a:graphicData uri="http://schemas.openxmlformats.org/presentationml/2006/ole">
            <mc:AlternateContent xmlns:mc="http://schemas.openxmlformats.org/markup-compatibility/2006">
              <mc:Choice xmlns:v="urn:schemas-microsoft-com:vml" Requires="v">
                <p:oleObj spid="_x0000_s14367" name="Equation" r:id="rId4" imgW="2527200" imgH="482400" progId="Equation.DSMT4">
                  <p:embed/>
                </p:oleObj>
              </mc:Choice>
              <mc:Fallback>
                <p:oleObj name="Equation" r:id="rId4" imgW="2527200" imgH="482400" progId="Equation.DSMT4">
                  <p:embed/>
                  <p:pic>
                    <p:nvPicPr>
                      <p:cNvPr id="0" name="Oggetto 9"/>
                      <p:cNvPicPr>
                        <a:picLocks noChangeAspect="1" noChangeArrowheads="1"/>
                      </p:cNvPicPr>
                      <p:nvPr/>
                    </p:nvPicPr>
                    <p:blipFill>
                      <a:blip r:embed="rId5"/>
                      <a:srcRect/>
                      <a:stretch>
                        <a:fillRect/>
                      </a:stretch>
                    </p:blipFill>
                    <p:spPr bwMode="auto">
                      <a:xfrm>
                        <a:off x="3952875" y="3298825"/>
                        <a:ext cx="3822700"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42" name="Oggetto 1"/>
          <p:cNvGraphicFramePr>
            <a:graphicFrameLocks noChangeAspect="1"/>
          </p:cNvGraphicFramePr>
          <p:nvPr>
            <p:extLst>
              <p:ext uri="{D42A27DB-BD31-4B8C-83A1-F6EECF244321}">
                <p14:modId xmlns:p14="http://schemas.microsoft.com/office/powerpoint/2010/main" val="2849274718"/>
              </p:ext>
            </p:extLst>
          </p:nvPr>
        </p:nvGraphicFramePr>
        <p:xfrm>
          <a:off x="4856163" y="5689600"/>
          <a:ext cx="2328862" cy="661988"/>
        </p:xfrm>
        <a:graphic>
          <a:graphicData uri="http://schemas.openxmlformats.org/presentationml/2006/ole">
            <mc:AlternateContent xmlns:mc="http://schemas.openxmlformats.org/markup-compatibility/2006">
              <mc:Choice xmlns:v="urn:schemas-microsoft-com:vml" Requires="v">
                <p:oleObj spid="_x0000_s14368" name="Equation" r:id="rId6" imgW="1676160" imgH="469800" progId="Equation.DSMT4">
                  <p:embed/>
                </p:oleObj>
              </mc:Choice>
              <mc:Fallback>
                <p:oleObj name="Equation" r:id="rId6" imgW="1676160" imgH="469800" progId="Equation.DSMT4">
                  <p:embed/>
                  <p:pic>
                    <p:nvPicPr>
                      <p:cNvPr id="0" name="Oggetto 1"/>
                      <p:cNvPicPr>
                        <a:picLocks noChangeAspect="1" noChangeArrowheads="1"/>
                      </p:cNvPicPr>
                      <p:nvPr/>
                    </p:nvPicPr>
                    <p:blipFill>
                      <a:blip r:embed="rId7"/>
                      <a:srcRect/>
                      <a:stretch>
                        <a:fillRect/>
                      </a:stretch>
                    </p:blipFill>
                    <p:spPr bwMode="auto">
                      <a:xfrm>
                        <a:off x="4856163" y="5689600"/>
                        <a:ext cx="2328862" cy="66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43" name="CasellaDiTesto 1"/>
          <p:cNvSpPr txBox="1">
            <a:spLocks noChangeArrowheads="1"/>
          </p:cNvSpPr>
          <p:nvPr/>
        </p:nvSpPr>
        <p:spPr bwMode="auto">
          <a:xfrm>
            <a:off x="173038" y="1539875"/>
            <a:ext cx="9107487"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sz="1600"/>
              <a:t>The simple Drude model does not take into account the interband transitions which occur </a:t>
            </a:r>
          </a:p>
          <a:p>
            <a:pPr eaLnBrk="1" hangingPunct="1"/>
            <a:r>
              <a:rPr lang="en-US" sz="1600"/>
              <a:t>in metals at frequencies above the plasma one.</a:t>
            </a:r>
          </a:p>
          <a:p>
            <a:pPr eaLnBrk="1" hangingPunct="1"/>
            <a:r>
              <a:rPr lang="en-US" sz="1600"/>
              <a:t>The Drude-Lorentz model, which consists in the addition of K Lorentzian terms, corresponding to K damped</a:t>
            </a:r>
          </a:p>
          <a:p>
            <a:pPr eaLnBrk="1" hangingPunct="1"/>
            <a:r>
              <a:rPr lang="en-US" sz="1600"/>
              <a:t>harmonic oscillators used to describe the small resonances observed in the metal’s frequency response,</a:t>
            </a:r>
          </a:p>
          <a:p>
            <a:pPr eaLnBrk="1" hangingPunct="1"/>
            <a:r>
              <a:rPr lang="en-US" sz="1600"/>
              <a:t>Is instead capable of achieving a more accurate modeling of the permittivity at optical frequencies</a:t>
            </a:r>
            <a:endParaRPr lang="it-IT" sz="1600"/>
          </a:p>
        </p:txBody>
      </p:sp>
      <p:sp>
        <p:nvSpPr>
          <p:cNvPr id="14344" name="CasellaDiTesto 8"/>
          <p:cNvSpPr txBox="1">
            <a:spLocks noChangeArrowheads="1"/>
          </p:cNvSpPr>
          <p:nvPr/>
        </p:nvSpPr>
        <p:spPr bwMode="auto">
          <a:xfrm>
            <a:off x="4090988" y="4498975"/>
            <a:ext cx="4595812"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sz="1600"/>
              <a:t>where                     are the resonance frequency, strength and damping frequency, respectively , of the k-th oscillator,</a:t>
            </a:r>
          </a:p>
          <a:p>
            <a:pPr eaLnBrk="1" hangingPunct="1"/>
            <a:r>
              <a:rPr lang="en-US" sz="1600"/>
              <a:t>and the simple Drude model can be viewed as</a:t>
            </a:r>
            <a:endParaRPr lang="it-IT" sz="1600"/>
          </a:p>
        </p:txBody>
      </p:sp>
      <p:graphicFrame>
        <p:nvGraphicFramePr>
          <p:cNvPr id="14345" name="Oggetto 3"/>
          <p:cNvGraphicFramePr>
            <a:graphicFrameLocks noChangeAspect="1"/>
          </p:cNvGraphicFramePr>
          <p:nvPr/>
        </p:nvGraphicFramePr>
        <p:xfrm>
          <a:off x="4727575" y="4498975"/>
          <a:ext cx="903288" cy="371475"/>
        </p:xfrm>
        <a:graphic>
          <a:graphicData uri="http://schemas.openxmlformats.org/presentationml/2006/ole">
            <mc:AlternateContent xmlns:mc="http://schemas.openxmlformats.org/markup-compatibility/2006">
              <mc:Choice xmlns:v="urn:schemas-microsoft-com:vml" Requires="v">
                <p:oleObj spid="_x0000_s14369" name="Equation" r:id="rId8" imgW="596900" imgH="241300" progId="Equation.DSMT4">
                  <p:embed/>
                </p:oleObj>
              </mc:Choice>
              <mc:Fallback>
                <p:oleObj name="Equation" r:id="rId8" imgW="596900" imgH="241300" progId="Equation.DSMT4">
                  <p:embed/>
                  <p:pic>
                    <p:nvPicPr>
                      <p:cNvPr id="0" name="Oggetto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27575" y="4498975"/>
                        <a:ext cx="903288"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ttangolo 1"/>
          <p:cNvSpPr>
            <a:spLocks noChangeArrowheads="1"/>
          </p:cNvSpPr>
          <p:nvPr/>
        </p:nvSpPr>
        <p:spPr bwMode="auto">
          <a:xfrm>
            <a:off x="323850" y="3038475"/>
            <a:ext cx="8175625"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1600"/>
              <a:t>If                , there is no phase variation of the field within the sphere.</a:t>
            </a:r>
          </a:p>
          <a:p>
            <a:endParaRPr lang="en-US" sz="1600"/>
          </a:p>
          <a:p>
            <a:r>
              <a:rPr lang="en-US" sz="1600"/>
              <a:t>Hence an electrostatic approximation is possible. Under these circumstances, the nanoparticle acts as an electric dipole, resonantly absorbing and scattering electromagnetic fields</a:t>
            </a:r>
          </a:p>
          <a:p>
            <a:endParaRPr lang="en-US" sz="1600"/>
          </a:p>
          <a:p>
            <a:r>
              <a:rPr lang="it-IT" sz="1600"/>
              <a:t>The plasmonic resonance occurs when the Frölich condition is met</a:t>
            </a:r>
          </a:p>
          <a:p>
            <a:endParaRPr lang="it-IT" sz="1600"/>
          </a:p>
          <a:p>
            <a:endParaRPr lang="it-IT" sz="1600"/>
          </a:p>
          <a:p>
            <a:r>
              <a:rPr lang="it-IT" sz="1600"/>
              <a:t>Which corresponds to a great value of the polarizability</a:t>
            </a:r>
          </a:p>
          <a:p>
            <a:endParaRPr lang="it-IT" sz="1600"/>
          </a:p>
          <a:p>
            <a:endParaRPr lang="it-IT" sz="1600"/>
          </a:p>
          <a:p>
            <a:r>
              <a:rPr lang="it-IT" sz="1600"/>
              <a:t>And hence to a great  value of the magnitude of the polarization intensity</a:t>
            </a:r>
          </a:p>
        </p:txBody>
      </p:sp>
      <p:sp>
        <p:nvSpPr>
          <p:cNvPr id="15363" name="Titolo 1"/>
          <p:cNvSpPr>
            <a:spLocks noGrp="1"/>
          </p:cNvSpPr>
          <p:nvPr>
            <p:ph type="title"/>
          </p:nvPr>
        </p:nvSpPr>
        <p:spPr bwMode="auto">
          <a:xfrm>
            <a:off x="457200" y="33338"/>
            <a:ext cx="8229600" cy="7064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it-IT" smtClean="0"/>
              <a:t>Localized Surface Plasmons (LSP)</a:t>
            </a:r>
          </a:p>
        </p:txBody>
      </p:sp>
      <p:pic>
        <p:nvPicPr>
          <p:cNvPr id="15364" name="Segnaposto contenuto 8"/>
          <p:cNvPicPr>
            <a:picLocks noGrp="1" noChangeAspect="1"/>
          </p:cNvPicPr>
          <p:nvPr>
            <p:ph sz="half" idx="1"/>
          </p:nvPr>
        </p:nvPicPr>
        <p:blipFill>
          <a:blip r:embed="rId3">
            <a:extLst>
              <a:ext uri="{28A0092B-C50C-407E-A947-70E740481C1C}">
                <a14:useLocalDpi xmlns:a14="http://schemas.microsoft.com/office/drawing/2010/main" val="0"/>
              </a:ext>
            </a:extLst>
          </a:blip>
          <a:srcRect t="-53641" b="-53641"/>
          <a:stretch>
            <a:fillRect/>
          </a:stretch>
        </p:blipFill>
        <p:spPr bwMode="auto">
          <a:xfrm>
            <a:off x="457200" y="274638"/>
            <a:ext cx="3041650" cy="34099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5" name="Segnaposto contenuto 7"/>
          <p:cNvSpPr>
            <a:spLocks noGrp="1"/>
          </p:cNvSpPr>
          <p:nvPr>
            <p:ph sz="half" idx="2"/>
          </p:nvPr>
        </p:nvSpPr>
        <p:spPr bwMode="auto">
          <a:xfrm>
            <a:off x="3971925" y="1219200"/>
            <a:ext cx="4954588" cy="18192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Font typeface="Arial" charset="0"/>
              <a:buNone/>
            </a:pPr>
            <a:r>
              <a:rPr lang="en-US" sz="1600" smtClean="0"/>
              <a:t>Localized Surface Plasmons are nonpropagating excitations of the conduction electrons of metallic nanostructures coupled to the electromagnetic field, which arise naturally from the scattering problem of small, subwavelength conductive nanoparticles in an oscillating electromagnetic field</a:t>
            </a:r>
          </a:p>
          <a:p>
            <a:pPr marL="0" indent="0" eaLnBrk="1" hangingPunct="1">
              <a:buFont typeface="Arial" charset="0"/>
              <a:buNone/>
            </a:pPr>
            <a:endParaRPr lang="it-IT" sz="1400" smtClean="0"/>
          </a:p>
          <a:p>
            <a:pPr marL="0" indent="0" eaLnBrk="1" hangingPunct="1">
              <a:buFont typeface="Arial" charset="0"/>
              <a:buNone/>
            </a:pPr>
            <a:r>
              <a:rPr lang="it-IT" sz="1600" b="1" smtClean="0"/>
              <a:t>	</a:t>
            </a:r>
            <a:endParaRPr lang="it-IT" sz="1600" smtClean="0"/>
          </a:p>
        </p:txBody>
      </p:sp>
      <p:graphicFrame>
        <p:nvGraphicFramePr>
          <p:cNvPr id="15367" name="Oggetto 9"/>
          <p:cNvGraphicFramePr>
            <a:graphicFrameLocks noChangeAspect="1"/>
          </p:cNvGraphicFramePr>
          <p:nvPr/>
        </p:nvGraphicFramePr>
        <p:xfrm>
          <a:off x="711200" y="3103563"/>
          <a:ext cx="500063" cy="212725"/>
        </p:xfrm>
        <a:graphic>
          <a:graphicData uri="http://schemas.openxmlformats.org/presentationml/2006/ole">
            <mc:AlternateContent xmlns:mc="http://schemas.openxmlformats.org/markup-compatibility/2006">
              <mc:Choice xmlns:v="urn:schemas-microsoft-com:vml" Requires="v">
                <p:oleObj spid="_x0000_s15399" name="Equation" r:id="rId4" imgW="411120" imgH="164520" progId="Equation.DSMT4">
                  <p:embed/>
                </p:oleObj>
              </mc:Choice>
              <mc:Fallback>
                <p:oleObj name="Equation" r:id="rId4" imgW="411120" imgH="164520" progId="Equation.DSMT4">
                  <p:embed/>
                  <p:pic>
                    <p:nvPicPr>
                      <p:cNvPr id="0" name="Oggetto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1200" y="3103563"/>
                        <a:ext cx="50006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368" name="Oggetto 16"/>
          <p:cNvGraphicFramePr>
            <a:graphicFrameLocks noChangeAspect="1"/>
          </p:cNvGraphicFramePr>
          <p:nvPr>
            <p:extLst>
              <p:ext uri="{D42A27DB-BD31-4B8C-83A1-F6EECF244321}">
                <p14:modId xmlns:p14="http://schemas.microsoft.com/office/powerpoint/2010/main" val="3045127874"/>
              </p:ext>
            </p:extLst>
          </p:nvPr>
        </p:nvGraphicFramePr>
        <p:xfrm>
          <a:off x="6164263" y="4268788"/>
          <a:ext cx="1722437" cy="427037"/>
        </p:xfrm>
        <a:graphic>
          <a:graphicData uri="http://schemas.openxmlformats.org/presentationml/2006/ole">
            <mc:AlternateContent xmlns:mc="http://schemas.openxmlformats.org/markup-compatibility/2006">
              <mc:Choice xmlns:v="urn:schemas-microsoft-com:vml" Requires="v">
                <p:oleObj spid="_x0000_s15400" name="Equation" r:id="rId6" imgW="1079280" imgH="253800" progId="Equation.DSMT4">
                  <p:embed/>
                </p:oleObj>
              </mc:Choice>
              <mc:Fallback>
                <p:oleObj name="Equation" r:id="rId6" imgW="1079280" imgH="253800" progId="Equation.DSMT4">
                  <p:embed/>
                  <p:pic>
                    <p:nvPicPr>
                      <p:cNvPr id="0" name="Oggetto 16"/>
                      <p:cNvPicPr>
                        <a:picLocks noChangeAspect="1" noChangeArrowheads="1"/>
                      </p:cNvPicPr>
                      <p:nvPr/>
                    </p:nvPicPr>
                    <p:blipFill>
                      <a:blip r:embed="rId7"/>
                      <a:srcRect/>
                      <a:stretch>
                        <a:fillRect/>
                      </a:stretch>
                    </p:blipFill>
                    <p:spPr bwMode="auto">
                      <a:xfrm>
                        <a:off x="6164263" y="4268788"/>
                        <a:ext cx="172243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369" name="Oggetto 22"/>
          <p:cNvGraphicFramePr>
            <a:graphicFrameLocks noChangeAspect="1"/>
          </p:cNvGraphicFramePr>
          <p:nvPr>
            <p:extLst>
              <p:ext uri="{D42A27DB-BD31-4B8C-83A1-F6EECF244321}">
                <p14:modId xmlns:p14="http://schemas.microsoft.com/office/powerpoint/2010/main" val="2314836215"/>
              </p:ext>
            </p:extLst>
          </p:nvPr>
        </p:nvGraphicFramePr>
        <p:xfrm>
          <a:off x="6742113" y="5815013"/>
          <a:ext cx="1231900" cy="381000"/>
        </p:xfrm>
        <a:graphic>
          <a:graphicData uri="http://schemas.openxmlformats.org/presentationml/2006/ole">
            <mc:AlternateContent xmlns:mc="http://schemas.openxmlformats.org/markup-compatibility/2006">
              <mc:Choice xmlns:v="urn:schemas-microsoft-com:vml" Requires="v">
                <p:oleObj spid="_x0000_s15401" name="Equation" r:id="rId8" imgW="774360" imgH="228600" progId="Equation.DSMT4">
                  <p:embed/>
                </p:oleObj>
              </mc:Choice>
              <mc:Fallback>
                <p:oleObj name="Equation" r:id="rId8" imgW="774360" imgH="228600" progId="Equation.DSMT4">
                  <p:embed/>
                  <p:pic>
                    <p:nvPicPr>
                      <p:cNvPr id="0" name="Oggetto 22"/>
                      <p:cNvPicPr>
                        <a:picLocks noChangeAspect="1" noChangeArrowheads="1"/>
                      </p:cNvPicPr>
                      <p:nvPr/>
                    </p:nvPicPr>
                    <p:blipFill>
                      <a:blip r:embed="rId9"/>
                      <a:srcRect/>
                      <a:stretch>
                        <a:fillRect/>
                      </a:stretch>
                    </p:blipFill>
                    <p:spPr bwMode="auto">
                      <a:xfrm>
                        <a:off x="6742113" y="5815013"/>
                        <a:ext cx="12319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370" name="Oggetto 27"/>
          <p:cNvGraphicFramePr>
            <a:graphicFrameLocks noChangeAspect="1"/>
          </p:cNvGraphicFramePr>
          <p:nvPr>
            <p:extLst>
              <p:ext uri="{D42A27DB-BD31-4B8C-83A1-F6EECF244321}">
                <p14:modId xmlns:p14="http://schemas.microsoft.com/office/powerpoint/2010/main" val="1710114363"/>
              </p:ext>
            </p:extLst>
          </p:nvPr>
        </p:nvGraphicFramePr>
        <p:xfrm>
          <a:off x="6218238" y="4943475"/>
          <a:ext cx="1676400" cy="676275"/>
        </p:xfrm>
        <a:graphic>
          <a:graphicData uri="http://schemas.openxmlformats.org/presentationml/2006/ole">
            <mc:AlternateContent xmlns:mc="http://schemas.openxmlformats.org/markup-compatibility/2006">
              <mc:Choice xmlns:v="urn:schemas-microsoft-com:vml" Requires="v">
                <p:oleObj spid="_x0000_s15402" name="Equation" r:id="rId10" imgW="1117440" imgH="444240" progId="Equation.DSMT4">
                  <p:embed/>
                </p:oleObj>
              </mc:Choice>
              <mc:Fallback>
                <p:oleObj name="Equation" r:id="rId10" imgW="1117440" imgH="444240" progId="Equation.DSMT4">
                  <p:embed/>
                  <p:pic>
                    <p:nvPicPr>
                      <p:cNvPr id="0" name="Oggetto 27"/>
                      <p:cNvPicPr>
                        <a:picLocks noChangeAspect="1" noChangeArrowheads="1"/>
                      </p:cNvPicPr>
                      <p:nvPr/>
                    </p:nvPicPr>
                    <p:blipFill>
                      <a:blip r:embed="rId11"/>
                      <a:srcRect/>
                      <a:stretch>
                        <a:fillRect/>
                      </a:stretch>
                    </p:blipFill>
                    <p:spPr bwMode="auto">
                      <a:xfrm>
                        <a:off x="6218238" y="4943475"/>
                        <a:ext cx="167640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Segnaposto numero diapositiva 5"/>
          <p:cNvSpPr>
            <a:spLocks noGrp="1"/>
          </p:cNvSpPr>
          <p:nvPr>
            <p:ph type="sldNum" sz="quarter" idx="10"/>
          </p:nvPr>
        </p:nvSpPr>
        <p:spPr bwMode="auto">
          <a:xfrm>
            <a:off x="8529638" y="6602413"/>
            <a:ext cx="614362" cy="2555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charset="0"/>
              </a:defRPr>
            </a:lvl9pPr>
          </a:lstStyle>
          <a:p>
            <a:pPr eaLnBrk="1" hangingPunct="1"/>
            <a:fld id="{5B0260F5-682E-49F7-A02F-83232BE09A5F}" type="slidenum">
              <a:rPr lang="it-IT" smtClean="0">
                <a:solidFill>
                  <a:schemeClr val="bg1"/>
                </a:solidFill>
              </a:rPr>
              <a:pPr eaLnBrk="1" hangingPunct="1"/>
              <a:t>11</a:t>
            </a:fld>
            <a:endParaRPr lang="it-IT" smtClean="0">
              <a:solidFill>
                <a:schemeClr val="bg1"/>
              </a:solidFil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ttangolo 21"/>
          <p:cNvSpPr>
            <a:spLocks noChangeArrowheads="1"/>
          </p:cNvSpPr>
          <p:nvPr/>
        </p:nvSpPr>
        <p:spPr bwMode="auto">
          <a:xfrm>
            <a:off x="323850" y="1500188"/>
            <a:ext cx="8175625" cy="5016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1600" dirty="0"/>
              <a:t>At the </a:t>
            </a:r>
            <a:r>
              <a:rPr lang="en-US" sz="1600" dirty="0" err="1"/>
              <a:t>plasmonic</a:t>
            </a:r>
            <a:r>
              <a:rPr lang="en-US" sz="1600" dirty="0"/>
              <a:t> resonance the electric field inside and outside the nanoparticle is greatly enhanced, and so does the efficiency with which a metal nanoparticle scatters and absorbs light</a:t>
            </a:r>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r>
              <a:rPr lang="en-US" sz="1600" dirty="0"/>
              <a:t>Scattering and Absorption cross-section:</a:t>
            </a:r>
          </a:p>
          <a:p>
            <a:endParaRPr lang="en-US" sz="1600" dirty="0"/>
          </a:p>
          <a:p>
            <a:endParaRPr lang="en-US" sz="1600" dirty="0"/>
          </a:p>
          <a:p>
            <a:endParaRPr lang="en-US" sz="1600" dirty="0"/>
          </a:p>
          <a:p>
            <a:endParaRPr lang="en-US" sz="1600" dirty="0"/>
          </a:p>
          <a:p>
            <a:endParaRPr lang="en-US" sz="1600" dirty="0"/>
          </a:p>
          <a:p>
            <a:r>
              <a:rPr lang="en-US" sz="1600" dirty="0"/>
              <a:t>                                                                         dominant for small particles                </a:t>
            </a:r>
          </a:p>
          <a:p>
            <a:endParaRPr lang="en-US" sz="1600" dirty="0"/>
          </a:p>
          <a:p>
            <a:r>
              <a:rPr lang="en-US" sz="1600" dirty="0"/>
              <a:t>Ten to one-hundred-fold increments of the electric field are reported in </a:t>
            </a:r>
            <a:r>
              <a:rPr lang="en-US" sz="1600" dirty="0" smtClean="0"/>
              <a:t>literature</a:t>
            </a:r>
            <a:endParaRPr lang="en-US" sz="1600" dirty="0"/>
          </a:p>
        </p:txBody>
      </p:sp>
      <p:sp>
        <p:nvSpPr>
          <p:cNvPr id="16387" name="Titolo 1"/>
          <p:cNvSpPr>
            <a:spLocks noGrp="1"/>
          </p:cNvSpPr>
          <p:nvPr>
            <p:ph type="title"/>
          </p:nvPr>
        </p:nvSpPr>
        <p:spPr bwMode="auto">
          <a:xfrm>
            <a:off x="457200" y="6350"/>
            <a:ext cx="8229600" cy="7334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it-IT" smtClean="0"/>
              <a:t>Localized Surface Plasmons (LSP)</a:t>
            </a:r>
          </a:p>
        </p:txBody>
      </p:sp>
      <p:sp>
        <p:nvSpPr>
          <p:cNvPr id="16388" name="Segnaposto numero diapositiva 5"/>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charset="0"/>
              </a:defRPr>
            </a:lvl9pPr>
          </a:lstStyle>
          <a:p>
            <a:pPr eaLnBrk="1" hangingPunct="1"/>
            <a:fld id="{ED65D8B1-7A3F-48BA-A7CD-D86D75EE631A}" type="slidenum">
              <a:rPr lang="it-IT" smtClean="0">
                <a:solidFill>
                  <a:schemeClr val="bg1"/>
                </a:solidFill>
              </a:rPr>
              <a:pPr eaLnBrk="1" hangingPunct="1"/>
              <a:t>12</a:t>
            </a:fld>
            <a:endParaRPr lang="it-IT" smtClean="0">
              <a:solidFill>
                <a:schemeClr val="bg1"/>
              </a:solidFill>
            </a:endParaRPr>
          </a:p>
        </p:txBody>
      </p:sp>
      <p:graphicFrame>
        <p:nvGraphicFramePr>
          <p:cNvPr id="16389" name="Oggetto 18"/>
          <p:cNvGraphicFramePr>
            <a:graphicFrameLocks noChangeAspect="1"/>
          </p:cNvGraphicFramePr>
          <p:nvPr>
            <p:extLst>
              <p:ext uri="{D42A27DB-BD31-4B8C-83A1-F6EECF244321}">
                <p14:modId xmlns:p14="http://schemas.microsoft.com/office/powerpoint/2010/main" val="3217804849"/>
              </p:ext>
            </p:extLst>
          </p:nvPr>
        </p:nvGraphicFramePr>
        <p:xfrm>
          <a:off x="2782888" y="2343150"/>
          <a:ext cx="1322387" cy="617538"/>
        </p:xfrm>
        <a:graphic>
          <a:graphicData uri="http://schemas.openxmlformats.org/presentationml/2006/ole">
            <mc:AlternateContent xmlns:mc="http://schemas.openxmlformats.org/markup-compatibility/2006">
              <mc:Choice xmlns:v="urn:schemas-microsoft-com:vml" Requires="v">
                <p:oleObj spid="_x0000_s16431" name="Equation" r:id="rId4" imgW="965160" imgH="444240" progId="Equation.DSMT4">
                  <p:embed/>
                </p:oleObj>
              </mc:Choice>
              <mc:Fallback>
                <p:oleObj name="Equation" r:id="rId4" imgW="965160" imgH="444240" progId="Equation.DSMT4">
                  <p:embed/>
                  <p:pic>
                    <p:nvPicPr>
                      <p:cNvPr id="0" name="Oggetto 18"/>
                      <p:cNvPicPr>
                        <a:picLocks noChangeAspect="1" noChangeArrowheads="1"/>
                      </p:cNvPicPr>
                      <p:nvPr/>
                    </p:nvPicPr>
                    <p:blipFill>
                      <a:blip r:embed="rId5"/>
                      <a:srcRect/>
                      <a:stretch>
                        <a:fillRect/>
                      </a:stretch>
                    </p:blipFill>
                    <p:spPr bwMode="auto">
                      <a:xfrm>
                        <a:off x="2782888" y="2343150"/>
                        <a:ext cx="1322387"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390" name="CasellaDiTesto 19"/>
          <p:cNvSpPr txBox="1">
            <a:spLocks noChangeArrowheads="1"/>
          </p:cNvSpPr>
          <p:nvPr/>
        </p:nvSpPr>
        <p:spPr bwMode="auto">
          <a:xfrm>
            <a:off x="384175" y="2416175"/>
            <a:ext cx="22590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sz="1600"/>
              <a:t>Internal electric field</a:t>
            </a:r>
          </a:p>
        </p:txBody>
      </p:sp>
      <p:graphicFrame>
        <p:nvGraphicFramePr>
          <p:cNvPr id="16391" name="Oggetto 20"/>
          <p:cNvGraphicFramePr>
            <a:graphicFrameLocks noChangeAspect="1"/>
          </p:cNvGraphicFramePr>
          <p:nvPr>
            <p:extLst>
              <p:ext uri="{D42A27DB-BD31-4B8C-83A1-F6EECF244321}">
                <p14:modId xmlns:p14="http://schemas.microsoft.com/office/powerpoint/2010/main" val="1962271734"/>
              </p:ext>
            </p:extLst>
          </p:nvPr>
        </p:nvGraphicFramePr>
        <p:xfrm>
          <a:off x="2503488" y="3236913"/>
          <a:ext cx="2262187" cy="671512"/>
        </p:xfrm>
        <a:graphic>
          <a:graphicData uri="http://schemas.openxmlformats.org/presentationml/2006/ole">
            <mc:AlternateContent xmlns:mc="http://schemas.openxmlformats.org/markup-compatibility/2006">
              <mc:Choice xmlns:v="urn:schemas-microsoft-com:vml" Requires="v">
                <p:oleObj spid="_x0000_s16432" name="Equation" r:id="rId6" imgW="1612800" imgH="469800" progId="Equation.DSMT4">
                  <p:embed/>
                </p:oleObj>
              </mc:Choice>
              <mc:Fallback>
                <p:oleObj name="Equation" r:id="rId6" imgW="1612800" imgH="469800" progId="Equation.DSMT4">
                  <p:embed/>
                  <p:pic>
                    <p:nvPicPr>
                      <p:cNvPr id="0" name="Oggetto 20"/>
                      <p:cNvPicPr>
                        <a:picLocks noChangeAspect="1" noChangeArrowheads="1"/>
                      </p:cNvPicPr>
                      <p:nvPr/>
                    </p:nvPicPr>
                    <p:blipFill>
                      <a:blip r:embed="rId7"/>
                      <a:srcRect/>
                      <a:stretch>
                        <a:fillRect/>
                      </a:stretch>
                    </p:blipFill>
                    <p:spPr bwMode="auto">
                      <a:xfrm>
                        <a:off x="2503488" y="3236913"/>
                        <a:ext cx="2262187" cy="67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392" name="CasellaDiTesto 21"/>
          <p:cNvSpPr txBox="1">
            <a:spLocks noChangeArrowheads="1"/>
          </p:cNvSpPr>
          <p:nvPr/>
        </p:nvSpPr>
        <p:spPr bwMode="auto">
          <a:xfrm>
            <a:off x="384175" y="3313113"/>
            <a:ext cx="22590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sz="1600"/>
              <a:t>External electric field</a:t>
            </a:r>
          </a:p>
        </p:txBody>
      </p:sp>
      <p:graphicFrame>
        <p:nvGraphicFramePr>
          <p:cNvPr id="16393" name="Oggetto 1"/>
          <p:cNvGraphicFramePr>
            <a:graphicFrameLocks noChangeAspect="1"/>
          </p:cNvGraphicFramePr>
          <p:nvPr>
            <p:extLst>
              <p:ext uri="{D42A27DB-BD31-4B8C-83A1-F6EECF244321}">
                <p14:modId xmlns:p14="http://schemas.microsoft.com/office/powerpoint/2010/main" val="4070959859"/>
              </p:ext>
            </p:extLst>
          </p:nvPr>
        </p:nvGraphicFramePr>
        <p:xfrm>
          <a:off x="1957388" y="4781550"/>
          <a:ext cx="1582737" cy="581025"/>
        </p:xfrm>
        <a:graphic>
          <a:graphicData uri="http://schemas.openxmlformats.org/presentationml/2006/ole">
            <mc:AlternateContent xmlns:mc="http://schemas.openxmlformats.org/markup-compatibility/2006">
              <mc:Choice xmlns:v="urn:schemas-microsoft-com:vml" Requires="v">
                <p:oleObj spid="_x0000_s16433" name="Equation" r:id="rId8" imgW="1155600" imgH="419040" progId="Equation.DSMT4">
                  <p:embed/>
                </p:oleObj>
              </mc:Choice>
              <mc:Fallback>
                <p:oleObj name="Equation" r:id="rId8" imgW="1155600" imgH="419040" progId="Equation.DSMT4">
                  <p:embed/>
                  <p:pic>
                    <p:nvPicPr>
                      <p:cNvPr id="0" name="Oggetto 1"/>
                      <p:cNvPicPr>
                        <a:picLocks noChangeAspect="1" noChangeArrowheads="1"/>
                      </p:cNvPicPr>
                      <p:nvPr/>
                    </p:nvPicPr>
                    <p:blipFill>
                      <a:blip r:embed="rId9"/>
                      <a:srcRect/>
                      <a:stretch>
                        <a:fillRect/>
                      </a:stretch>
                    </p:blipFill>
                    <p:spPr bwMode="auto">
                      <a:xfrm>
                        <a:off x="1957388" y="4781550"/>
                        <a:ext cx="1582737"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94" name="Oggetto 2"/>
          <p:cNvGraphicFramePr>
            <a:graphicFrameLocks noChangeAspect="1"/>
          </p:cNvGraphicFramePr>
          <p:nvPr>
            <p:extLst>
              <p:ext uri="{D42A27DB-BD31-4B8C-83A1-F6EECF244321}">
                <p14:modId xmlns:p14="http://schemas.microsoft.com/office/powerpoint/2010/main" val="882113624"/>
              </p:ext>
            </p:extLst>
          </p:nvPr>
        </p:nvGraphicFramePr>
        <p:xfrm>
          <a:off x="1955800" y="5656263"/>
          <a:ext cx="1620838" cy="352425"/>
        </p:xfrm>
        <a:graphic>
          <a:graphicData uri="http://schemas.openxmlformats.org/presentationml/2006/ole">
            <mc:AlternateContent xmlns:mc="http://schemas.openxmlformats.org/markup-compatibility/2006">
              <mc:Choice xmlns:v="urn:schemas-microsoft-com:vml" Requires="v">
                <p:oleObj spid="_x0000_s16434" name="Equation" r:id="rId10" imgW="1180800" imgH="253800" progId="Equation.DSMT4">
                  <p:embed/>
                </p:oleObj>
              </mc:Choice>
              <mc:Fallback>
                <p:oleObj name="Equation" r:id="rId10" imgW="1180800" imgH="253800" progId="Equation.DSMT4">
                  <p:embed/>
                  <p:pic>
                    <p:nvPicPr>
                      <p:cNvPr id="0" name="Oggetto 2"/>
                      <p:cNvPicPr>
                        <a:picLocks noChangeAspect="1" noChangeArrowheads="1"/>
                      </p:cNvPicPr>
                      <p:nvPr/>
                    </p:nvPicPr>
                    <p:blipFill>
                      <a:blip r:embed="rId11"/>
                      <a:srcRect/>
                      <a:stretch>
                        <a:fillRect/>
                      </a:stretch>
                    </p:blipFill>
                    <p:spPr bwMode="auto">
                      <a:xfrm>
                        <a:off x="1955800" y="5656263"/>
                        <a:ext cx="162083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95" name="Oggetto 3"/>
          <p:cNvGraphicFramePr>
            <a:graphicFrameLocks noChangeAspect="1"/>
          </p:cNvGraphicFramePr>
          <p:nvPr>
            <p:extLst>
              <p:ext uri="{D42A27DB-BD31-4B8C-83A1-F6EECF244321}">
                <p14:modId xmlns:p14="http://schemas.microsoft.com/office/powerpoint/2010/main" val="1066787839"/>
              </p:ext>
            </p:extLst>
          </p:nvPr>
        </p:nvGraphicFramePr>
        <p:xfrm>
          <a:off x="6362700" y="5681663"/>
          <a:ext cx="557213" cy="246062"/>
        </p:xfrm>
        <a:graphic>
          <a:graphicData uri="http://schemas.openxmlformats.org/presentationml/2006/ole">
            <mc:AlternateContent xmlns:mc="http://schemas.openxmlformats.org/markup-compatibility/2006">
              <mc:Choice xmlns:v="urn:schemas-microsoft-com:vml" Requires="v">
                <p:oleObj spid="_x0000_s16435" name="Equation" r:id="rId12" imgW="406080" imgH="177480" progId="Equation.DSMT4">
                  <p:embed/>
                </p:oleObj>
              </mc:Choice>
              <mc:Fallback>
                <p:oleObj name="Equation" r:id="rId12" imgW="406080" imgH="177480" progId="Equation.DSMT4">
                  <p:embed/>
                  <p:pic>
                    <p:nvPicPr>
                      <p:cNvPr id="0" name="Oggetto 3"/>
                      <p:cNvPicPr>
                        <a:picLocks noChangeAspect="1" noChangeArrowheads="1"/>
                      </p:cNvPicPr>
                      <p:nvPr/>
                    </p:nvPicPr>
                    <p:blipFill>
                      <a:blip r:embed="rId13"/>
                      <a:srcRect/>
                      <a:stretch>
                        <a:fillRect/>
                      </a:stretch>
                    </p:blipFill>
                    <p:spPr bwMode="auto">
                      <a:xfrm>
                        <a:off x="6362700" y="5681663"/>
                        <a:ext cx="557213"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olo 1"/>
          <p:cNvSpPr>
            <a:spLocks noGrp="1"/>
          </p:cNvSpPr>
          <p:nvPr>
            <p:ph type="title"/>
          </p:nvPr>
        </p:nvSpPr>
        <p:spPr bwMode="auto">
          <a:xfrm>
            <a:off x="457200" y="6350"/>
            <a:ext cx="8229600" cy="7334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it-IT" smtClean="0"/>
              <a:t>Spherical Nanoparticle Deposition</a:t>
            </a:r>
          </a:p>
        </p:txBody>
      </p:sp>
      <p:sp>
        <p:nvSpPr>
          <p:cNvPr id="18435" name="Segnaposto contenuto 6"/>
          <p:cNvSpPr>
            <a:spLocks noGrp="1"/>
          </p:cNvSpPr>
          <p:nvPr>
            <p:ph idx="1"/>
          </p:nvPr>
        </p:nvSpPr>
        <p:spPr bwMode="auto">
          <a:xfrm>
            <a:off x="457200" y="1411288"/>
            <a:ext cx="8229600"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buFont typeface="Arial" charset="0"/>
              <a:buNone/>
            </a:pPr>
            <a:r>
              <a:rPr lang="en-US" sz="1800" smtClean="0"/>
              <a:t>The properties of a structure composed by a deposition of metallic nanoparticles over a silicon substrate</a:t>
            </a:r>
          </a:p>
          <a:p>
            <a:pPr marL="0" indent="0">
              <a:buFont typeface="Arial" charset="0"/>
              <a:buNone/>
            </a:pPr>
            <a:endParaRPr lang="en-US" sz="1800" smtClean="0"/>
          </a:p>
          <a:p>
            <a:pPr marL="0" indent="0">
              <a:buFont typeface="Arial" charset="0"/>
              <a:buNone/>
            </a:pPr>
            <a:r>
              <a:rPr lang="en-US" sz="1800" smtClean="0"/>
              <a:t>Regular (periodic array) deposition opposed to random deposition</a:t>
            </a:r>
          </a:p>
          <a:p>
            <a:pPr marL="0" indent="0">
              <a:buFont typeface="Arial" charset="0"/>
              <a:buNone/>
            </a:pPr>
            <a:endParaRPr lang="en-US" sz="1800" smtClean="0"/>
          </a:p>
          <a:p>
            <a:pPr marL="0" indent="0">
              <a:buFont typeface="Arial" charset="0"/>
              <a:buNone/>
            </a:pPr>
            <a:r>
              <a:rPr lang="en-US" sz="1800" smtClean="0"/>
              <a:t>Investigation inspired by Polman’s work, where a solar cell composed by a periodic deposition of nanoparticles is compared to a randomly patterned one</a:t>
            </a:r>
            <a:endParaRPr lang="en-US" sz="2400" smtClean="0"/>
          </a:p>
        </p:txBody>
      </p:sp>
      <p:sp>
        <p:nvSpPr>
          <p:cNvPr id="18436" name="Segnaposto numero diapositiva 5"/>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charset="0"/>
              </a:defRPr>
            </a:lvl9pPr>
          </a:lstStyle>
          <a:p>
            <a:pPr eaLnBrk="1" hangingPunct="1"/>
            <a:fld id="{C044DFF9-17C4-4AA7-9B1B-7F64FC225C8A}" type="slidenum">
              <a:rPr lang="it-IT" smtClean="0">
                <a:solidFill>
                  <a:schemeClr val="bg1"/>
                </a:solidFill>
              </a:rPr>
              <a:pPr eaLnBrk="1" hangingPunct="1"/>
              <a:t>13</a:t>
            </a:fld>
            <a:endParaRPr lang="it-IT" smtClean="0">
              <a:solidFill>
                <a:schemeClr val="bg1"/>
              </a:solidFill>
            </a:endParaRPr>
          </a:p>
        </p:txBody>
      </p:sp>
      <p:pic>
        <p:nvPicPr>
          <p:cNvPr id="18437"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3698875"/>
            <a:ext cx="7505700" cy="280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olo 1"/>
          <p:cNvSpPr>
            <a:spLocks noGrp="1"/>
          </p:cNvSpPr>
          <p:nvPr>
            <p:ph type="title"/>
          </p:nvPr>
        </p:nvSpPr>
        <p:spPr bwMode="auto">
          <a:xfrm>
            <a:off x="457200" y="6350"/>
            <a:ext cx="8229600" cy="7334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it-IT" smtClean="0"/>
              <a:t>FEM</a:t>
            </a:r>
          </a:p>
        </p:txBody>
      </p:sp>
      <p:sp>
        <p:nvSpPr>
          <p:cNvPr id="19459" name="Segnaposto contenuto 1"/>
          <p:cNvSpPr>
            <a:spLocks noGrp="1"/>
          </p:cNvSpPr>
          <p:nvPr>
            <p:ph idx="1"/>
          </p:nvPr>
        </p:nvSpPr>
        <p:spPr bwMode="auto">
          <a:xfrm>
            <a:off x="230188" y="1139825"/>
            <a:ext cx="8229600" cy="4525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buFont typeface="Arial" charset="0"/>
              <a:buNone/>
            </a:pPr>
            <a:r>
              <a:rPr lang="en-US" sz="2800" smtClean="0"/>
              <a:t>Finite Element Setup – Unit Cell</a:t>
            </a:r>
          </a:p>
          <a:p>
            <a:pPr marL="0" indent="0">
              <a:buFont typeface="Arial" charset="0"/>
              <a:buNone/>
            </a:pPr>
            <a:endParaRPr lang="en-US" sz="2800" smtClean="0"/>
          </a:p>
          <a:p>
            <a:pPr marL="0" indent="0">
              <a:buFont typeface="Arial" charset="0"/>
              <a:buNone/>
            </a:pPr>
            <a:r>
              <a:rPr lang="en-US" sz="1800" smtClean="0"/>
              <a:t>50000+ tetrahedra</a:t>
            </a:r>
          </a:p>
          <a:p>
            <a:pPr marL="0" indent="0">
              <a:buFont typeface="Arial" charset="0"/>
              <a:buNone/>
            </a:pPr>
            <a:r>
              <a:rPr lang="en-US" sz="1800" smtClean="0"/>
              <a:t>First Order Basis Functions</a:t>
            </a:r>
          </a:p>
          <a:p>
            <a:pPr marL="0" indent="0">
              <a:buFont typeface="Arial" charset="0"/>
              <a:buNone/>
            </a:pPr>
            <a:endParaRPr lang="en-US" smtClean="0"/>
          </a:p>
          <a:p>
            <a:pPr marL="0" indent="0">
              <a:buFont typeface="Arial" charset="0"/>
              <a:buNone/>
            </a:pPr>
            <a:endParaRPr lang="en-US" sz="2800" smtClean="0"/>
          </a:p>
        </p:txBody>
      </p:sp>
      <p:sp>
        <p:nvSpPr>
          <p:cNvPr id="19460" name="Segnaposto numero diapositiva 5"/>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charset="0"/>
              </a:defRPr>
            </a:lvl9pPr>
          </a:lstStyle>
          <a:p>
            <a:pPr eaLnBrk="1" hangingPunct="1"/>
            <a:fld id="{6E621787-81B1-4732-BF2F-C6B6CE3F9A4A}" type="slidenum">
              <a:rPr lang="it-IT" smtClean="0">
                <a:solidFill>
                  <a:schemeClr val="bg1"/>
                </a:solidFill>
              </a:rPr>
              <a:pPr eaLnBrk="1" hangingPunct="1"/>
              <a:t>14</a:t>
            </a:fld>
            <a:endParaRPr lang="it-IT" smtClean="0">
              <a:solidFill>
                <a:schemeClr val="bg1"/>
              </a:solidFill>
            </a:endParaRPr>
          </a:p>
        </p:txBody>
      </p:sp>
      <p:pic>
        <p:nvPicPr>
          <p:cNvPr id="19461" name="Picture 8" descr="D:\DOTTORATO\SCRITTURA\POWERPOINT\Convegno FEM Colorado giugno 2012\grafici\sfera_singola_120nm.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65713" y="1992313"/>
            <a:ext cx="3824287"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2" name="CasellaDiTesto 7"/>
          <p:cNvSpPr txBox="1">
            <a:spLocks noChangeArrowheads="1"/>
          </p:cNvSpPr>
          <p:nvPr/>
        </p:nvSpPr>
        <p:spPr bwMode="auto">
          <a:xfrm>
            <a:off x="6978650" y="1363663"/>
            <a:ext cx="13446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it-IT"/>
              <a:t>Floquet Port</a:t>
            </a:r>
          </a:p>
        </p:txBody>
      </p:sp>
      <p:sp>
        <p:nvSpPr>
          <p:cNvPr id="19463" name="CasellaDiTesto 8"/>
          <p:cNvSpPr txBox="1">
            <a:spLocks noChangeArrowheads="1"/>
          </p:cNvSpPr>
          <p:nvPr/>
        </p:nvSpPr>
        <p:spPr bwMode="auto">
          <a:xfrm>
            <a:off x="6492875" y="5481638"/>
            <a:ext cx="2533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it-IT"/>
              <a:t>Master/Slave boundaries</a:t>
            </a:r>
          </a:p>
        </p:txBody>
      </p:sp>
      <p:cxnSp>
        <p:nvCxnSpPr>
          <p:cNvPr id="10" name="Connettore 2 9"/>
          <p:cNvCxnSpPr>
            <a:stCxn id="19463" idx="0"/>
          </p:cNvCxnSpPr>
          <p:nvPr/>
        </p:nvCxnSpPr>
        <p:spPr>
          <a:xfrm flipV="1">
            <a:off x="7759700" y="3778250"/>
            <a:ext cx="569913" cy="1703388"/>
          </a:xfrm>
          <a:prstGeom prst="straightConnector1">
            <a:avLst/>
          </a:prstGeom>
          <a:ln w="12700">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1" name="Connettore 2 10"/>
          <p:cNvCxnSpPr>
            <a:stCxn id="19463" idx="0"/>
          </p:cNvCxnSpPr>
          <p:nvPr/>
        </p:nvCxnSpPr>
        <p:spPr>
          <a:xfrm flipH="1" flipV="1">
            <a:off x="6602413" y="4156075"/>
            <a:ext cx="1157287" cy="1325563"/>
          </a:xfrm>
          <a:prstGeom prst="straightConnector1">
            <a:avLst/>
          </a:prstGeom>
          <a:ln w="12700">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2" name="Connettore 2 11"/>
          <p:cNvCxnSpPr/>
          <p:nvPr/>
        </p:nvCxnSpPr>
        <p:spPr>
          <a:xfrm flipH="1">
            <a:off x="6873875" y="1733550"/>
            <a:ext cx="542925" cy="839788"/>
          </a:xfrm>
          <a:prstGeom prst="straightConnector1">
            <a:avLst/>
          </a:prstGeom>
          <a:ln w="12700">
            <a:solidFill>
              <a:schemeClr val="tx1"/>
            </a:solidFill>
            <a:tailEnd type="arrow"/>
          </a:ln>
        </p:spPr>
        <p:style>
          <a:lnRef idx="2">
            <a:schemeClr val="accent1"/>
          </a:lnRef>
          <a:fillRef idx="0">
            <a:schemeClr val="accent1"/>
          </a:fillRef>
          <a:effectRef idx="1">
            <a:schemeClr val="accent1"/>
          </a:effectRef>
          <a:fontRef idx="minor">
            <a:schemeClr val="tx1"/>
          </a:fontRef>
        </p:style>
      </p:cxnSp>
      <p:pic>
        <p:nvPicPr>
          <p:cNvPr id="19467" name="Immagine 1"/>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457200" y="2863850"/>
            <a:ext cx="3822700" cy="367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8" name="CasellaDiTesto 1"/>
          <p:cNvSpPr txBox="1">
            <a:spLocks noChangeArrowheads="1"/>
          </p:cNvSpPr>
          <p:nvPr/>
        </p:nvSpPr>
        <p:spPr bwMode="auto">
          <a:xfrm>
            <a:off x="3300413" y="1893888"/>
            <a:ext cx="28654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t>Silver– Drude-Lorentz model</a:t>
            </a:r>
          </a:p>
        </p:txBody>
      </p:sp>
      <p:sp>
        <p:nvSpPr>
          <p:cNvPr id="19469" name="CasellaDiTesto 8"/>
          <p:cNvSpPr txBox="1">
            <a:spLocks noChangeArrowheads="1"/>
          </p:cNvSpPr>
          <p:nvPr/>
        </p:nvSpPr>
        <p:spPr bwMode="auto">
          <a:xfrm>
            <a:off x="3857625" y="5295900"/>
            <a:ext cx="30114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t>Silicon – Drude-Lorentz model</a:t>
            </a:r>
          </a:p>
        </p:txBody>
      </p:sp>
      <p:cxnSp>
        <p:nvCxnSpPr>
          <p:cNvPr id="15" name="Connettore 2 14"/>
          <p:cNvCxnSpPr/>
          <p:nvPr/>
        </p:nvCxnSpPr>
        <p:spPr>
          <a:xfrm flipV="1">
            <a:off x="5364163" y="4949825"/>
            <a:ext cx="490537" cy="414338"/>
          </a:xfrm>
          <a:prstGeom prst="straightConnector1">
            <a:avLst/>
          </a:prstGeom>
          <a:ln w="12700">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6" name="Connettore 2 15"/>
          <p:cNvCxnSpPr/>
          <p:nvPr/>
        </p:nvCxnSpPr>
        <p:spPr>
          <a:xfrm>
            <a:off x="5364163" y="2263775"/>
            <a:ext cx="1019175" cy="1249363"/>
          </a:xfrm>
          <a:prstGeom prst="straightConnector1">
            <a:avLst/>
          </a:prstGeom>
          <a:ln w="12700">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3" name="Segnaposto contenuto 6"/>
          <p:cNvSpPr txBox="1">
            <a:spLocks/>
          </p:cNvSpPr>
          <p:nvPr/>
        </p:nvSpPr>
        <p:spPr bwMode="auto">
          <a:xfrm>
            <a:off x="3640138" y="5934075"/>
            <a:ext cx="5386387" cy="668338"/>
          </a:xfrm>
          <a:prstGeom prst="rect">
            <a:avLst/>
          </a:prstGeom>
          <a:noFill/>
          <a:ln>
            <a:miter lim="800000"/>
            <a:headEnd/>
            <a:tailEnd/>
          </a:ln>
        </p:spPr>
        <p:txBody>
          <a:bodyPr/>
          <a:lstStyle/>
          <a:p>
            <a:pPr defTabSz="914400" eaLnBrk="0" hangingPunct="0">
              <a:spcBef>
                <a:spcPct val="20000"/>
              </a:spcBef>
              <a:buFont typeface="Arial" charset="0"/>
              <a:buNone/>
              <a:defRPr/>
            </a:pPr>
            <a:r>
              <a:rPr lang="en-US" dirty="0">
                <a:latin typeface="+mn-lt"/>
                <a:cs typeface="+mn-cs"/>
              </a:rPr>
              <a:t>Regular periodic deposition – particle radii chosen after parametric analysis in the [30 – 150] nm range</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egnaposto numero diapositiva 4"/>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charset="0"/>
              </a:defRPr>
            </a:lvl9pPr>
          </a:lstStyle>
          <a:p>
            <a:pPr eaLnBrk="1" hangingPunct="1"/>
            <a:fld id="{93762F08-09CF-41CD-8D43-4A894143B329}" type="slidenum">
              <a:rPr lang="it-IT" smtClean="0">
                <a:solidFill>
                  <a:schemeClr val="bg1"/>
                </a:solidFill>
              </a:rPr>
              <a:pPr eaLnBrk="1" hangingPunct="1"/>
              <a:t>15</a:t>
            </a:fld>
            <a:endParaRPr lang="it-IT" smtClean="0">
              <a:solidFill>
                <a:schemeClr val="bg1"/>
              </a:solidFill>
            </a:endParaRPr>
          </a:p>
        </p:txBody>
      </p:sp>
      <p:sp>
        <p:nvSpPr>
          <p:cNvPr id="20483" name="Titolo 1"/>
          <p:cNvSpPr>
            <a:spLocks noGrp="1"/>
          </p:cNvSpPr>
          <p:nvPr>
            <p:ph type="title"/>
          </p:nvPr>
        </p:nvSpPr>
        <p:spPr bwMode="auto">
          <a:xfrm>
            <a:off x="457200" y="6350"/>
            <a:ext cx="8229600" cy="7334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smtClean="0"/>
              <a:t>Spherical Nanoparticles </a:t>
            </a:r>
            <a:r>
              <a:rPr lang="en-US" sz="2400" smtClean="0"/>
              <a:t>– deterministic deposition  </a:t>
            </a:r>
          </a:p>
        </p:txBody>
      </p:sp>
      <p:sp>
        <p:nvSpPr>
          <p:cNvPr id="20484" name="CasellaDiTesto 1"/>
          <p:cNvSpPr txBox="1">
            <a:spLocks noChangeArrowheads="1"/>
          </p:cNvSpPr>
          <p:nvPr/>
        </p:nvSpPr>
        <p:spPr bwMode="auto">
          <a:xfrm>
            <a:off x="3778250" y="1360488"/>
            <a:ext cx="3028950" cy="132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it-IT" sz="1600"/>
              <a:t>Radius: 51nm</a:t>
            </a:r>
          </a:p>
          <a:p>
            <a:pPr eaLnBrk="1" hangingPunct="1"/>
            <a:endParaRPr lang="it-IT" sz="1600"/>
          </a:p>
          <a:p>
            <a:pPr eaLnBrk="1" hangingPunct="1"/>
            <a:r>
              <a:rPr lang="it-IT" sz="1600"/>
              <a:t>Mean absorption : - 9.47 dB</a:t>
            </a:r>
          </a:p>
          <a:p>
            <a:pPr eaLnBrk="1" hangingPunct="1"/>
            <a:endParaRPr lang="it-IT" sz="1600"/>
          </a:p>
          <a:p>
            <a:pPr eaLnBrk="1" hangingPunct="1"/>
            <a:r>
              <a:rPr lang="it-IT" sz="1600"/>
              <a:t>Field enhancement @ 564 THz</a:t>
            </a:r>
          </a:p>
        </p:txBody>
      </p:sp>
      <p:sp>
        <p:nvSpPr>
          <p:cNvPr id="20485" name="CasellaDiTesto 1"/>
          <p:cNvSpPr txBox="1">
            <a:spLocks noChangeArrowheads="1"/>
          </p:cNvSpPr>
          <p:nvPr/>
        </p:nvSpPr>
        <p:spPr bwMode="auto">
          <a:xfrm>
            <a:off x="3689350" y="4157663"/>
            <a:ext cx="2725738"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it-IT" sz="1600"/>
              <a:t>Radius: 120nm</a:t>
            </a:r>
          </a:p>
          <a:p>
            <a:pPr eaLnBrk="1" hangingPunct="1"/>
            <a:endParaRPr lang="it-IT" sz="1600"/>
          </a:p>
          <a:p>
            <a:pPr eaLnBrk="1" hangingPunct="1"/>
            <a:r>
              <a:rPr lang="it-IT" sz="1600"/>
              <a:t>Mean absorption : -5.53 dB</a:t>
            </a:r>
          </a:p>
          <a:p>
            <a:pPr eaLnBrk="1" hangingPunct="1"/>
            <a:endParaRPr lang="it-IT" sz="1600"/>
          </a:p>
          <a:p>
            <a:pPr eaLnBrk="1" hangingPunct="1"/>
            <a:r>
              <a:rPr lang="it-IT" sz="1600"/>
              <a:t>Field enhancement @ 584 THz</a:t>
            </a:r>
          </a:p>
        </p:txBody>
      </p:sp>
      <p:pic>
        <p:nvPicPr>
          <p:cNvPr id="20486" name="Picture 7" descr="D:\DOTTORATO\SCRITTURA\POWERPOINT\Convegno FEM Colorado giugno 2012\grafici\Mappa di campo 51nm.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94450" y="1082675"/>
            <a:ext cx="2574925" cy="255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7" name="Picture 8" descr="D:\DOTTORATO\SCRITTURA\POWERPOINT\Convegno FEM Colorado giugno 2012\grafici\mappa di campo 120nm.JPG"/>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94450" y="3822700"/>
            <a:ext cx="2576513" cy="257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8" name="Picture 1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075" y="949325"/>
            <a:ext cx="3470275" cy="252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9"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663" y="3830638"/>
            <a:ext cx="3468687" cy="252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Connettore 1 9"/>
          <p:cNvCxnSpPr/>
          <p:nvPr/>
        </p:nvCxnSpPr>
        <p:spPr>
          <a:xfrm>
            <a:off x="671513" y="2260600"/>
            <a:ext cx="2863850"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2" name="Connettore 1 11"/>
          <p:cNvCxnSpPr/>
          <p:nvPr/>
        </p:nvCxnSpPr>
        <p:spPr>
          <a:xfrm>
            <a:off x="671513" y="5143500"/>
            <a:ext cx="2863850"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olo 1"/>
          <p:cNvSpPr>
            <a:spLocks noGrp="1"/>
          </p:cNvSpPr>
          <p:nvPr>
            <p:ph type="title"/>
          </p:nvPr>
        </p:nvSpPr>
        <p:spPr bwMode="auto">
          <a:xfrm>
            <a:off x="457200" y="6350"/>
            <a:ext cx="8229600" cy="7334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smtClean="0"/>
              <a:t>Spherical Nanoparticles </a:t>
            </a:r>
            <a:r>
              <a:rPr lang="en-US" sz="2400" smtClean="0"/>
              <a:t>– random deposition</a:t>
            </a:r>
          </a:p>
        </p:txBody>
      </p:sp>
      <p:sp>
        <p:nvSpPr>
          <p:cNvPr id="21507" name="Segnaposto contenuto 6"/>
          <p:cNvSpPr>
            <a:spLocks noGrp="1"/>
          </p:cNvSpPr>
          <p:nvPr>
            <p:ph idx="1"/>
          </p:nvPr>
        </p:nvSpPr>
        <p:spPr bwMode="auto">
          <a:xfrm>
            <a:off x="457200" y="1441450"/>
            <a:ext cx="8229600" cy="4525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buFont typeface="Arial" charset="0"/>
              <a:buNone/>
            </a:pPr>
            <a:r>
              <a:rPr lang="en-US" sz="1800" smtClean="0"/>
              <a:t>Using particle diameters previously selected, a great number of two-particles deposition configurations has been simulated.</a:t>
            </a:r>
          </a:p>
          <a:p>
            <a:pPr marL="0" indent="0">
              <a:buFont typeface="Arial" charset="0"/>
              <a:buNone/>
            </a:pPr>
            <a:endParaRPr lang="en-US" sz="1800" smtClean="0"/>
          </a:p>
          <a:p>
            <a:pPr marL="0" indent="0">
              <a:buFont typeface="Arial" charset="0"/>
              <a:buNone/>
            </a:pPr>
            <a:r>
              <a:rPr lang="en-US" sz="1800" smtClean="0"/>
              <a:t>Particle depositions have been chosen in a random fashion, with the same FE setup as before, only with a fixed-dimensions unit cell.</a:t>
            </a:r>
          </a:p>
          <a:p>
            <a:pPr marL="0" indent="0">
              <a:buFont typeface="Arial" charset="0"/>
              <a:buNone/>
            </a:pPr>
            <a:endParaRPr lang="en-US" sz="1800" smtClean="0"/>
          </a:p>
        </p:txBody>
      </p:sp>
      <p:sp>
        <p:nvSpPr>
          <p:cNvPr id="21508" name="Segnaposto numero diapositiva 5"/>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charset="0"/>
              </a:defRPr>
            </a:lvl9pPr>
          </a:lstStyle>
          <a:p>
            <a:pPr eaLnBrk="1" hangingPunct="1"/>
            <a:fld id="{52B4A4BE-DC35-477E-A5F5-4639BF4FC2E7}" type="slidenum">
              <a:rPr lang="it-IT" smtClean="0">
                <a:solidFill>
                  <a:schemeClr val="bg1"/>
                </a:solidFill>
              </a:rPr>
              <a:pPr eaLnBrk="1" hangingPunct="1"/>
              <a:t>16</a:t>
            </a:fld>
            <a:endParaRPr lang="it-IT" smtClean="0">
              <a:solidFill>
                <a:schemeClr val="bg1"/>
              </a:solidFill>
            </a:endParaRPr>
          </a:p>
        </p:txBody>
      </p:sp>
      <p:pic>
        <p:nvPicPr>
          <p:cNvPr id="21509"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738" y="3295650"/>
            <a:ext cx="3074988" cy="291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0"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6563" y="3281363"/>
            <a:ext cx="3070225" cy="291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1" name="Picture 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46788" y="3295650"/>
            <a:ext cx="3074987" cy="291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olo 1"/>
          <p:cNvSpPr>
            <a:spLocks noGrp="1"/>
          </p:cNvSpPr>
          <p:nvPr>
            <p:ph type="title"/>
          </p:nvPr>
        </p:nvSpPr>
        <p:spPr bwMode="auto">
          <a:xfrm>
            <a:off x="457200" y="6350"/>
            <a:ext cx="8229600" cy="7334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smtClean="0"/>
              <a:t>Spherical Nanoparticles </a:t>
            </a:r>
            <a:r>
              <a:rPr lang="en-US" sz="2400" smtClean="0"/>
              <a:t>– random deposition</a:t>
            </a:r>
          </a:p>
        </p:txBody>
      </p:sp>
      <p:sp>
        <p:nvSpPr>
          <p:cNvPr id="22531" name="CasellaDiTesto 12"/>
          <p:cNvSpPr txBox="1">
            <a:spLocks noChangeArrowheads="1"/>
          </p:cNvSpPr>
          <p:nvPr/>
        </p:nvSpPr>
        <p:spPr bwMode="auto">
          <a:xfrm>
            <a:off x="3994150" y="873125"/>
            <a:ext cx="10763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en-US" sz="2400"/>
              <a:t>Results</a:t>
            </a:r>
          </a:p>
          <a:p>
            <a:pPr algn="ctr" eaLnBrk="1" hangingPunct="1"/>
            <a:endParaRPr lang="en-US" sz="2400"/>
          </a:p>
        </p:txBody>
      </p:sp>
      <p:sp>
        <p:nvSpPr>
          <p:cNvPr id="22532" name="CasellaDiTesto 14"/>
          <p:cNvSpPr txBox="1">
            <a:spLocks noChangeArrowheads="1"/>
          </p:cNvSpPr>
          <p:nvPr/>
        </p:nvSpPr>
        <p:spPr bwMode="auto">
          <a:xfrm>
            <a:off x="1608138" y="1398588"/>
            <a:ext cx="23336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en-US" sz="2400"/>
              <a:t>Mean absorption</a:t>
            </a:r>
          </a:p>
        </p:txBody>
      </p:sp>
      <p:sp>
        <p:nvSpPr>
          <p:cNvPr id="22533" name="CasellaDiTesto 15"/>
          <p:cNvSpPr txBox="1">
            <a:spLocks noChangeArrowheads="1"/>
          </p:cNvSpPr>
          <p:nvPr/>
        </p:nvSpPr>
        <p:spPr bwMode="auto">
          <a:xfrm>
            <a:off x="6370638" y="1398588"/>
            <a:ext cx="13001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en-US" sz="2400"/>
              <a:t>Error bar</a:t>
            </a:r>
          </a:p>
        </p:txBody>
      </p:sp>
      <p:sp>
        <p:nvSpPr>
          <p:cNvPr id="22534" name="CasellaDiTesto 1"/>
          <p:cNvSpPr txBox="1">
            <a:spLocks noChangeArrowheads="1"/>
          </p:cNvSpPr>
          <p:nvPr/>
        </p:nvSpPr>
        <p:spPr bwMode="auto">
          <a:xfrm>
            <a:off x="442913" y="5597525"/>
            <a:ext cx="5151437"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it-IT"/>
              <a:t>Mean absorption over the frequency range: -9.28 dB</a:t>
            </a:r>
          </a:p>
          <a:p>
            <a:pPr eaLnBrk="1" hangingPunct="1"/>
            <a:endParaRPr lang="it-IT"/>
          </a:p>
          <a:p>
            <a:pPr eaLnBrk="1" hangingPunct="1"/>
            <a:r>
              <a:rPr lang="it-IT"/>
              <a:t>Comparable absorption with the periodic array case</a:t>
            </a:r>
          </a:p>
        </p:txBody>
      </p:sp>
      <p:pic>
        <p:nvPicPr>
          <p:cNvPr id="22535" name="Picture 10"/>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60550"/>
            <a:ext cx="4705350" cy="355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6" name="Picture 1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1947863"/>
            <a:ext cx="4705350" cy="355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7" name="Segnaposto numero diapositiva 5"/>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charset="0"/>
              </a:defRPr>
            </a:lvl9pPr>
          </a:lstStyle>
          <a:p>
            <a:pPr eaLnBrk="1" hangingPunct="1"/>
            <a:fld id="{C959422A-37A9-4946-849F-EA7553FA1308}" type="slidenum">
              <a:rPr lang="it-IT" smtClean="0">
                <a:solidFill>
                  <a:schemeClr val="bg1"/>
                </a:solidFill>
              </a:rPr>
              <a:pPr eaLnBrk="1" hangingPunct="1"/>
              <a:t>17</a:t>
            </a:fld>
            <a:endParaRPr lang="it-IT" smtClean="0">
              <a:solidFill>
                <a:schemeClr val="bg1"/>
              </a:solidFill>
            </a:endParaRPr>
          </a:p>
        </p:txBody>
      </p:sp>
      <p:cxnSp>
        <p:nvCxnSpPr>
          <p:cNvPr id="3" name="Connettore 1 2"/>
          <p:cNvCxnSpPr/>
          <p:nvPr/>
        </p:nvCxnSpPr>
        <p:spPr>
          <a:xfrm>
            <a:off x="1033463" y="3694113"/>
            <a:ext cx="3338512"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olo 1"/>
          <p:cNvSpPr>
            <a:spLocks noGrp="1"/>
          </p:cNvSpPr>
          <p:nvPr>
            <p:ph type="title"/>
          </p:nvPr>
        </p:nvSpPr>
        <p:spPr bwMode="auto">
          <a:xfrm>
            <a:off x="457200" y="6350"/>
            <a:ext cx="8229600" cy="7334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it-IT" smtClean="0"/>
              <a:t>Conclusions</a:t>
            </a:r>
          </a:p>
        </p:txBody>
      </p:sp>
      <p:sp>
        <p:nvSpPr>
          <p:cNvPr id="24579" name="Segnaposto contenuto 2"/>
          <p:cNvSpPr>
            <a:spLocks noGrp="1"/>
          </p:cNvSpPr>
          <p:nvPr>
            <p:ph idx="1"/>
          </p:nvPr>
        </p:nvSpPr>
        <p:spPr/>
        <p:txBody>
          <a:bodyPr/>
          <a:lstStyle/>
          <a:p>
            <a:pPr eaLnBrk="1" hangingPunct="1">
              <a:defRPr/>
            </a:pPr>
            <a:r>
              <a:rPr lang="en-US" sz="2000" dirty="0" smtClean="0"/>
              <a:t>A FEM simulation with complete </a:t>
            </a:r>
            <a:r>
              <a:rPr lang="en-US" sz="2000" dirty="0" err="1" smtClean="0"/>
              <a:t>Drude</a:t>
            </a:r>
            <a:r>
              <a:rPr lang="en-US" sz="2000" dirty="0" smtClean="0"/>
              <a:t>-Lorentz model has been carried out</a:t>
            </a:r>
          </a:p>
          <a:p>
            <a:pPr eaLnBrk="1" hangingPunct="1">
              <a:defRPr/>
            </a:pPr>
            <a:endParaRPr lang="en-US" sz="2000" dirty="0" smtClean="0"/>
          </a:p>
          <a:p>
            <a:pPr eaLnBrk="1" hangingPunct="1">
              <a:defRPr/>
            </a:pPr>
            <a:r>
              <a:rPr lang="en-US" sz="2000" dirty="0" smtClean="0"/>
              <a:t>Parametric analysis over particles of different radii has been performed</a:t>
            </a:r>
          </a:p>
          <a:p>
            <a:pPr eaLnBrk="1" hangingPunct="1">
              <a:defRPr/>
            </a:pPr>
            <a:endParaRPr lang="en-US" sz="2000" dirty="0" smtClean="0"/>
          </a:p>
          <a:p>
            <a:pPr eaLnBrk="1" hangingPunct="1">
              <a:defRPr/>
            </a:pPr>
            <a:r>
              <a:rPr lang="en-US" sz="2000" dirty="0" smtClean="0"/>
              <a:t>Analyses with particles of different radii with a periodic pseudo-random pattern has been carried out and statistics generated.</a:t>
            </a:r>
          </a:p>
          <a:p>
            <a:pPr eaLnBrk="1" hangingPunct="1">
              <a:defRPr/>
            </a:pPr>
            <a:endParaRPr lang="en-US" sz="2000" dirty="0" smtClean="0"/>
          </a:p>
          <a:p>
            <a:pPr eaLnBrk="1" hangingPunct="1">
              <a:defRPr/>
            </a:pPr>
            <a:r>
              <a:rPr lang="en-US" sz="2000" dirty="0" smtClean="0"/>
              <a:t> Further investigations especially on particle randomness is necessary</a:t>
            </a:r>
            <a:endParaRPr lang="en-US" sz="2000" dirty="0" smtClean="0">
              <a:solidFill>
                <a:srgbClr val="FF0000"/>
              </a:solidFill>
            </a:endParaRPr>
          </a:p>
          <a:p>
            <a:pPr eaLnBrk="1" hangingPunct="1">
              <a:defRPr/>
            </a:pPr>
            <a:endParaRPr lang="en-US" sz="2000" dirty="0" smtClean="0"/>
          </a:p>
          <a:p>
            <a:pPr marL="0" indent="0" eaLnBrk="1" hangingPunct="1">
              <a:buFont typeface="Arial" charset="0"/>
              <a:buNone/>
              <a:defRPr/>
            </a:pPr>
            <a:endParaRPr lang="en-US" sz="2000" dirty="0" smtClean="0"/>
          </a:p>
        </p:txBody>
      </p:sp>
      <p:sp>
        <p:nvSpPr>
          <p:cNvPr id="23556" name="Segnaposto numero diapositiva 5"/>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defTabSz="457200" eaLnBrk="0" fontAlgn="base" hangingPunct="0">
              <a:spcBef>
                <a:spcPct val="0"/>
              </a:spcBef>
              <a:spcAft>
                <a:spcPct val="0"/>
              </a:spcAft>
              <a:defRPr>
                <a:solidFill>
                  <a:schemeClr val="tx1"/>
                </a:solidFill>
                <a:latin typeface="Calibri" pitchFamily="34" charset="0"/>
                <a:cs typeface="Arial" charset="0"/>
              </a:defRPr>
            </a:lvl6pPr>
            <a:lvl7pPr marL="2971800" indent="-228600" defTabSz="457200" eaLnBrk="0" fontAlgn="base" hangingPunct="0">
              <a:spcBef>
                <a:spcPct val="0"/>
              </a:spcBef>
              <a:spcAft>
                <a:spcPct val="0"/>
              </a:spcAft>
              <a:defRPr>
                <a:solidFill>
                  <a:schemeClr val="tx1"/>
                </a:solidFill>
                <a:latin typeface="Calibri" pitchFamily="34" charset="0"/>
                <a:cs typeface="Arial" charset="0"/>
              </a:defRPr>
            </a:lvl7pPr>
            <a:lvl8pPr marL="3429000" indent="-228600" defTabSz="457200" eaLnBrk="0" fontAlgn="base" hangingPunct="0">
              <a:spcBef>
                <a:spcPct val="0"/>
              </a:spcBef>
              <a:spcAft>
                <a:spcPct val="0"/>
              </a:spcAft>
              <a:defRPr>
                <a:solidFill>
                  <a:schemeClr val="tx1"/>
                </a:solidFill>
                <a:latin typeface="Calibri" pitchFamily="34" charset="0"/>
                <a:cs typeface="Arial" charset="0"/>
              </a:defRPr>
            </a:lvl8pPr>
            <a:lvl9pPr marL="3886200" indent="-228600" defTabSz="457200" eaLnBrk="0" fontAlgn="base" hangingPunct="0">
              <a:spcBef>
                <a:spcPct val="0"/>
              </a:spcBef>
              <a:spcAft>
                <a:spcPct val="0"/>
              </a:spcAft>
              <a:defRPr>
                <a:solidFill>
                  <a:schemeClr val="tx1"/>
                </a:solidFill>
                <a:latin typeface="Calibri" pitchFamily="34" charset="0"/>
                <a:cs typeface="Arial" charset="0"/>
              </a:defRPr>
            </a:lvl9pPr>
          </a:lstStyle>
          <a:p>
            <a:pPr eaLnBrk="1" hangingPunct="1"/>
            <a:fld id="{631C8875-8C57-4175-BE2F-2662918AA905}" type="slidenum">
              <a:rPr lang="it-IT" smtClean="0">
                <a:solidFill>
                  <a:schemeClr val="bg1"/>
                </a:solidFill>
              </a:rPr>
              <a:pPr eaLnBrk="1" hangingPunct="1"/>
              <a:t>18</a:t>
            </a:fld>
            <a:endParaRPr lang="it-IT" smtClean="0">
              <a:solidFill>
                <a:schemeClr val="bg1"/>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1_Tema di Office">
  <a:themeElements>
    <a:clrScheme name="Mito">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dirty="0" smtClean="0">
            <a:latin typeface="Times New Roman" pitchFamily="18" charset="0"/>
            <a:cs typeface="Times New Roman" pitchFamily="18" charset="0"/>
          </a:defRPr>
        </a:defPPr>
      </a:lstStyle>
    </a:txDef>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10547</TotalTime>
  <Words>1151</Words>
  <Application>Microsoft Office PowerPoint</Application>
  <PresentationFormat>On-screen Show (4:3)</PresentationFormat>
  <Paragraphs>193</Paragraphs>
  <Slides>18</Slides>
  <Notes>2</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18</vt:i4>
      </vt:variant>
    </vt:vector>
  </HeadingPairs>
  <TitlesOfParts>
    <vt:vector size="20" baseType="lpstr">
      <vt:lpstr>1_Tema di Office</vt:lpstr>
      <vt:lpstr>Equation</vt:lpstr>
      <vt:lpstr>PowerPoint Presentation</vt:lpstr>
      <vt:lpstr>PowerPoint Presentation</vt:lpstr>
      <vt:lpstr>Photovoltaic Effect</vt:lpstr>
      <vt:lpstr>Conversion Efficiency</vt:lpstr>
      <vt:lpstr>Three generations of Solar Cells</vt:lpstr>
      <vt:lpstr>“Plasmonics”</vt:lpstr>
      <vt:lpstr>Frequency behavior of metals</vt:lpstr>
      <vt:lpstr>Drude Model- 1</vt:lpstr>
      <vt:lpstr>Drude Model- 2</vt:lpstr>
      <vt:lpstr>Drude-Lorentz Model</vt:lpstr>
      <vt:lpstr>Localized Surface Plasmons (LSP)</vt:lpstr>
      <vt:lpstr>Localized Surface Plasmons (LSP)</vt:lpstr>
      <vt:lpstr>Spherical Nanoparticle Deposition</vt:lpstr>
      <vt:lpstr>FEM</vt:lpstr>
      <vt:lpstr>Spherical Nanoparticles – deterministic deposition  </vt:lpstr>
      <vt:lpstr>Spherical Nanoparticles – random deposition</vt:lpstr>
      <vt:lpstr>Spherical Nanoparticles – random deposition</vt:lpstr>
      <vt:lpstr>Conclusions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di PowerPoint</dc:title>
  <dc:creator>Mac Air</dc:creator>
  <cp:lastModifiedBy>Laurent Ntibarikure</cp:lastModifiedBy>
  <cp:revision>159</cp:revision>
  <cp:lastPrinted>2012-06-01T12:13:09Z</cp:lastPrinted>
  <dcterms:created xsi:type="dcterms:W3CDTF">2011-11-25T17:41:57Z</dcterms:created>
  <dcterms:modified xsi:type="dcterms:W3CDTF">2012-06-04T18:00:29Z</dcterms:modified>
</cp:coreProperties>
</file>