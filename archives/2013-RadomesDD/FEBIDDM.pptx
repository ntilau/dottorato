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  <p:sldId id="262" r:id="rId9"/>
  </p:sldIdLst>
  <p:sldSz cx="9906000" cy="6858000" type="A4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20" y="-10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6DC57-7B88-4F99-A10C-70486E265F9C}" type="datetimeFigureOut">
              <a:rPr lang="en-US" smtClean="0"/>
              <a:pPr/>
              <a:t>3/6/2012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C5C5C-7359-4B82-AC3C-F4F5D4E78DA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CC5C5C-7359-4B82-AC3C-F4F5D4E78DA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48545" y="54271"/>
            <a:ext cx="8208912" cy="422405"/>
          </a:xfrm>
          <a:prstGeom prst="rect">
            <a:avLst/>
          </a:prstGeom>
          <a:noFill/>
        </p:spPr>
        <p:txBody>
          <a:bodyPr wrap="square" lIns="180000" tIns="72000" rIns="180000" bIns="72000">
            <a:spAutoFit/>
          </a:bodyPr>
          <a:lstStyle>
            <a:lvl1pPr marL="0" indent="0" algn="ctr">
              <a:buFont typeface="Calibri" pitchFamily="34" charset="0"/>
              <a:buNone/>
              <a:defRPr sz="1800" b="1" i="0" cap="small" baseline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82563" indent="0" algn="just">
              <a:buFont typeface="Calibri" pitchFamily="34" charset="0"/>
              <a:buChar char=" "/>
              <a:defRPr sz="1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2pPr>
          </a:lstStyle>
          <a:p>
            <a:pPr lvl="0"/>
            <a:r>
              <a:rPr lang="it-IT" dirty="0" smtClean="0"/>
              <a:t>Fare clic per modificare stili del testo dello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0" y="3"/>
            <a:ext cx="9906000" cy="5486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Calibri" pitchFamily="34" charset="0"/>
            </a:endParaRPr>
          </a:p>
        </p:txBody>
      </p:sp>
      <p:pic>
        <p:nvPicPr>
          <p:cNvPr id="14" name="Immagine 3"/>
          <p:cNvPicPr>
            <a:picLocks noChangeAspect="1"/>
          </p:cNvPicPr>
          <p:nvPr userDrawn="1"/>
        </p:nvPicPr>
        <p:blipFill>
          <a:blip r:embed="rId3" cstate="print">
            <a:lum bright="-40000" contrast="-4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504" y="19597"/>
            <a:ext cx="509490" cy="509489"/>
          </a:xfrm>
          <a:prstGeom prst="rect">
            <a:avLst/>
          </a:prstGeom>
        </p:spPr>
      </p:pic>
      <p:pic>
        <p:nvPicPr>
          <p:cNvPr id="15" name="Immagine 4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57456" y="6302"/>
            <a:ext cx="717626" cy="535035"/>
          </a:xfrm>
          <a:prstGeom prst="rect">
            <a:avLst/>
          </a:prstGeom>
        </p:spPr>
      </p:pic>
      <p:sp>
        <p:nvSpPr>
          <p:cNvPr id="16" name="CasellaDiTesto 2"/>
          <p:cNvSpPr txBox="1"/>
          <p:nvPr userDrawn="1"/>
        </p:nvSpPr>
        <p:spPr>
          <a:xfrm>
            <a:off x="0" y="6572092"/>
            <a:ext cx="9906000" cy="3385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L. </a:t>
            </a:r>
            <a:r>
              <a:rPr lang="en-US" sz="1600" u="none" kern="0" baseline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Ntibarikure</a:t>
            </a:r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- Firenze 05/03/2012</a:t>
            </a:r>
            <a:endParaRPr lang="en-US" sz="1600" u="none" kern="0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44001" y="6566288"/>
            <a:ext cx="764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54DCE1-82B9-457D-880A-9A34368A0971}" type="slidenum">
              <a:rPr lang="en-US" sz="16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/8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asellaDiTesto 4"/>
          <p:cNvSpPr txBox="1"/>
          <p:nvPr/>
        </p:nvSpPr>
        <p:spPr>
          <a:xfrm>
            <a:off x="0" y="3094254"/>
            <a:ext cx="9906000" cy="2677656"/>
          </a:xfrm>
          <a:prstGeom prst="rect">
            <a:avLst/>
          </a:prstGeom>
          <a:noFill/>
          <a:ln cap="rnd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it-IT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Laurent Ntibarikure</a:t>
            </a:r>
          </a:p>
          <a:p>
            <a:pPr algn="ctr" eaLnBrk="0" hangingPunct="0">
              <a:defRPr/>
            </a:pPr>
            <a:endParaRPr lang="it-IT" dirty="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Laboratorio di Microelettronica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ed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Ingegneria delle Microonde</a:t>
            </a: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Dipartimento di Elettronica e Telecomunicazioni </a:t>
            </a: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Università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degli Studi di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Firenze</a:t>
            </a:r>
          </a:p>
          <a:p>
            <a:pPr lvl="3" algn="just" eaLnBrk="0" hangingPunct="0">
              <a:defRPr/>
            </a:pPr>
            <a:endParaRPr lang="it-IT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3" algn="just" eaLnBrk="0" hangingPunct="0">
              <a:defRPr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Tutori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Prof. Giuseppe Pelosi</a:t>
            </a:r>
          </a:p>
          <a:p>
            <a:pPr lvl="4" algn="just" eaLnBrk="0" hangingPunct="0">
              <a:defRPr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. Ing. Stefano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Selleri</a:t>
            </a:r>
            <a:endParaRPr lang="it-IT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egnaposto testo 2"/>
          <p:cNvSpPr txBox="1">
            <a:spLocks/>
          </p:cNvSpPr>
          <p:nvPr/>
        </p:nvSpPr>
        <p:spPr>
          <a:xfrm>
            <a:off x="0" y="1323126"/>
            <a:ext cx="9906000" cy="1083374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Tecniche efficienti </a:t>
            </a: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per l’analisi </a:t>
            </a: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agli elementi finiti 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 radomes FSS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Sommario</a:t>
            </a:r>
            <a:endParaRPr lang="en-US" dirty="0"/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0" y="2067813"/>
            <a:ext cx="99060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33412" indent="-342900" algn="just">
              <a:buFont typeface="+mj-lt"/>
              <a:buAutoNum type="arabicPeriod"/>
            </a:pP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Motivazioni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Tecnica proposta e principio di funzionamento.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pPr marL="633412" indent="-342900" algn="just">
              <a:buFont typeface="+mj-lt"/>
              <a:buAutoNum type="arabicPeriod"/>
            </a:pP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Sviluppo codice</a:t>
            </a:r>
            <a:endParaRPr lang="en-US" dirty="0" err="1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Motivazioni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24600" y="2277070"/>
            <a:ext cx="2220704" cy="2455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21963" y="4267200"/>
            <a:ext cx="3627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Radomes Von Karman o ad ogiva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di dimensioni </a:t>
            </a:r>
            <a:r>
              <a:rPr lang="it-IT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elettricamente grandi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488" y="1052736"/>
            <a:ext cx="9217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http://www.mbda-systems.com/mediagallery/photos/MICA-EM-I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143000"/>
            <a:ext cx="4238282" cy="2751138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5759936" y="4867870"/>
            <a:ext cx="3448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Elevata complessità strutturale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dovuta all’introduzione di superfici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selettive in frequenza (FSS)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Motivazioni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052736"/>
            <a:ext cx="9217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Analisi/progetto con </a:t>
            </a:r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adeguato grado di accuratezza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 (analisi FEM) per pattern di radiazione antenna+radome anche a fronte variazioni dell’angolo di </a:t>
            </a:r>
            <a:r>
              <a:rPr lang="it-IT" i="1" dirty="0" smtClean="0">
                <a:latin typeface="Times New Roman" pitchFamily="18" charset="0"/>
                <a:cs typeface="Times New Roman" pitchFamily="18" charset="0"/>
              </a:rPr>
              <a:t>gimbal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radome.e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2057400"/>
            <a:ext cx="3812829" cy="33791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62600" y="3276600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FSS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 /2 per ciascuna cella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5638800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Array con possibile </a:t>
            </a:r>
            <a:r>
              <a:rPr lang="it-IT" i="1" dirty="0" smtClean="0">
                <a:latin typeface="Times New Roman" pitchFamily="18" charset="0"/>
                <a:cs typeface="Times New Roman" pitchFamily="18" charset="0"/>
              </a:rPr>
              <a:t>gimbal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0" y="4876800"/>
            <a:ext cx="5486400" cy="923330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Le dimensioni elettriche e la complessità geometrica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richiedono la </a:t>
            </a:r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decomposizione di dominio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per poter essere analizzate con comuni PC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524000" y="4267200"/>
            <a:ext cx="9144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4876800" y="3048000"/>
            <a:ext cx="6858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radomeDDFEBI.em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1447800"/>
            <a:ext cx="2895600" cy="3968580"/>
          </a:xfrm>
        </p:spPr>
      </p:pic>
      <p:sp>
        <p:nvSpPr>
          <p:cNvPr id="6" name="Content Placeholder 1"/>
          <p:cNvSpPr txBox="1">
            <a:spLocks/>
          </p:cNvSpPr>
          <p:nvPr/>
        </p:nvSpPr>
        <p:spPr>
          <a:xfrm>
            <a:off x="848545" y="54271"/>
            <a:ext cx="8208912" cy="422405"/>
          </a:xfrm>
          <a:prstGeom prst="rect">
            <a:avLst/>
          </a:prstGeom>
          <a:noFill/>
        </p:spPr>
        <p:txBody>
          <a:bodyPr wrap="square" lIns="180000" tIns="72000" rIns="180000" bIns="7200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itchFamily="34" charset="0"/>
              <a:buNone/>
              <a:tabLst/>
              <a:defRPr/>
            </a:pPr>
            <a:r>
              <a:rPr lang="it-IT" b="1" cap="small" dirty="0" smtClean="0">
                <a:latin typeface="Times New Roman" pitchFamily="18" charset="0"/>
                <a:cs typeface="Times New Roman" pitchFamily="18" charset="0"/>
              </a:rPr>
              <a:t>Decomposizione di dominio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1828800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BI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24200" y="5486400"/>
            <a:ext cx="63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SH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2743200"/>
            <a:ext cx="486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ij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62000" y="2133600"/>
            <a:ext cx="9906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429000" y="2209800"/>
            <a:ext cx="457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1"/>
          </p:cNvCxnSpPr>
          <p:nvPr/>
        </p:nvCxnSpPr>
        <p:spPr>
          <a:xfrm flipH="1" flipV="1">
            <a:off x="2667000" y="4038600"/>
            <a:ext cx="457200" cy="16786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90800" y="1519535"/>
            <a:ext cx="47801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4560" y="2150745"/>
            <a:ext cx="47801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j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1219200"/>
            <a:ext cx="4584909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BI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Integrali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di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contorno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SH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Espansione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armoniche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sferiche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i,j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Sottodomini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di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analisi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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ij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Condizioni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contorno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per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raccordo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tra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  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sottodomini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19600" y="4800600"/>
            <a:ext cx="52578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Sottodomini cilindrici con periodicità FSS</a:t>
            </a:r>
          </a:p>
          <a:p>
            <a:pPr algn="ctr"/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Sviluppo in modi di Floquet</a:t>
            </a:r>
          </a:p>
        </p:txBody>
      </p:sp>
      <p:sp>
        <p:nvSpPr>
          <p:cNvPr id="17" name="Down Arrow 16"/>
          <p:cNvSpPr/>
          <p:nvPr/>
        </p:nvSpPr>
        <p:spPr bwMode="auto">
          <a:xfrm>
            <a:off x="6796314" y="5301342"/>
            <a:ext cx="457200" cy="228600"/>
          </a:xfrm>
          <a:prstGeom prst="downArrow">
            <a:avLst/>
          </a:prstGeom>
          <a:solidFill>
            <a:srgbClr val="A50021"/>
          </a:solidFill>
          <a:ln w="9525">
            <a:solidFill>
              <a:srgbClr val="A5002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Sviluppo in modi di Floquet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86000" y="4800600"/>
            <a:ext cx="52578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Come si raccordano i sottodomini?</a:t>
            </a:r>
          </a:p>
          <a:p>
            <a:pPr algn="ctr"/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Condizioni di trasmissione del 2°ordine</a:t>
            </a:r>
          </a:p>
        </p:txBody>
      </p:sp>
      <p:sp>
        <p:nvSpPr>
          <p:cNvPr id="4" name="Down Arrow 3"/>
          <p:cNvSpPr/>
          <p:nvPr/>
        </p:nvSpPr>
        <p:spPr bwMode="auto">
          <a:xfrm>
            <a:off x="4662714" y="5301342"/>
            <a:ext cx="457200" cy="228600"/>
          </a:xfrm>
          <a:prstGeom prst="downArrow">
            <a:avLst/>
          </a:prstGeom>
          <a:solidFill>
            <a:srgbClr val="A50021"/>
          </a:solidFill>
          <a:ln w="9525">
            <a:solidFill>
              <a:srgbClr val="A5002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pic>
        <p:nvPicPr>
          <p:cNvPr id="5" name="Picture 4" descr="flocket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64224" y="1524000"/>
            <a:ext cx="5303376" cy="220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624" y="3974068"/>
            <a:ext cx="5500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Singolo “spicchio”da analizzare per l’intero sottodominio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429000" y="2971800"/>
            <a:ext cx="10668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5024" y="11430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48545" y="54271"/>
            <a:ext cx="8208912" cy="422405"/>
          </a:xfrm>
        </p:spPr>
        <p:txBody>
          <a:bodyPr/>
          <a:lstStyle/>
          <a:p>
            <a:pPr lvl="0"/>
            <a:r>
              <a:rPr lang="it-IT" dirty="0" smtClean="0"/>
              <a:t>Raccordo dei sottodomini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68580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Z.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Peng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J.-F. Lee, “Non-Conformal Domain Decomposition Method With Mixed True Second Order Transmission Condition for Solving Large Finite Antenna Arrays,”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IEEE Transactions on Antennas and Propagation,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2011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, 59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1638 -1651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752600"/>
            <a:ext cx="366995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54405" y="1808162"/>
            <a:ext cx="2093995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687108" y="3048000"/>
            <a:ext cx="2854308" cy="24929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b="1" baseline="30000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gradi</a:t>
            </a:r>
            <a:r>
              <a:rPr lang="en-US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di</a:t>
            </a:r>
            <a:r>
              <a:rPr lang="en-US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libertà</a:t>
            </a:r>
            <a:endParaRPr lang="en-US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mesh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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/8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Intel Xeon 2.3 GHz</a:t>
            </a:r>
          </a:p>
          <a:p>
            <a:pPr algn="ctr"/>
            <a:r>
              <a:rPr lang="it-IT" dirty="0" smtClean="0">
                <a:latin typeface="Times New Roman" pitchFamily="18" charset="0"/>
                <a:cs typeface="Times New Roman" pitchFamily="18" charset="0"/>
                <a:sym typeface="Symbol"/>
              </a:rPr>
              <a:t>&lt; 3GB RAM</a:t>
            </a:r>
          </a:p>
          <a:p>
            <a:pPr algn="ctr"/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pPr indent="165100">
              <a:buFont typeface="Arial" pitchFamily="34" charset="0"/>
              <a:buChar char="•"/>
            </a:pPr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21 iterazioni: residuo 10</a:t>
            </a:r>
            <a:r>
              <a:rPr lang="it-IT" b="1" baseline="30000" dirty="0" smtClean="0">
                <a:latin typeface="Times New Roman" pitchFamily="18" charset="0"/>
                <a:cs typeface="Times New Roman" pitchFamily="18" charset="0"/>
              </a:rPr>
              <a:t>-2</a:t>
            </a:r>
          </a:p>
          <a:p>
            <a:pPr indent="165100"/>
            <a:r>
              <a:rPr lang="it-IT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soli 193 minuti</a:t>
            </a:r>
            <a:endParaRPr lang="it-IT" b="1" baseline="30000" dirty="0" smtClean="0">
              <a:latin typeface="Times New Roman" pitchFamily="18" charset="0"/>
              <a:cs typeface="Times New Roman" pitchFamily="18" charset="0"/>
            </a:endParaRPr>
          </a:p>
          <a:p>
            <a:pPr indent="165100"/>
            <a:endParaRPr lang="it-IT" baseline="30000" dirty="0" smtClean="0">
              <a:latin typeface="Times New Roman" pitchFamily="18" charset="0"/>
              <a:cs typeface="Times New Roman" pitchFamily="18" charset="0"/>
            </a:endParaRPr>
          </a:p>
          <a:p>
            <a:pPr indent="165100">
              <a:buFont typeface="Arial" pitchFamily="34" charset="0"/>
              <a:buChar char="•"/>
            </a:pPr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60 iterazioni: residuo 10</a:t>
            </a:r>
            <a:r>
              <a:rPr lang="it-IT" b="1" baseline="30000" dirty="0" smtClean="0">
                <a:latin typeface="Times New Roman" pitchFamily="18" charset="0"/>
                <a:cs typeface="Times New Roman" pitchFamily="18" charset="0"/>
              </a:rPr>
              <a:t>-6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Programma di sviluppo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460480"/>
            <a:ext cx="9372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T0+6 mesi</a:t>
            </a: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Rapporto sulla formulazione del DDFEBI presentata, corredata da </a:t>
            </a:r>
            <a:r>
              <a:rPr lang="it-IT" i="1" dirty="0" smtClean="0">
                <a:latin typeface="Times New Roman" pitchFamily="18" charset="0"/>
                <a:cs typeface="Times New Roman" pitchFamily="18" charset="0"/>
              </a:rPr>
              <a:t>tests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 su strutture canoniche (Scattering da FSS cilindriche per la messa a punto di Floquet, guida rettangolare per la messa a punto della decomposizione di dominio) implementato in Matlab</a:t>
            </a: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T0+18 mesi</a:t>
            </a: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Codice Matlab/C++ automatico per analizzare un modello tipo di radomes (con periodicità cilindrica delle celle)</a:t>
            </a: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endParaRPr lang="it-IT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T0+24 mesi</a:t>
            </a:r>
          </a:p>
          <a:p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Raffinamento dell’interfaccia CAD e sviluppo multithreading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A50021"/>
        </a:solidFill>
        <a:ln w="9525">
          <a:solidFill>
            <a:srgbClr val="A50021"/>
          </a:solidFill>
          <a:miter lim="800000"/>
          <a:headEnd/>
          <a:tailEnd/>
        </a:ln>
      </a:spPr>
      <a:bodyPr wrap="none" anchor="ctr"/>
      <a:lstStyle>
        <a:defPPr>
          <a:defRPr>
            <a:latin typeface="Calibri" pitchFamily="34" charset="0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358</Words>
  <Application>Microsoft Office PowerPoint</Application>
  <PresentationFormat>A4 Paper (210x297 mm)</PresentationFormat>
  <Paragraphs>84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Tema di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Laurent</dc:creator>
  <cp:lastModifiedBy>Laurent Ntibarikure</cp:lastModifiedBy>
  <cp:revision>53</cp:revision>
  <dcterms:created xsi:type="dcterms:W3CDTF">2006-08-16T00:00:00Z</dcterms:created>
  <dcterms:modified xsi:type="dcterms:W3CDTF">2012-03-06T11:26:23Z</dcterms:modified>
</cp:coreProperties>
</file>